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6"/>
  </p:notesMasterIdLst>
  <p:sldIdLst>
    <p:sldId id="256" r:id="rId2"/>
    <p:sldId id="262" r:id="rId3"/>
    <p:sldId id="275" r:id="rId4"/>
    <p:sldId id="261" r:id="rId5"/>
    <p:sldId id="264" r:id="rId6"/>
    <p:sldId id="265" r:id="rId7"/>
    <p:sldId id="267" r:id="rId8"/>
    <p:sldId id="266" r:id="rId9"/>
    <p:sldId id="263" r:id="rId10"/>
    <p:sldId id="268" r:id="rId11"/>
    <p:sldId id="276" r:id="rId12"/>
    <p:sldId id="274" r:id="rId13"/>
    <p:sldId id="273" r:id="rId14"/>
    <p:sldId id="257" r:id="rId15"/>
    <p:sldId id="271" r:id="rId16"/>
    <p:sldId id="258" r:id="rId17"/>
    <p:sldId id="259" r:id="rId18"/>
    <p:sldId id="260" r:id="rId19"/>
    <p:sldId id="278" r:id="rId20"/>
    <p:sldId id="279" r:id="rId21"/>
    <p:sldId id="277" r:id="rId22"/>
    <p:sldId id="270" r:id="rId23"/>
    <p:sldId id="269" r:id="rId24"/>
    <p:sldId id="272"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F914D"/>
    <a:srgbClr val="FF505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50242" autoAdjust="0"/>
  </p:normalViewPr>
  <p:slideViewPr>
    <p:cSldViewPr snapToGrid="0">
      <p:cViewPr varScale="1">
        <p:scale>
          <a:sx n="72" d="100"/>
          <a:sy n="72" d="100"/>
        </p:scale>
        <p:origin x="3702" y="29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diagrams/_rels/data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svg"/><Relationship Id="rId1" Type="http://schemas.openxmlformats.org/officeDocument/2006/relationships/image" Target="../media/image1.png"/><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4.svg"/></Relationships>
</file>

<file path=ppt/diagrams/_rels/data3.xml.rels><?xml version="1.0" encoding="UTF-8" standalone="yes"?>
<Relationships xmlns="http://schemas.openxmlformats.org/package/2006/relationships"><Relationship Id="rId8" Type="http://schemas.openxmlformats.org/officeDocument/2006/relationships/image" Target="../media/image20.svg"/><Relationship Id="rId3" Type="http://schemas.openxmlformats.org/officeDocument/2006/relationships/image" Target="../media/image15.png"/><Relationship Id="rId7" Type="http://schemas.openxmlformats.org/officeDocument/2006/relationships/image" Target="../media/image19.png"/><Relationship Id="rId2" Type="http://schemas.openxmlformats.org/officeDocument/2006/relationships/image" Target="../media/image14.svg"/><Relationship Id="rId1" Type="http://schemas.openxmlformats.org/officeDocument/2006/relationships/image" Target="../media/image13.png"/><Relationship Id="rId6" Type="http://schemas.openxmlformats.org/officeDocument/2006/relationships/image" Target="../media/image18.svg"/><Relationship Id="rId5" Type="http://schemas.openxmlformats.org/officeDocument/2006/relationships/image" Target="../media/image17.png"/><Relationship Id="rId4" Type="http://schemas.openxmlformats.org/officeDocument/2006/relationships/image" Target="../media/image16.svg"/></Relationships>
</file>

<file path=ppt/diagrams/_rels/drawing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svg"/><Relationship Id="rId1" Type="http://schemas.openxmlformats.org/officeDocument/2006/relationships/image" Target="../media/image1.png"/><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4.svg"/></Relationships>
</file>

<file path=ppt/diagrams/_rels/drawing3.xml.rels><?xml version="1.0" encoding="UTF-8" standalone="yes"?>
<Relationships xmlns="http://schemas.openxmlformats.org/package/2006/relationships"><Relationship Id="rId8" Type="http://schemas.openxmlformats.org/officeDocument/2006/relationships/image" Target="../media/image20.svg"/><Relationship Id="rId3" Type="http://schemas.openxmlformats.org/officeDocument/2006/relationships/image" Target="../media/image15.png"/><Relationship Id="rId7" Type="http://schemas.openxmlformats.org/officeDocument/2006/relationships/image" Target="../media/image19.png"/><Relationship Id="rId2" Type="http://schemas.openxmlformats.org/officeDocument/2006/relationships/image" Target="../media/image14.svg"/><Relationship Id="rId1" Type="http://schemas.openxmlformats.org/officeDocument/2006/relationships/image" Target="../media/image13.png"/><Relationship Id="rId6" Type="http://schemas.openxmlformats.org/officeDocument/2006/relationships/image" Target="../media/image18.svg"/><Relationship Id="rId5" Type="http://schemas.openxmlformats.org/officeDocument/2006/relationships/image" Target="../media/image17.png"/><Relationship Id="rId4" Type="http://schemas.openxmlformats.org/officeDocument/2006/relationships/image" Target="../media/image16.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AF53FEF-A225-4570-AD83-6CB65DB17CA3}"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736257F8-377A-496E-850F-5D5A5D8E7669}">
      <dgm:prSet/>
      <dgm:spPr/>
      <dgm:t>
        <a:bodyPr/>
        <a:lstStyle/>
        <a:p>
          <a:pPr>
            <a:lnSpc>
              <a:spcPct val="100000"/>
            </a:lnSpc>
          </a:pPr>
          <a:r>
            <a:rPr lang="en-US"/>
            <a:t>Get Experienced in Django Web Framework</a:t>
          </a:r>
        </a:p>
      </dgm:t>
    </dgm:pt>
    <dgm:pt modelId="{8F66037C-97AF-4782-A00B-B6D605C08FEF}" type="parTrans" cxnId="{BF54C8F6-8DCD-4EA4-8F2E-06CAA4411E39}">
      <dgm:prSet/>
      <dgm:spPr/>
      <dgm:t>
        <a:bodyPr/>
        <a:lstStyle/>
        <a:p>
          <a:endParaRPr lang="en-US"/>
        </a:p>
      </dgm:t>
    </dgm:pt>
    <dgm:pt modelId="{7228E6A1-14EF-4CE9-B59B-5C0471175984}" type="sibTrans" cxnId="{BF54C8F6-8DCD-4EA4-8F2E-06CAA4411E39}">
      <dgm:prSet/>
      <dgm:spPr/>
      <dgm:t>
        <a:bodyPr/>
        <a:lstStyle/>
        <a:p>
          <a:endParaRPr lang="en-US"/>
        </a:p>
      </dgm:t>
    </dgm:pt>
    <dgm:pt modelId="{00084F08-5E7E-4A63-ACEB-C5EA8BB088A4}">
      <dgm:prSet/>
      <dgm:spPr/>
      <dgm:t>
        <a:bodyPr/>
        <a:lstStyle/>
        <a:p>
          <a:pPr>
            <a:lnSpc>
              <a:spcPct val="100000"/>
            </a:lnSpc>
          </a:pPr>
          <a:r>
            <a:rPr lang="en-US"/>
            <a:t>Meet Customers Requirements for IoT App</a:t>
          </a:r>
        </a:p>
      </dgm:t>
    </dgm:pt>
    <dgm:pt modelId="{CBCD0547-3EAE-4943-837C-8AE0CFFE62E4}" type="parTrans" cxnId="{0B2D64A6-509E-4116-844F-C30239DCDB36}">
      <dgm:prSet/>
      <dgm:spPr/>
      <dgm:t>
        <a:bodyPr/>
        <a:lstStyle/>
        <a:p>
          <a:endParaRPr lang="en-US"/>
        </a:p>
      </dgm:t>
    </dgm:pt>
    <dgm:pt modelId="{F1DB31F2-3ED2-42D4-A7CD-BB5E3B067177}" type="sibTrans" cxnId="{0B2D64A6-509E-4116-844F-C30239DCDB36}">
      <dgm:prSet/>
      <dgm:spPr/>
      <dgm:t>
        <a:bodyPr/>
        <a:lstStyle/>
        <a:p>
          <a:endParaRPr lang="en-US"/>
        </a:p>
      </dgm:t>
    </dgm:pt>
    <dgm:pt modelId="{13EBE1BE-8902-48A6-B9D3-D982E176D032}">
      <dgm:prSet/>
      <dgm:spPr/>
      <dgm:t>
        <a:bodyPr/>
        <a:lstStyle/>
        <a:p>
          <a:pPr>
            <a:lnSpc>
              <a:spcPct val="100000"/>
            </a:lnSpc>
          </a:pPr>
          <a:r>
            <a:rPr lang="en-US"/>
            <a:t>Using AI tools such as ChatGPT to develop Web Applications</a:t>
          </a:r>
        </a:p>
      </dgm:t>
    </dgm:pt>
    <dgm:pt modelId="{ABE69161-ED44-4E2C-A42C-C0D9D00C3F42}" type="parTrans" cxnId="{E9B98BD8-104D-4613-939B-9A8B0067A979}">
      <dgm:prSet/>
      <dgm:spPr/>
      <dgm:t>
        <a:bodyPr/>
        <a:lstStyle/>
        <a:p>
          <a:endParaRPr lang="en-US"/>
        </a:p>
      </dgm:t>
    </dgm:pt>
    <dgm:pt modelId="{706CC931-A016-4A5B-BC5D-8CB548E88264}" type="sibTrans" cxnId="{E9B98BD8-104D-4613-939B-9A8B0067A979}">
      <dgm:prSet/>
      <dgm:spPr/>
      <dgm:t>
        <a:bodyPr/>
        <a:lstStyle/>
        <a:p>
          <a:endParaRPr lang="en-US"/>
        </a:p>
      </dgm:t>
    </dgm:pt>
    <dgm:pt modelId="{F4DFA45E-3464-491D-A2FC-F2DCE880AD5C}" type="pres">
      <dgm:prSet presAssocID="{1AF53FEF-A225-4570-AD83-6CB65DB17CA3}" presName="root" presStyleCnt="0">
        <dgm:presLayoutVars>
          <dgm:dir/>
          <dgm:resizeHandles val="exact"/>
        </dgm:presLayoutVars>
      </dgm:prSet>
      <dgm:spPr/>
    </dgm:pt>
    <dgm:pt modelId="{E234C99A-7A39-4DA5-BABD-F536AAE9B84A}" type="pres">
      <dgm:prSet presAssocID="{736257F8-377A-496E-850F-5D5A5D8E7669}" presName="compNode" presStyleCnt="0"/>
      <dgm:spPr/>
    </dgm:pt>
    <dgm:pt modelId="{8D77C7CD-8121-4C22-815B-C7E66F7ABC33}" type="pres">
      <dgm:prSet presAssocID="{736257F8-377A-496E-850F-5D5A5D8E7669}" presName="bgRect" presStyleLbl="bgShp" presStyleIdx="0" presStyleCnt="3"/>
      <dgm:spPr/>
    </dgm:pt>
    <dgm:pt modelId="{BD6D5F4F-62EF-4D56-A66B-A664962F36CE}" type="pres">
      <dgm:prSet presAssocID="{736257F8-377A-496E-850F-5D5A5D8E7669}"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Headphones"/>
        </a:ext>
      </dgm:extLst>
    </dgm:pt>
    <dgm:pt modelId="{E7D28542-A93E-40C5-B4FA-C6D925498EE6}" type="pres">
      <dgm:prSet presAssocID="{736257F8-377A-496E-850F-5D5A5D8E7669}" presName="spaceRect" presStyleCnt="0"/>
      <dgm:spPr/>
    </dgm:pt>
    <dgm:pt modelId="{ECE36B61-6989-49E8-AB13-F4FB03C64B4F}" type="pres">
      <dgm:prSet presAssocID="{736257F8-377A-496E-850F-5D5A5D8E7669}" presName="parTx" presStyleLbl="revTx" presStyleIdx="0" presStyleCnt="3">
        <dgm:presLayoutVars>
          <dgm:chMax val="0"/>
          <dgm:chPref val="0"/>
        </dgm:presLayoutVars>
      </dgm:prSet>
      <dgm:spPr/>
    </dgm:pt>
    <dgm:pt modelId="{912A90CF-4299-4004-A438-A6402AB46F20}" type="pres">
      <dgm:prSet presAssocID="{7228E6A1-14EF-4CE9-B59B-5C0471175984}" presName="sibTrans" presStyleCnt="0"/>
      <dgm:spPr/>
    </dgm:pt>
    <dgm:pt modelId="{D87242DC-25B4-43FF-900F-BFEE2BF140E0}" type="pres">
      <dgm:prSet presAssocID="{00084F08-5E7E-4A63-ACEB-C5EA8BB088A4}" presName="compNode" presStyleCnt="0"/>
      <dgm:spPr/>
    </dgm:pt>
    <dgm:pt modelId="{694A8120-899E-432B-B519-F7A3B1330CB0}" type="pres">
      <dgm:prSet presAssocID="{00084F08-5E7E-4A63-ACEB-C5EA8BB088A4}" presName="bgRect" presStyleLbl="bgShp" presStyleIdx="1" presStyleCnt="3"/>
      <dgm:spPr/>
    </dgm:pt>
    <dgm:pt modelId="{9E704C10-C1B3-4AA7-9372-5BF8FDAF9AA4}" type="pres">
      <dgm:prSet presAssocID="{00084F08-5E7E-4A63-ACEB-C5EA8BB088A4}"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Smart Phone"/>
        </a:ext>
      </dgm:extLst>
    </dgm:pt>
    <dgm:pt modelId="{9331A75B-1F14-426F-ACE9-61E0757C2548}" type="pres">
      <dgm:prSet presAssocID="{00084F08-5E7E-4A63-ACEB-C5EA8BB088A4}" presName="spaceRect" presStyleCnt="0"/>
      <dgm:spPr/>
    </dgm:pt>
    <dgm:pt modelId="{D503019C-1000-429C-8066-67656DB92B50}" type="pres">
      <dgm:prSet presAssocID="{00084F08-5E7E-4A63-ACEB-C5EA8BB088A4}" presName="parTx" presStyleLbl="revTx" presStyleIdx="1" presStyleCnt="3">
        <dgm:presLayoutVars>
          <dgm:chMax val="0"/>
          <dgm:chPref val="0"/>
        </dgm:presLayoutVars>
      </dgm:prSet>
      <dgm:spPr/>
    </dgm:pt>
    <dgm:pt modelId="{14539989-206D-46FE-A14B-270331BFF313}" type="pres">
      <dgm:prSet presAssocID="{F1DB31F2-3ED2-42D4-A7CD-BB5E3B067177}" presName="sibTrans" presStyleCnt="0"/>
      <dgm:spPr/>
    </dgm:pt>
    <dgm:pt modelId="{7D5D804E-1B8D-4AD6-A86C-DF746691D882}" type="pres">
      <dgm:prSet presAssocID="{13EBE1BE-8902-48A6-B9D3-D982E176D032}" presName="compNode" presStyleCnt="0"/>
      <dgm:spPr/>
    </dgm:pt>
    <dgm:pt modelId="{FCC1BB4F-87CF-4AAF-BA94-C76BC0FF881B}" type="pres">
      <dgm:prSet presAssocID="{13EBE1BE-8902-48A6-B9D3-D982E176D032}" presName="bgRect" presStyleLbl="bgShp" presStyleIdx="2" presStyleCnt="3"/>
      <dgm:spPr/>
    </dgm:pt>
    <dgm:pt modelId="{C9148F37-F268-44FC-8806-6AAC61315BBD}" type="pres">
      <dgm:prSet presAssocID="{13EBE1BE-8902-48A6-B9D3-D982E176D032}"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Head with Gears"/>
        </a:ext>
      </dgm:extLst>
    </dgm:pt>
    <dgm:pt modelId="{7EC9D731-E6D2-41B0-A393-778699C88A17}" type="pres">
      <dgm:prSet presAssocID="{13EBE1BE-8902-48A6-B9D3-D982E176D032}" presName="spaceRect" presStyleCnt="0"/>
      <dgm:spPr/>
    </dgm:pt>
    <dgm:pt modelId="{E3F271A5-73AA-4E8A-A5F0-72BF565A5A2F}" type="pres">
      <dgm:prSet presAssocID="{13EBE1BE-8902-48A6-B9D3-D982E176D032}" presName="parTx" presStyleLbl="revTx" presStyleIdx="2" presStyleCnt="3">
        <dgm:presLayoutVars>
          <dgm:chMax val="0"/>
          <dgm:chPref val="0"/>
        </dgm:presLayoutVars>
      </dgm:prSet>
      <dgm:spPr/>
    </dgm:pt>
  </dgm:ptLst>
  <dgm:cxnLst>
    <dgm:cxn modelId="{BC481D15-779E-4C17-8EB3-BFC2D2A0442C}" type="presOf" srcId="{1AF53FEF-A225-4570-AD83-6CB65DB17CA3}" destId="{F4DFA45E-3464-491D-A2FC-F2DCE880AD5C}" srcOrd="0" destOrd="0" presId="urn:microsoft.com/office/officeart/2018/2/layout/IconVerticalSolidList"/>
    <dgm:cxn modelId="{2DE5D04C-FA23-4F78-8517-148E495CCD91}" type="presOf" srcId="{13EBE1BE-8902-48A6-B9D3-D982E176D032}" destId="{E3F271A5-73AA-4E8A-A5F0-72BF565A5A2F}" srcOrd="0" destOrd="0" presId="urn:microsoft.com/office/officeart/2018/2/layout/IconVerticalSolidList"/>
    <dgm:cxn modelId="{DDF13386-A08A-45A1-8017-CB36C704DA38}" type="presOf" srcId="{00084F08-5E7E-4A63-ACEB-C5EA8BB088A4}" destId="{D503019C-1000-429C-8066-67656DB92B50}" srcOrd="0" destOrd="0" presId="urn:microsoft.com/office/officeart/2018/2/layout/IconVerticalSolidList"/>
    <dgm:cxn modelId="{0B2D64A6-509E-4116-844F-C30239DCDB36}" srcId="{1AF53FEF-A225-4570-AD83-6CB65DB17CA3}" destId="{00084F08-5E7E-4A63-ACEB-C5EA8BB088A4}" srcOrd="1" destOrd="0" parTransId="{CBCD0547-3EAE-4943-837C-8AE0CFFE62E4}" sibTransId="{F1DB31F2-3ED2-42D4-A7CD-BB5E3B067177}"/>
    <dgm:cxn modelId="{E9B98BD8-104D-4613-939B-9A8B0067A979}" srcId="{1AF53FEF-A225-4570-AD83-6CB65DB17CA3}" destId="{13EBE1BE-8902-48A6-B9D3-D982E176D032}" srcOrd="2" destOrd="0" parTransId="{ABE69161-ED44-4E2C-A42C-C0D9D00C3F42}" sibTransId="{706CC931-A016-4A5B-BC5D-8CB548E88264}"/>
    <dgm:cxn modelId="{DA3FE4DF-B575-44AF-85FA-FD251CC9D860}" type="presOf" srcId="{736257F8-377A-496E-850F-5D5A5D8E7669}" destId="{ECE36B61-6989-49E8-AB13-F4FB03C64B4F}" srcOrd="0" destOrd="0" presId="urn:microsoft.com/office/officeart/2018/2/layout/IconVerticalSolidList"/>
    <dgm:cxn modelId="{BF54C8F6-8DCD-4EA4-8F2E-06CAA4411E39}" srcId="{1AF53FEF-A225-4570-AD83-6CB65DB17CA3}" destId="{736257F8-377A-496E-850F-5D5A5D8E7669}" srcOrd="0" destOrd="0" parTransId="{8F66037C-97AF-4782-A00B-B6D605C08FEF}" sibTransId="{7228E6A1-14EF-4CE9-B59B-5C0471175984}"/>
    <dgm:cxn modelId="{D713B27A-BE53-4816-AAE0-162D1AE4EF73}" type="presParOf" srcId="{F4DFA45E-3464-491D-A2FC-F2DCE880AD5C}" destId="{E234C99A-7A39-4DA5-BABD-F536AAE9B84A}" srcOrd="0" destOrd="0" presId="urn:microsoft.com/office/officeart/2018/2/layout/IconVerticalSolidList"/>
    <dgm:cxn modelId="{29C82680-F252-44AF-A68E-E11CC762C3C8}" type="presParOf" srcId="{E234C99A-7A39-4DA5-BABD-F536AAE9B84A}" destId="{8D77C7CD-8121-4C22-815B-C7E66F7ABC33}" srcOrd="0" destOrd="0" presId="urn:microsoft.com/office/officeart/2018/2/layout/IconVerticalSolidList"/>
    <dgm:cxn modelId="{4398E9EA-A0F8-4DC5-ADB3-22C5B4A44489}" type="presParOf" srcId="{E234C99A-7A39-4DA5-BABD-F536AAE9B84A}" destId="{BD6D5F4F-62EF-4D56-A66B-A664962F36CE}" srcOrd="1" destOrd="0" presId="urn:microsoft.com/office/officeart/2018/2/layout/IconVerticalSolidList"/>
    <dgm:cxn modelId="{818918C2-DDB1-473E-84BB-EA67FD013B1E}" type="presParOf" srcId="{E234C99A-7A39-4DA5-BABD-F536AAE9B84A}" destId="{E7D28542-A93E-40C5-B4FA-C6D925498EE6}" srcOrd="2" destOrd="0" presId="urn:microsoft.com/office/officeart/2018/2/layout/IconVerticalSolidList"/>
    <dgm:cxn modelId="{7930E559-6BDC-4F45-8664-870014E259C3}" type="presParOf" srcId="{E234C99A-7A39-4DA5-BABD-F536AAE9B84A}" destId="{ECE36B61-6989-49E8-AB13-F4FB03C64B4F}" srcOrd="3" destOrd="0" presId="urn:microsoft.com/office/officeart/2018/2/layout/IconVerticalSolidList"/>
    <dgm:cxn modelId="{6F1E1474-2525-4E32-A447-33BFDE6DA78B}" type="presParOf" srcId="{F4DFA45E-3464-491D-A2FC-F2DCE880AD5C}" destId="{912A90CF-4299-4004-A438-A6402AB46F20}" srcOrd="1" destOrd="0" presId="urn:microsoft.com/office/officeart/2018/2/layout/IconVerticalSolidList"/>
    <dgm:cxn modelId="{FDAD8552-9582-4456-A19A-6F3BAE622A04}" type="presParOf" srcId="{F4DFA45E-3464-491D-A2FC-F2DCE880AD5C}" destId="{D87242DC-25B4-43FF-900F-BFEE2BF140E0}" srcOrd="2" destOrd="0" presId="urn:microsoft.com/office/officeart/2018/2/layout/IconVerticalSolidList"/>
    <dgm:cxn modelId="{2EE89E84-8B81-4DFA-8F2C-3343999494FB}" type="presParOf" srcId="{D87242DC-25B4-43FF-900F-BFEE2BF140E0}" destId="{694A8120-899E-432B-B519-F7A3B1330CB0}" srcOrd="0" destOrd="0" presId="urn:microsoft.com/office/officeart/2018/2/layout/IconVerticalSolidList"/>
    <dgm:cxn modelId="{7494C559-AEFC-449D-B2E1-E9669BDD8946}" type="presParOf" srcId="{D87242DC-25B4-43FF-900F-BFEE2BF140E0}" destId="{9E704C10-C1B3-4AA7-9372-5BF8FDAF9AA4}" srcOrd="1" destOrd="0" presId="urn:microsoft.com/office/officeart/2018/2/layout/IconVerticalSolidList"/>
    <dgm:cxn modelId="{4820B828-99E7-4B98-9F6F-EBE7B488725A}" type="presParOf" srcId="{D87242DC-25B4-43FF-900F-BFEE2BF140E0}" destId="{9331A75B-1F14-426F-ACE9-61E0757C2548}" srcOrd="2" destOrd="0" presId="urn:microsoft.com/office/officeart/2018/2/layout/IconVerticalSolidList"/>
    <dgm:cxn modelId="{F1BE1725-93EE-4FD4-B7ED-249AACEFA984}" type="presParOf" srcId="{D87242DC-25B4-43FF-900F-BFEE2BF140E0}" destId="{D503019C-1000-429C-8066-67656DB92B50}" srcOrd="3" destOrd="0" presId="urn:microsoft.com/office/officeart/2018/2/layout/IconVerticalSolidList"/>
    <dgm:cxn modelId="{3078A22A-9162-4344-83DB-3826F56453B3}" type="presParOf" srcId="{F4DFA45E-3464-491D-A2FC-F2DCE880AD5C}" destId="{14539989-206D-46FE-A14B-270331BFF313}" srcOrd="3" destOrd="0" presId="urn:microsoft.com/office/officeart/2018/2/layout/IconVerticalSolidList"/>
    <dgm:cxn modelId="{632B44DB-18CB-4E06-AB79-BBBE9C940088}" type="presParOf" srcId="{F4DFA45E-3464-491D-A2FC-F2DCE880AD5C}" destId="{7D5D804E-1B8D-4AD6-A86C-DF746691D882}" srcOrd="4" destOrd="0" presId="urn:microsoft.com/office/officeart/2018/2/layout/IconVerticalSolidList"/>
    <dgm:cxn modelId="{639E001B-65B1-44B9-8300-4F51E2236CCA}" type="presParOf" srcId="{7D5D804E-1B8D-4AD6-A86C-DF746691D882}" destId="{FCC1BB4F-87CF-4AAF-BA94-C76BC0FF881B}" srcOrd="0" destOrd="0" presId="urn:microsoft.com/office/officeart/2018/2/layout/IconVerticalSolidList"/>
    <dgm:cxn modelId="{DB04C4A3-8AAE-4458-A082-7605FA08BB40}" type="presParOf" srcId="{7D5D804E-1B8D-4AD6-A86C-DF746691D882}" destId="{C9148F37-F268-44FC-8806-6AAC61315BBD}" srcOrd="1" destOrd="0" presId="urn:microsoft.com/office/officeart/2018/2/layout/IconVerticalSolidList"/>
    <dgm:cxn modelId="{AFE6E035-2753-4DF7-8D95-C7AADDD918D2}" type="presParOf" srcId="{7D5D804E-1B8D-4AD6-A86C-DF746691D882}" destId="{7EC9D731-E6D2-41B0-A393-778699C88A17}" srcOrd="2" destOrd="0" presId="urn:microsoft.com/office/officeart/2018/2/layout/IconVerticalSolidList"/>
    <dgm:cxn modelId="{4924D06F-0656-4108-B9B8-72527B8A6853}" type="presParOf" srcId="{7D5D804E-1B8D-4AD6-A86C-DF746691D882}" destId="{E3F271A5-73AA-4E8A-A5F0-72BF565A5A2F}"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A51929D3-A8BD-400E-A95B-FE811972AE80}" type="doc">
      <dgm:prSet loTypeId="urn:microsoft.com/office/officeart/2005/8/layout/radial4" loCatId="relationship" qsTypeId="urn:microsoft.com/office/officeart/2005/8/quickstyle/simple1" qsCatId="simple" csTypeId="urn:microsoft.com/office/officeart/2005/8/colors/colorful1" csCatId="colorful" phldr="1"/>
      <dgm:spPr/>
      <dgm:t>
        <a:bodyPr/>
        <a:lstStyle/>
        <a:p>
          <a:endParaRPr lang="en-US"/>
        </a:p>
      </dgm:t>
    </dgm:pt>
    <dgm:pt modelId="{BC041B41-131E-4873-AC96-05F2B768BB9C}">
      <dgm:prSet phldrT="[Text]"/>
      <dgm:spPr/>
      <dgm:t>
        <a:bodyPr/>
        <a:lstStyle/>
        <a:p>
          <a:pPr>
            <a:spcBef>
              <a:spcPts val="600"/>
            </a:spcBef>
            <a:spcAft>
              <a:spcPts val="0"/>
            </a:spcAft>
          </a:pPr>
          <a:r>
            <a:rPr lang="en-US"/>
            <a:t>html</a:t>
          </a:r>
        </a:p>
      </dgm:t>
    </dgm:pt>
    <dgm:pt modelId="{9F20AA1C-92D5-43C7-8E0F-D3EEA3F4CBDC}" type="parTrans" cxnId="{04361E55-C682-4088-B831-166BBE0990BB}">
      <dgm:prSet/>
      <dgm:spPr/>
      <dgm:t>
        <a:bodyPr/>
        <a:lstStyle/>
        <a:p>
          <a:endParaRPr lang="en-US"/>
        </a:p>
      </dgm:t>
    </dgm:pt>
    <dgm:pt modelId="{8BA1D1AD-C45E-47B9-8C7C-53BD00D9E9FC}" type="sibTrans" cxnId="{04361E55-C682-4088-B831-166BBE0990BB}">
      <dgm:prSet/>
      <dgm:spPr/>
      <dgm:t>
        <a:bodyPr/>
        <a:lstStyle/>
        <a:p>
          <a:endParaRPr lang="en-US"/>
        </a:p>
      </dgm:t>
    </dgm:pt>
    <dgm:pt modelId="{A209C863-1F9C-4CA2-906C-5D1A8930D27C}">
      <dgm:prSet phldrT="[Text]"/>
      <dgm:spPr/>
      <dgm:t>
        <a:bodyPr/>
        <a:lstStyle/>
        <a:p>
          <a:r>
            <a:rPr lang="en-US"/>
            <a:t>Ruby</a:t>
          </a:r>
        </a:p>
      </dgm:t>
    </dgm:pt>
    <dgm:pt modelId="{3E064475-EB93-4D06-BCCD-7BF87F093BB1}" type="parTrans" cxnId="{1CCC3282-1527-48F7-82D5-A39C0F4C0391}">
      <dgm:prSet/>
      <dgm:spPr/>
      <dgm:t>
        <a:bodyPr/>
        <a:lstStyle/>
        <a:p>
          <a:endParaRPr lang="en-US"/>
        </a:p>
      </dgm:t>
    </dgm:pt>
    <dgm:pt modelId="{5AF884C8-06AD-4A1F-B010-DE2F344DFDD6}" type="sibTrans" cxnId="{1CCC3282-1527-48F7-82D5-A39C0F4C0391}">
      <dgm:prSet/>
      <dgm:spPr/>
      <dgm:t>
        <a:bodyPr/>
        <a:lstStyle/>
        <a:p>
          <a:endParaRPr lang="en-US"/>
        </a:p>
      </dgm:t>
    </dgm:pt>
    <dgm:pt modelId="{62C9DABE-B1A2-4B69-9F6B-842CD57504D4}">
      <dgm:prSet phldrT="[Text]"/>
      <dgm:spPr/>
      <dgm:t>
        <a:bodyPr/>
        <a:lstStyle/>
        <a:p>
          <a:r>
            <a:rPr lang="en-US"/>
            <a:t>Java</a:t>
          </a:r>
        </a:p>
      </dgm:t>
    </dgm:pt>
    <dgm:pt modelId="{E299AD21-E393-4342-8E57-1161AAC457A9}" type="parTrans" cxnId="{DF8170A2-3125-441B-88C6-570F1ADE09A3}">
      <dgm:prSet/>
      <dgm:spPr/>
      <dgm:t>
        <a:bodyPr/>
        <a:lstStyle/>
        <a:p>
          <a:endParaRPr lang="en-US"/>
        </a:p>
      </dgm:t>
    </dgm:pt>
    <dgm:pt modelId="{DB9C09B4-6CB9-4550-8AE0-CD8D0B115CF7}" type="sibTrans" cxnId="{DF8170A2-3125-441B-88C6-570F1ADE09A3}">
      <dgm:prSet/>
      <dgm:spPr/>
      <dgm:t>
        <a:bodyPr/>
        <a:lstStyle/>
        <a:p>
          <a:endParaRPr lang="en-US"/>
        </a:p>
      </dgm:t>
    </dgm:pt>
    <dgm:pt modelId="{92678628-F20B-4F68-A66A-4A4B85BE4244}">
      <dgm:prSet phldrT="[Text]"/>
      <dgm:spPr/>
      <dgm:t>
        <a:bodyPr/>
        <a:lstStyle/>
        <a:p>
          <a:r>
            <a:rPr lang="en-US"/>
            <a:t>Python</a:t>
          </a:r>
        </a:p>
      </dgm:t>
    </dgm:pt>
    <dgm:pt modelId="{FD7BA992-232D-40BE-9C2D-04D4645BD9AC}" type="parTrans" cxnId="{BF9DA7D8-15EB-49E6-A552-CDBE2BB1AA87}">
      <dgm:prSet/>
      <dgm:spPr/>
      <dgm:t>
        <a:bodyPr/>
        <a:lstStyle/>
        <a:p>
          <a:endParaRPr lang="en-US"/>
        </a:p>
      </dgm:t>
    </dgm:pt>
    <dgm:pt modelId="{E5DDD2A4-5D15-4A85-B4DB-AF3D5F9662E4}" type="sibTrans" cxnId="{BF9DA7D8-15EB-49E6-A552-CDBE2BB1AA87}">
      <dgm:prSet/>
      <dgm:spPr/>
      <dgm:t>
        <a:bodyPr/>
        <a:lstStyle/>
        <a:p>
          <a:endParaRPr lang="en-US"/>
        </a:p>
      </dgm:t>
    </dgm:pt>
    <dgm:pt modelId="{6BF57EB3-2C4A-47D4-9F92-6C5A02C6FBE9}">
      <dgm:prSet/>
      <dgm:spPr/>
      <dgm:t>
        <a:bodyPr/>
        <a:lstStyle/>
        <a:p>
          <a:r>
            <a:rPr lang="en-US"/>
            <a:t>php</a:t>
          </a:r>
        </a:p>
      </dgm:t>
    </dgm:pt>
    <dgm:pt modelId="{49A1D4FB-D64E-49E3-BBB6-F17EB802749A}" type="parTrans" cxnId="{E225EF52-5DAC-4FE6-A1B5-A2D63340FA7C}">
      <dgm:prSet/>
      <dgm:spPr/>
      <dgm:t>
        <a:bodyPr/>
        <a:lstStyle/>
        <a:p>
          <a:endParaRPr lang="en-US"/>
        </a:p>
      </dgm:t>
    </dgm:pt>
    <dgm:pt modelId="{10D4CD5C-86E6-4594-9644-CAF0D4E39CB8}" type="sibTrans" cxnId="{E225EF52-5DAC-4FE6-A1B5-A2D63340FA7C}">
      <dgm:prSet/>
      <dgm:spPr/>
      <dgm:t>
        <a:bodyPr/>
        <a:lstStyle/>
        <a:p>
          <a:endParaRPr lang="en-US"/>
        </a:p>
      </dgm:t>
    </dgm:pt>
    <dgm:pt modelId="{72BBC781-16DD-46F7-9685-4A6DF33792DF}">
      <dgm:prSet/>
      <dgm:spPr/>
      <dgm:t>
        <a:bodyPr/>
        <a:lstStyle/>
        <a:p>
          <a:r>
            <a:rPr lang="en-US"/>
            <a:t>nodsjs</a:t>
          </a:r>
        </a:p>
      </dgm:t>
    </dgm:pt>
    <dgm:pt modelId="{0558562D-0C6C-461D-9838-103F506C930C}" type="parTrans" cxnId="{847E42F1-CE25-4100-8DF7-B71E4B5B9FB8}">
      <dgm:prSet/>
      <dgm:spPr/>
      <dgm:t>
        <a:bodyPr/>
        <a:lstStyle/>
        <a:p>
          <a:endParaRPr lang="en-US"/>
        </a:p>
      </dgm:t>
    </dgm:pt>
    <dgm:pt modelId="{A864A42E-56A6-4730-8414-394D54C512A2}" type="sibTrans" cxnId="{847E42F1-CE25-4100-8DF7-B71E4B5B9FB8}">
      <dgm:prSet/>
      <dgm:spPr/>
      <dgm:t>
        <a:bodyPr/>
        <a:lstStyle/>
        <a:p>
          <a:endParaRPr lang="en-US"/>
        </a:p>
      </dgm:t>
    </dgm:pt>
    <dgm:pt modelId="{A732A2CA-A81A-4887-B232-CAEF91CFBB12}">
      <dgm:prSet/>
      <dgm:spPr/>
    </dgm:pt>
    <dgm:pt modelId="{EBD8B3F6-5748-40F6-A9DE-C8207C5D5840}" type="parTrans" cxnId="{33921BDE-1969-4C98-948B-AD75AD1A4F0E}">
      <dgm:prSet/>
      <dgm:spPr/>
      <dgm:t>
        <a:bodyPr/>
        <a:lstStyle/>
        <a:p>
          <a:endParaRPr lang="en-US"/>
        </a:p>
      </dgm:t>
    </dgm:pt>
    <dgm:pt modelId="{71B4B071-D3CF-413B-B8A5-04502ACE9ED5}" type="sibTrans" cxnId="{33921BDE-1969-4C98-948B-AD75AD1A4F0E}">
      <dgm:prSet/>
      <dgm:spPr/>
      <dgm:t>
        <a:bodyPr/>
        <a:lstStyle/>
        <a:p>
          <a:endParaRPr lang="en-US"/>
        </a:p>
      </dgm:t>
    </dgm:pt>
    <dgm:pt modelId="{F5FC8359-4703-4B4E-A6F1-2531E7924CEE}">
      <dgm:prSet/>
      <dgm:spPr/>
    </dgm:pt>
    <dgm:pt modelId="{6913A958-D7A6-4FB6-8E76-08270B8FBE7E}" type="parTrans" cxnId="{F3FA1799-842E-4998-97E4-AC6871612973}">
      <dgm:prSet/>
      <dgm:spPr/>
      <dgm:t>
        <a:bodyPr/>
        <a:lstStyle/>
        <a:p>
          <a:endParaRPr lang="en-US"/>
        </a:p>
      </dgm:t>
    </dgm:pt>
    <dgm:pt modelId="{C3F58683-2EEF-4894-8D69-B526D3C5AEE4}" type="sibTrans" cxnId="{F3FA1799-842E-4998-97E4-AC6871612973}">
      <dgm:prSet/>
      <dgm:spPr/>
      <dgm:t>
        <a:bodyPr/>
        <a:lstStyle/>
        <a:p>
          <a:endParaRPr lang="en-US"/>
        </a:p>
      </dgm:t>
    </dgm:pt>
    <dgm:pt modelId="{B77CCD1F-8AEE-4BC9-8BBA-73F2F102680E}" type="pres">
      <dgm:prSet presAssocID="{A51929D3-A8BD-400E-A95B-FE811972AE80}" presName="cycle" presStyleCnt="0">
        <dgm:presLayoutVars>
          <dgm:chMax val="1"/>
          <dgm:dir/>
          <dgm:animLvl val="ctr"/>
          <dgm:resizeHandles val="exact"/>
        </dgm:presLayoutVars>
      </dgm:prSet>
      <dgm:spPr/>
    </dgm:pt>
    <dgm:pt modelId="{25420990-81BC-4EA0-8D00-241CAC3E66B1}" type="pres">
      <dgm:prSet presAssocID="{BC041B41-131E-4873-AC96-05F2B768BB9C}" presName="centerShape" presStyleLbl="node0" presStyleIdx="0" presStyleCnt="1"/>
      <dgm:spPr/>
    </dgm:pt>
    <dgm:pt modelId="{EFA5E0E2-F520-4EBB-B9DB-D1095E90D5E8}" type="pres">
      <dgm:prSet presAssocID="{3E064475-EB93-4D06-BCCD-7BF87F093BB1}" presName="parTrans" presStyleLbl="bgSibTrans2D1" presStyleIdx="0" presStyleCnt="5"/>
      <dgm:spPr/>
    </dgm:pt>
    <dgm:pt modelId="{588C1F68-E3B8-46F9-B005-D623CF8F9322}" type="pres">
      <dgm:prSet presAssocID="{A209C863-1F9C-4CA2-906C-5D1A8930D27C}" presName="node" presStyleLbl="node1" presStyleIdx="0" presStyleCnt="5">
        <dgm:presLayoutVars>
          <dgm:bulletEnabled val="1"/>
        </dgm:presLayoutVars>
      </dgm:prSet>
      <dgm:spPr/>
    </dgm:pt>
    <dgm:pt modelId="{17ECACA8-69D9-48B1-9B8E-6FD1FED1061B}" type="pres">
      <dgm:prSet presAssocID="{E299AD21-E393-4342-8E57-1161AAC457A9}" presName="parTrans" presStyleLbl="bgSibTrans2D1" presStyleIdx="1" presStyleCnt="5"/>
      <dgm:spPr/>
    </dgm:pt>
    <dgm:pt modelId="{4C732F24-9DDE-4B98-816B-CA63A7C31289}" type="pres">
      <dgm:prSet presAssocID="{62C9DABE-B1A2-4B69-9F6B-842CD57504D4}" presName="node" presStyleLbl="node1" presStyleIdx="1" presStyleCnt="5">
        <dgm:presLayoutVars>
          <dgm:bulletEnabled val="1"/>
        </dgm:presLayoutVars>
      </dgm:prSet>
      <dgm:spPr/>
    </dgm:pt>
    <dgm:pt modelId="{7DB34A17-C08A-403E-9A2C-77254AAD269F}" type="pres">
      <dgm:prSet presAssocID="{FD7BA992-232D-40BE-9C2D-04D4645BD9AC}" presName="parTrans" presStyleLbl="bgSibTrans2D1" presStyleIdx="2" presStyleCnt="5"/>
      <dgm:spPr/>
    </dgm:pt>
    <dgm:pt modelId="{9F82096E-5CA4-427B-A842-5BBF102EFC93}" type="pres">
      <dgm:prSet presAssocID="{92678628-F20B-4F68-A66A-4A4B85BE4244}" presName="node" presStyleLbl="node1" presStyleIdx="2" presStyleCnt="5">
        <dgm:presLayoutVars>
          <dgm:bulletEnabled val="1"/>
        </dgm:presLayoutVars>
      </dgm:prSet>
      <dgm:spPr/>
    </dgm:pt>
    <dgm:pt modelId="{0DE8CC17-CA0D-489B-8E8D-6A2C18C3F4C8}" type="pres">
      <dgm:prSet presAssocID="{49A1D4FB-D64E-49E3-BBB6-F17EB802749A}" presName="parTrans" presStyleLbl="bgSibTrans2D1" presStyleIdx="3" presStyleCnt="5"/>
      <dgm:spPr/>
    </dgm:pt>
    <dgm:pt modelId="{5A570955-6531-400E-976B-7627D5F24C1D}" type="pres">
      <dgm:prSet presAssocID="{6BF57EB3-2C4A-47D4-9F92-6C5A02C6FBE9}" presName="node" presStyleLbl="node1" presStyleIdx="3" presStyleCnt="5">
        <dgm:presLayoutVars>
          <dgm:bulletEnabled val="1"/>
        </dgm:presLayoutVars>
      </dgm:prSet>
      <dgm:spPr/>
    </dgm:pt>
    <dgm:pt modelId="{FA8998B1-33DC-4045-83FB-E23218CEE8BA}" type="pres">
      <dgm:prSet presAssocID="{0558562D-0C6C-461D-9838-103F506C930C}" presName="parTrans" presStyleLbl="bgSibTrans2D1" presStyleIdx="4" presStyleCnt="5"/>
      <dgm:spPr/>
    </dgm:pt>
    <dgm:pt modelId="{6FE5BFF6-8695-4447-918D-72956C79D4E1}" type="pres">
      <dgm:prSet presAssocID="{72BBC781-16DD-46F7-9685-4A6DF33792DF}" presName="node" presStyleLbl="node1" presStyleIdx="4" presStyleCnt="5">
        <dgm:presLayoutVars>
          <dgm:bulletEnabled val="1"/>
        </dgm:presLayoutVars>
      </dgm:prSet>
      <dgm:spPr/>
    </dgm:pt>
  </dgm:ptLst>
  <dgm:cxnLst>
    <dgm:cxn modelId="{F1662813-7BEF-421E-AB5D-5063E4DAC0B2}" type="presOf" srcId="{92678628-F20B-4F68-A66A-4A4B85BE4244}" destId="{9F82096E-5CA4-427B-A842-5BBF102EFC93}" srcOrd="0" destOrd="0" presId="urn:microsoft.com/office/officeart/2005/8/layout/radial4"/>
    <dgm:cxn modelId="{4A9D6221-F020-46DB-9116-3211DBCAA48D}" type="presOf" srcId="{0558562D-0C6C-461D-9838-103F506C930C}" destId="{FA8998B1-33DC-4045-83FB-E23218CEE8BA}" srcOrd="0" destOrd="0" presId="urn:microsoft.com/office/officeart/2005/8/layout/radial4"/>
    <dgm:cxn modelId="{19FEF02E-C90A-48A4-B362-08B7CC20F2FF}" type="presOf" srcId="{49A1D4FB-D64E-49E3-BBB6-F17EB802749A}" destId="{0DE8CC17-CA0D-489B-8E8D-6A2C18C3F4C8}" srcOrd="0" destOrd="0" presId="urn:microsoft.com/office/officeart/2005/8/layout/radial4"/>
    <dgm:cxn modelId="{0E1EED33-1714-4BD9-BBC0-0CFBD1280D63}" type="presOf" srcId="{A51929D3-A8BD-400E-A95B-FE811972AE80}" destId="{B77CCD1F-8AEE-4BC9-8BBA-73F2F102680E}" srcOrd="0" destOrd="0" presId="urn:microsoft.com/office/officeart/2005/8/layout/radial4"/>
    <dgm:cxn modelId="{DEE8AA4B-6CC4-4299-A90B-ECC653F62537}" type="presOf" srcId="{72BBC781-16DD-46F7-9685-4A6DF33792DF}" destId="{6FE5BFF6-8695-4447-918D-72956C79D4E1}" srcOrd="0" destOrd="0" presId="urn:microsoft.com/office/officeart/2005/8/layout/radial4"/>
    <dgm:cxn modelId="{A0601F50-297B-453F-94FE-B3DD2AE0D117}" type="presOf" srcId="{6BF57EB3-2C4A-47D4-9F92-6C5A02C6FBE9}" destId="{5A570955-6531-400E-976B-7627D5F24C1D}" srcOrd="0" destOrd="0" presId="urn:microsoft.com/office/officeart/2005/8/layout/radial4"/>
    <dgm:cxn modelId="{AD99ED72-E7DF-40D9-AB1D-548A8A0D7E74}" type="presOf" srcId="{FD7BA992-232D-40BE-9C2D-04D4645BD9AC}" destId="{7DB34A17-C08A-403E-9A2C-77254AAD269F}" srcOrd="0" destOrd="0" presId="urn:microsoft.com/office/officeart/2005/8/layout/radial4"/>
    <dgm:cxn modelId="{E225EF52-5DAC-4FE6-A1B5-A2D63340FA7C}" srcId="{BC041B41-131E-4873-AC96-05F2B768BB9C}" destId="{6BF57EB3-2C4A-47D4-9F92-6C5A02C6FBE9}" srcOrd="3" destOrd="0" parTransId="{49A1D4FB-D64E-49E3-BBB6-F17EB802749A}" sibTransId="{10D4CD5C-86E6-4594-9644-CAF0D4E39CB8}"/>
    <dgm:cxn modelId="{04361E55-C682-4088-B831-166BBE0990BB}" srcId="{A51929D3-A8BD-400E-A95B-FE811972AE80}" destId="{BC041B41-131E-4873-AC96-05F2B768BB9C}" srcOrd="0" destOrd="0" parTransId="{9F20AA1C-92D5-43C7-8E0F-D3EEA3F4CBDC}" sibTransId="{8BA1D1AD-C45E-47B9-8C7C-53BD00D9E9FC}"/>
    <dgm:cxn modelId="{1CCC3282-1527-48F7-82D5-A39C0F4C0391}" srcId="{BC041B41-131E-4873-AC96-05F2B768BB9C}" destId="{A209C863-1F9C-4CA2-906C-5D1A8930D27C}" srcOrd="0" destOrd="0" parTransId="{3E064475-EB93-4D06-BCCD-7BF87F093BB1}" sibTransId="{5AF884C8-06AD-4A1F-B010-DE2F344DFDD6}"/>
    <dgm:cxn modelId="{F3FA1799-842E-4998-97E4-AC6871612973}" srcId="{A51929D3-A8BD-400E-A95B-FE811972AE80}" destId="{F5FC8359-4703-4B4E-A6F1-2531E7924CEE}" srcOrd="2" destOrd="0" parTransId="{6913A958-D7A6-4FB6-8E76-08270B8FBE7E}" sibTransId="{C3F58683-2EEF-4894-8D69-B526D3C5AEE4}"/>
    <dgm:cxn modelId="{1DAA1E9E-5E82-4306-B930-9B7786B2DF73}" type="presOf" srcId="{62C9DABE-B1A2-4B69-9F6B-842CD57504D4}" destId="{4C732F24-9DDE-4B98-816B-CA63A7C31289}" srcOrd="0" destOrd="0" presId="urn:microsoft.com/office/officeart/2005/8/layout/radial4"/>
    <dgm:cxn modelId="{832135A1-5F5D-4ED9-91D7-E036015BB2DC}" type="presOf" srcId="{BC041B41-131E-4873-AC96-05F2B768BB9C}" destId="{25420990-81BC-4EA0-8D00-241CAC3E66B1}" srcOrd="0" destOrd="0" presId="urn:microsoft.com/office/officeart/2005/8/layout/radial4"/>
    <dgm:cxn modelId="{DF8170A2-3125-441B-88C6-570F1ADE09A3}" srcId="{BC041B41-131E-4873-AC96-05F2B768BB9C}" destId="{62C9DABE-B1A2-4B69-9F6B-842CD57504D4}" srcOrd="1" destOrd="0" parTransId="{E299AD21-E393-4342-8E57-1161AAC457A9}" sibTransId="{DB9C09B4-6CB9-4550-8AE0-CD8D0B115CF7}"/>
    <dgm:cxn modelId="{D1DE32D4-9F72-486F-B212-7C2455F81203}" type="presOf" srcId="{3E064475-EB93-4D06-BCCD-7BF87F093BB1}" destId="{EFA5E0E2-F520-4EBB-B9DB-D1095E90D5E8}" srcOrd="0" destOrd="0" presId="urn:microsoft.com/office/officeart/2005/8/layout/radial4"/>
    <dgm:cxn modelId="{2466C8D6-4CAE-4DFE-9DE4-42E79C03654C}" type="presOf" srcId="{A209C863-1F9C-4CA2-906C-5D1A8930D27C}" destId="{588C1F68-E3B8-46F9-B005-D623CF8F9322}" srcOrd="0" destOrd="0" presId="urn:microsoft.com/office/officeart/2005/8/layout/radial4"/>
    <dgm:cxn modelId="{BF9DA7D8-15EB-49E6-A552-CDBE2BB1AA87}" srcId="{BC041B41-131E-4873-AC96-05F2B768BB9C}" destId="{92678628-F20B-4F68-A66A-4A4B85BE4244}" srcOrd="2" destOrd="0" parTransId="{FD7BA992-232D-40BE-9C2D-04D4645BD9AC}" sibTransId="{E5DDD2A4-5D15-4A85-B4DB-AF3D5F9662E4}"/>
    <dgm:cxn modelId="{99A4ECDC-068E-4947-9693-0BE02377DA3B}" type="presOf" srcId="{E299AD21-E393-4342-8E57-1161AAC457A9}" destId="{17ECACA8-69D9-48B1-9B8E-6FD1FED1061B}" srcOrd="0" destOrd="0" presId="urn:microsoft.com/office/officeart/2005/8/layout/radial4"/>
    <dgm:cxn modelId="{33921BDE-1969-4C98-948B-AD75AD1A4F0E}" srcId="{A51929D3-A8BD-400E-A95B-FE811972AE80}" destId="{A732A2CA-A81A-4887-B232-CAEF91CFBB12}" srcOrd="1" destOrd="0" parTransId="{EBD8B3F6-5748-40F6-A9DE-C8207C5D5840}" sibTransId="{71B4B071-D3CF-413B-B8A5-04502ACE9ED5}"/>
    <dgm:cxn modelId="{847E42F1-CE25-4100-8DF7-B71E4B5B9FB8}" srcId="{BC041B41-131E-4873-AC96-05F2B768BB9C}" destId="{72BBC781-16DD-46F7-9685-4A6DF33792DF}" srcOrd="4" destOrd="0" parTransId="{0558562D-0C6C-461D-9838-103F506C930C}" sibTransId="{A864A42E-56A6-4730-8414-394D54C512A2}"/>
    <dgm:cxn modelId="{1586DEB9-473D-4B57-A769-CDC8E0938AE7}" type="presParOf" srcId="{B77CCD1F-8AEE-4BC9-8BBA-73F2F102680E}" destId="{25420990-81BC-4EA0-8D00-241CAC3E66B1}" srcOrd="0" destOrd="0" presId="urn:microsoft.com/office/officeart/2005/8/layout/radial4"/>
    <dgm:cxn modelId="{32B2A03E-2567-427B-AA27-F21EF4E0F364}" type="presParOf" srcId="{B77CCD1F-8AEE-4BC9-8BBA-73F2F102680E}" destId="{EFA5E0E2-F520-4EBB-B9DB-D1095E90D5E8}" srcOrd="1" destOrd="0" presId="urn:microsoft.com/office/officeart/2005/8/layout/radial4"/>
    <dgm:cxn modelId="{1615A9F9-134B-46D4-8A4B-7E99706574CF}" type="presParOf" srcId="{B77CCD1F-8AEE-4BC9-8BBA-73F2F102680E}" destId="{588C1F68-E3B8-46F9-B005-D623CF8F9322}" srcOrd="2" destOrd="0" presId="urn:microsoft.com/office/officeart/2005/8/layout/radial4"/>
    <dgm:cxn modelId="{9AB41C41-FE16-4918-8C52-BF815F35A285}" type="presParOf" srcId="{B77CCD1F-8AEE-4BC9-8BBA-73F2F102680E}" destId="{17ECACA8-69D9-48B1-9B8E-6FD1FED1061B}" srcOrd="3" destOrd="0" presId="urn:microsoft.com/office/officeart/2005/8/layout/radial4"/>
    <dgm:cxn modelId="{62D48042-B378-497A-A9ED-27F82C0C9D0D}" type="presParOf" srcId="{B77CCD1F-8AEE-4BC9-8BBA-73F2F102680E}" destId="{4C732F24-9DDE-4B98-816B-CA63A7C31289}" srcOrd="4" destOrd="0" presId="urn:microsoft.com/office/officeart/2005/8/layout/radial4"/>
    <dgm:cxn modelId="{6672D714-1773-421F-B0A3-6046B3B0BBBC}" type="presParOf" srcId="{B77CCD1F-8AEE-4BC9-8BBA-73F2F102680E}" destId="{7DB34A17-C08A-403E-9A2C-77254AAD269F}" srcOrd="5" destOrd="0" presId="urn:microsoft.com/office/officeart/2005/8/layout/radial4"/>
    <dgm:cxn modelId="{48CA7C6E-BD6B-451C-B341-97CD238AFB45}" type="presParOf" srcId="{B77CCD1F-8AEE-4BC9-8BBA-73F2F102680E}" destId="{9F82096E-5CA4-427B-A842-5BBF102EFC93}" srcOrd="6" destOrd="0" presId="urn:microsoft.com/office/officeart/2005/8/layout/radial4"/>
    <dgm:cxn modelId="{92EBE805-C459-40A7-8910-7D0F1FD4462F}" type="presParOf" srcId="{B77CCD1F-8AEE-4BC9-8BBA-73F2F102680E}" destId="{0DE8CC17-CA0D-489B-8E8D-6A2C18C3F4C8}" srcOrd="7" destOrd="0" presId="urn:microsoft.com/office/officeart/2005/8/layout/radial4"/>
    <dgm:cxn modelId="{D19D9CB2-F147-4EB8-97C9-C6913B2E0F88}" type="presParOf" srcId="{B77CCD1F-8AEE-4BC9-8BBA-73F2F102680E}" destId="{5A570955-6531-400E-976B-7627D5F24C1D}" srcOrd="8" destOrd="0" presId="urn:microsoft.com/office/officeart/2005/8/layout/radial4"/>
    <dgm:cxn modelId="{933A328C-4B46-4E0A-9A80-60217F699F06}" type="presParOf" srcId="{B77CCD1F-8AEE-4BC9-8BBA-73F2F102680E}" destId="{FA8998B1-33DC-4045-83FB-E23218CEE8BA}" srcOrd="9" destOrd="0" presId="urn:microsoft.com/office/officeart/2005/8/layout/radial4"/>
    <dgm:cxn modelId="{5202C430-B789-4E74-AD10-2A3D6612D694}" type="presParOf" srcId="{B77CCD1F-8AEE-4BC9-8BBA-73F2F102680E}" destId="{6FE5BFF6-8695-4447-918D-72956C79D4E1}" srcOrd="10" destOrd="0" presId="urn:microsoft.com/office/officeart/2005/8/layout/radial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1238354D-B582-4615-AAC5-ABCF729135C5}"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C4D3A70C-C726-4F88-A1D5-43E83A83721B}">
      <dgm:prSet/>
      <dgm:spPr/>
      <dgm:t>
        <a:bodyPr/>
        <a:lstStyle/>
        <a:p>
          <a:pPr>
            <a:lnSpc>
              <a:spcPct val="100000"/>
            </a:lnSpc>
          </a:pPr>
          <a:r>
            <a:rPr lang="en-US"/>
            <a:t>django-admin startproject is used to create the basic structure and default files of a new Django project.</a:t>
          </a:r>
        </a:p>
      </dgm:t>
    </dgm:pt>
    <dgm:pt modelId="{1809E10E-5A4A-4513-864B-29E254BB32C8}" type="parTrans" cxnId="{80C4D845-D019-41D1-919B-2C4F1F4F5B3E}">
      <dgm:prSet/>
      <dgm:spPr/>
      <dgm:t>
        <a:bodyPr/>
        <a:lstStyle/>
        <a:p>
          <a:endParaRPr lang="en-US"/>
        </a:p>
      </dgm:t>
    </dgm:pt>
    <dgm:pt modelId="{24744185-46AA-4578-B045-3292F9E151AC}" type="sibTrans" cxnId="{80C4D845-D019-41D1-919B-2C4F1F4F5B3E}">
      <dgm:prSet/>
      <dgm:spPr/>
      <dgm:t>
        <a:bodyPr/>
        <a:lstStyle/>
        <a:p>
          <a:endParaRPr lang="en-US"/>
        </a:p>
      </dgm:t>
    </dgm:pt>
    <dgm:pt modelId="{9DFC84F8-8E7C-4E33-A476-D64F94A5F5DC}">
      <dgm:prSet/>
      <dgm:spPr/>
      <dgm:t>
        <a:bodyPr/>
        <a:lstStyle/>
        <a:p>
          <a:pPr>
            <a:lnSpc>
              <a:spcPct val="100000"/>
            </a:lnSpc>
          </a:pPr>
          <a:r>
            <a:rPr lang="en-US"/>
            <a:t>The command python manage.py startapp is used to create the basic file structure for a new Django app. </a:t>
          </a:r>
        </a:p>
      </dgm:t>
    </dgm:pt>
    <dgm:pt modelId="{2A38CCFC-DA93-458D-82AB-A3EFFAD6032C}" type="parTrans" cxnId="{A0A5A318-024F-4E37-A057-7634C17026BA}">
      <dgm:prSet/>
      <dgm:spPr/>
      <dgm:t>
        <a:bodyPr/>
        <a:lstStyle/>
        <a:p>
          <a:endParaRPr lang="en-US"/>
        </a:p>
      </dgm:t>
    </dgm:pt>
    <dgm:pt modelId="{0173632A-0E04-48C5-9BB3-67C5DA810BC0}" type="sibTrans" cxnId="{A0A5A318-024F-4E37-A057-7634C17026BA}">
      <dgm:prSet/>
      <dgm:spPr/>
      <dgm:t>
        <a:bodyPr/>
        <a:lstStyle/>
        <a:p>
          <a:endParaRPr lang="en-US"/>
        </a:p>
      </dgm:t>
    </dgm:pt>
    <dgm:pt modelId="{5431F4D9-5E07-481D-B18A-A1F5D31F1D55}">
      <dgm:prSet/>
      <dgm:spPr/>
      <dgm:t>
        <a:bodyPr/>
        <a:lstStyle/>
        <a:p>
          <a:pPr>
            <a:lnSpc>
              <a:spcPct val="100000"/>
            </a:lnSpc>
          </a:pPr>
          <a:r>
            <a:rPr lang="en-US"/>
            <a:t>python manage.py makemigrations is used to create new migration files based on the changes you made to your models.py</a:t>
          </a:r>
        </a:p>
      </dgm:t>
    </dgm:pt>
    <dgm:pt modelId="{0846F401-BA28-403C-AF90-6C92D2CC30DC}" type="parTrans" cxnId="{27F6D460-1055-4C37-874D-C40F424C6B2F}">
      <dgm:prSet/>
      <dgm:spPr/>
      <dgm:t>
        <a:bodyPr/>
        <a:lstStyle/>
        <a:p>
          <a:endParaRPr lang="en-US"/>
        </a:p>
      </dgm:t>
    </dgm:pt>
    <dgm:pt modelId="{2D8AF66F-D7C1-4098-9B24-38C8148A1B8F}" type="sibTrans" cxnId="{27F6D460-1055-4C37-874D-C40F424C6B2F}">
      <dgm:prSet/>
      <dgm:spPr/>
      <dgm:t>
        <a:bodyPr/>
        <a:lstStyle/>
        <a:p>
          <a:endParaRPr lang="en-US"/>
        </a:p>
      </dgm:t>
    </dgm:pt>
    <dgm:pt modelId="{32384843-2112-44DD-BEA3-FAB66EA92344}">
      <dgm:prSet/>
      <dgm:spPr/>
      <dgm:t>
        <a:bodyPr/>
        <a:lstStyle/>
        <a:p>
          <a:pPr>
            <a:lnSpc>
              <a:spcPct val="100000"/>
            </a:lnSpc>
          </a:pPr>
          <a:r>
            <a:rPr lang="en-US"/>
            <a:t>python manage.py migrate is used to apply the migrations to the actual database.</a:t>
          </a:r>
        </a:p>
      </dgm:t>
    </dgm:pt>
    <dgm:pt modelId="{06457A08-49FD-465F-AB7B-DEF9D40C0E96}" type="parTrans" cxnId="{3E8A1D7F-837C-4342-A675-2A64729F7C21}">
      <dgm:prSet/>
      <dgm:spPr/>
      <dgm:t>
        <a:bodyPr/>
        <a:lstStyle/>
        <a:p>
          <a:endParaRPr lang="en-US"/>
        </a:p>
      </dgm:t>
    </dgm:pt>
    <dgm:pt modelId="{2229AEFD-DF23-41D0-ADA5-38859108C257}" type="sibTrans" cxnId="{3E8A1D7F-837C-4342-A675-2A64729F7C21}">
      <dgm:prSet/>
      <dgm:spPr/>
      <dgm:t>
        <a:bodyPr/>
        <a:lstStyle/>
        <a:p>
          <a:endParaRPr lang="en-US"/>
        </a:p>
      </dgm:t>
    </dgm:pt>
    <dgm:pt modelId="{863ABB00-89E9-42E8-8334-FB5A8ECDF52B}" type="pres">
      <dgm:prSet presAssocID="{1238354D-B582-4615-AAC5-ABCF729135C5}" presName="root" presStyleCnt="0">
        <dgm:presLayoutVars>
          <dgm:dir/>
          <dgm:resizeHandles val="exact"/>
        </dgm:presLayoutVars>
      </dgm:prSet>
      <dgm:spPr/>
    </dgm:pt>
    <dgm:pt modelId="{4500D4A2-215E-4860-BDFB-B91DD4687E3A}" type="pres">
      <dgm:prSet presAssocID="{C4D3A70C-C726-4F88-A1D5-43E83A83721B}" presName="compNode" presStyleCnt="0"/>
      <dgm:spPr/>
    </dgm:pt>
    <dgm:pt modelId="{66083630-1697-4B97-9522-FB8967423B6B}" type="pres">
      <dgm:prSet presAssocID="{C4D3A70C-C726-4F88-A1D5-43E83A83721B}" presName="bgRect" presStyleLbl="bgShp" presStyleIdx="0" presStyleCnt="4"/>
      <dgm:spPr/>
    </dgm:pt>
    <dgm:pt modelId="{08120B3E-4A6A-4645-A0FB-139439906B36}" type="pres">
      <dgm:prSet presAssocID="{C4D3A70C-C726-4F88-A1D5-43E83A83721B}"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DJ"/>
        </a:ext>
      </dgm:extLst>
    </dgm:pt>
    <dgm:pt modelId="{436E43F2-0168-437C-83B9-153B88473F9D}" type="pres">
      <dgm:prSet presAssocID="{C4D3A70C-C726-4F88-A1D5-43E83A83721B}" presName="spaceRect" presStyleCnt="0"/>
      <dgm:spPr/>
    </dgm:pt>
    <dgm:pt modelId="{D2ED465F-E596-4AAF-8639-10282EEF18CE}" type="pres">
      <dgm:prSet presAssocID="{C4D3A70C-C726-4F88-A1D5-43E83A83721B}" presName="parTx" presStyleLbl="revTx" presStyleIdx="0" presStyleCnt="4">
        <dgm:presLayoutVars>
          <dgm:chMax val="0"/>
          <dgm:chPref val="0"/>
        </dgm:presLayoutVars>
      </dgm:prSet>
      <dgm:spPr/>
    </dgm:pt>
    <dgm:pt modelId="{F135F004-3F22-4F49-80EB-6AC70F3090BA}" type="pres">
      <dgm:prSet presAssocID="{24744185-46AA-4578-B045-3292F9E151AC}" presName="sibTrans" presStyleCnt="0"/>
      <dgm:spPr/>
    </dgm:pt>
    <dgm:pt modelId="{48C68A40-BFC3-46A8-A8B2-37068556579F}" type="pres">
      <dgm:prSet presAssocID="{9DFC84F8-8E7C-4E33-A476-D64F94A5F5DC}" presName="compNode" presStyleCnt="0"/>
      <dgm:spPr/>
    </dgm:pt>
    <dgm:pt modelId="{D25ED6DC-94D4-4CB7-A28C-39F0AF73583D}" type="pres">
      <dgm:prSet presAssocID="{9DFC84F8-8E7C-4E33-A476-D64F94A5F5DC}" presName="bgRect" presStyleLbl="bgShp" presStyleIdx="1" presStyleCnt="4"/>
      <dgm:spPr/>
    </dgm:pt>
    <dgm:pt modelId="{1953D3D2-74D6-4F8B-B9BE-C08029C68621}" type="pres">
      <dgm:prSet presAssocID="{9DFC84F8-8E7C-4E33-A476-D64F94A5F5DC}"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Flowchart"/>
        </a:ext>
      </dgm:extLst>
    </dgm:pt>
    <dgm:pt modelId="{A64712AD-1242-4EF8-B5A4-4DB519F8B40D}" type="pres">
      <dgm:prSet presAssocID="{9DFC84F8-8E7C-4E33-A476-D64F94A5F5DC}" presName="spaceRect" presStyleCnt="0"/>
      <dgm:spPr/>
    </dgm:pt>
    <dgm:pt modelId="{790E96A8-3B53-438E-9736-2E4E607E0B73}" type="pres">
      <dgm:prSet presAssocID="{9DFC84F8-8E7C-4E33-A476-D64F94A5F5DC}" presName="parTx" presStyleLbl="revTx" presStyleIdx="1" presStyleCnt="4">
        <dgm:presLayoutVars>
          <dgm:chMax val="0"/>
          <dgm:chPref val="0"/>
        </dgm:presLayoutVars>
      </dgm:prSet>
      <dgm:spPr/>
    </dgm:pt>
    <dgm:pt modelId="{4F0341D1-2D12-45A2-8AE2-DC44BEC01286}" type="pres">
      <dgm:prSet presAssocID="{0173632A-0E04-48C5-9BB3-67C5DA810BC0}" presName="sibTrans" presStyleCnt="0"/>
      <dgm:spPr/>
    </dgm:pt>
    <dgm:pt modelId="{EF7A7FB7-7B0D-4DAB-B651-D77B514D2B16}" type="pres">
      <dgm:prSet presAssocID="{5431F4D9-5E07-481D-B18A-A1F5D31F1D55}" presName="compNode" presStyleCnt="0"/>
      <dgm:spPr/>
    </dgm:pt>
    <dgm:pt modelId="{45258D70-3BD5-4799-9AE0-D50874AD1F2E}" type="pres">
      <dgm:prSet presAssocID="{5431F4D9-5E07-481D-B18A-A1F5D31F1D55}" presName="bgRect" presStyleLbl="bgShp" presStyleIdx="2" presStyleCnt="4"/>
      <dgm:spPr/>
    </dgm:pt>
    <dgm:pt modelId="{16DAC1DE-2392-47CC-B42B-32AFF3B58793}" type="pres">
      <dgm:prSet presAssocID="{5431F4D9-5E07-481D-B18A-A1F5D31F1D55}"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Marker"/>
        </a:ext>
      </dgm:extLst>
    </dgm:pt>
    <dgm:pt modelId="{9DA28231-3E84-4425-AB66-076035CF81EE}" type="pres">
      <dgm:prSet presAssocID="{5431F4D9-5E07-481D-B18A-A1F5D31F1D55}" presName="spaceRect" presStyleCnt="0"/>
      <dgm:spPr/>
    </dgm:pt>
    <dgm:pt modelId="{BA0867DD-A36D-4759-81CD-91A89F23D1C8}" type="pres">
      <dgm:prSet presAssocID="{5431F4D9-5E07-481D-B18A-A1F5D31F1D55}" presName="parTx" presStyleLbl="revTx" presStyleIdx="2" presStyleCnt="4">
        <dgm:presLayoutVars>
          <dgm:chMax val="0"/>
          <dgm:chPref val="0"/>
        </dgm:presLayoutVars>
      </dgm:prSet>
      <dgm:spPr/>
    </dgm:pt>
    <dgm:pt modelId="{773F1973-9806-4862-A1E8-0202B96B3BF8}" type="pres">
      <dgm:prSet presAssocID="{2D8AF66F-D7C1-4098-9B24-38C8148A1B8F}" presName="sibTrans" presStyleCnt="0"/>
      <dgm:spPr/>
    </dgm:pt>
    <dgm:pt modelId="{0B84DBBA-9F0D-4C5A-ACDF-F1B10DFBE71B}" type="pres">
      <dgm:prSet presAssocID="{32384843-2112-44DD-BEA3-FAB66EA92344}" presName="compNode" presStyleCnt="0"/>
      <dgm:spPr/>
    </dgm:pt>
    <dgm:pt modelId="{6CD777A4-5F2C-4A95-B68A-FCF4360D750E}" type="pres">
      <dgm:prSet presAssocID="{32384843-2112-44DD-BEA3-FAB66EA92344}" presName="bgRect" presStyleLbl="bgShp" presStyleIdx="3" presStyleCnt="4"/>
      <dgm:spPr/>
    </dgm:pt>
    <dgm:pt modelId="{21E6ED7E-FCFF-472D-A301-711B52212F99}" type="pres">
      <dgm:prSet presAssocID="{32384843-2112-44DD-BEA3-FAB66EA92344}"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Programmer"/>
        </a:ext>
      </dgm:extLst>
    </dgm:pt>
    <dgm:pt modelId="{3A86EF7A-B1F9-4524-917D-C0E467A3E96D}" type="pres">
      <dgm:prSet presAssocID="{32384843-2112-44DD-BEA3-FAB66EA92344}" presName="spaceRect" presStyleCnt="0"/>
      <dgm:spPr/>
    </dgm:pt>
    <dgm:pt modelId="{C037171D-731E-4B01-A15C-D618F88E081F}" type="pres">
      <dgm:prSet presAssocID="{32384843-2112-44DD-BEA3-FAB66EA92344}" presName="parTx" presStyleLbl="revTx" presStyleIdx="3" presStyleCnt="4">
        <dgm:presLayoutVars>
          <dgm:chMax val="0"/>
          <dgm:chPref val="0"/>
        </dgm:presLayoutVars>
      </dgm:prSet>
      <dgm:spPr/>
    </dgm:pt>
  </dgm:ptLst>
  <dgm:cxnLst>
    <dgm:cxn modelId="{A0A5A318-024F-4E37-A057-7634C17026BA}" srcId="{1238354D-B582-4615-AAC5-ABCF729135C5}" destId="{9DFC84F8-8E7C-4E33-A476-D64F94A5F5DC}" srcOrd="1" destOrd="0" parTransId="{2A38CCFC-DA93-458D-82AB-A3EFFAD6032C}" sibTransId="{0173632A-0E04-48C5-9BB3-67C5DA810BC0}"/>
    <dgm:cxn modelId="{27F6D460-1055-4C37-874D-C40F424C6B2F}" srcId="{1238354D-B582-4615-AAC5-ABCF729135C5}" destId="{5431F4D9-5E07-481D-B18A-A1F5D31F1D55}" srcOrd="2" destOrd="0" parTransId="{0846F401-BA28-403C-AF90-6C92D2CC30DC}" sibTransId="{2D8AF66F-D7C1-4098-9B24-38C8148A1B8F}"/>
    <dgm:cxn modelId="{80C4D845-D019-41D1-919B-2C4F1F4F5B3E}" srcId="{1238354D-B582-4615-AAC5-ABCF729135C5}" destId="{C4D3A70C-C726-4F88-A1D5-43E83A83721B}" srcOrd="0" destOrd="0" parTransId="{1809E10E-5A4A-4513-864B-29E254BB32C8}" sibTransId="{24744185-46AA-4578-B045-3292F9E151AC}"/>
    <dgm:cxn modelId="{C6240F71-9B89-4528-A4A7-E28918330F3A}" type="presOf" srcId="{C4D3A70C-C726-4F88-A1D5-43E83A83721B}" destId="{D2ED465F-E596-4AAF-8639-10282EEF18CE}" srcOrd="0" destOrd="0" presId="urn:microsoft.com/office/officeart/2018/2/layout/IconVerticalSolidList"/>
    <dgm:cxn modelId="{231FFB76-F6A2-4247-98A2-B3D77220984D}" type="presOf" srcId="{9DFC84F8-8E7C-4E33-A476-D64F94A5F5DC}" destId="{790E96A8-3B53-438E-9736-2E4E607E0B73}" srcOrd="0" destOrd="0" presId="urn:microsoft.com/office/officeart/2018/2/layout/IconVerticalSolidList"/>
    <dgm:cxn modelId="{3E8A1D7F-837C-4342-A675-2A64729F7C21}" srcId="{1238354D-B582-4615-AAC5-ABCF729135C5}" destId="{32384843-2112-44DD-BEA3-FAB66EA92344}" srcOrd="3" destOrd="0" parTransId="{06457A08-49FD-465F-AB7B-DEF9D40C0E96}" sibTransId="{2229AEFD-DF23-41D0-ADA5-38859108C257}"/>
    <dgm:cxn modelId="{EA1F13B8-08BF-4603-ADCA-0A2F87CBA92A}" type="presOf" srcId="{5431F4D9-5E07-481D-B18A-A1F5D31F1D55}" destId="{BA0867DD-A36D-4759-81CD-91A89F23D1C8}" srcOrd="0" destOrd="0" presId="urn:microsoft.com/office/officeart/2018/2/layout/IconVerticalSolidList"/>
    <dgm:cxn modelId="{B60863D9-5775-4C36-BC64-EF6A2DA62FE1}" type="presOf" srcId="{1238354D-B582-4615-AAC5-ABCF729135C5}" destId="{863ABB00-89E9-42E8-8334-FB5A8ECDF52B}" srcOrd="0" destOrd="0" presId="urn:microsoft.com/office/officeart/2018/2/layout/IconVerticalSolidList"/>
    <dgm:cxn modelId="{68F848E3-7224-4F16-A5B4-3BB06B58F96E}" type="presOf" srcId="{32384843-2112-44DD-BEA3-FAB66EA92344}" destId="{C037171D-731E-4B01-A15C-D618F88E081F}" srcOrd="0" destOrd="0" presId="urn:microsoft.com/office/officeart/2018/2/layout/IconVerticalSolidList"/>
    <dgm:cxn modelId="{DBD10E50-62B9-4B9F-A801-17215F8926B8}" type="presParOf" srcId="{863ABB00-89E9-42E8-8334-FB5A8ECDF52B}" destId="{4500D4A2-215E-4860-BDFB-B91DD4687E3A}" srcOrd="0" destOrd="0" presId="urn:microsoft.com/office/officeart/2018/2/layout/IconVerticalSolidList"/>
    <dgm:cxn modelId="{93ECFAD4-91E1-4AA6-92E4-DBCD09073CB8}" type="presParOf" srcId="{4500D4A2-215E-4860-BDFB-B91DD4687E3A}" destId="{66083630-1697-4B97-9522-FB8967423B6B}" srcOrd="0" destOrd="0" presId="urn:microsoft.com/office/officeart/2018/2/layout/IconVerticalSolidList"/>
    <dgm:cxn modelId="{BA9C4AFD-E81B-4421-B18C-D1BE6FD60BBC}" type="presParOf" srcId="{4500D4A2-215E-4860-BDFB-B91DD4687E3A}" destId="{08120B3E-4A6A-4645-A0FB-139439906B36}" srcOrd="1" destOrd="0" presId="urn:microsoft.com/office/officeart/2018/2/layout/IconVerticalSolidList"/>
    <dgm:cxn modelId="{9534135C-B989-4D88-BB92-DC9541DCE95C}" type="presParOf" srcId="{4500D4A2-215E-4860-BDFB-B91DD4687E3A}" destId="{436E43F2-0168-437C-83B9-153B88473F9D}" srcOrd="2" destOrd="0" presId="urn:microsoft.com/office/officeart/2018/2/layout/IconVerticalSolidList"/>
    <dgm:cxn modelId="{372D810D-7BA7-43F4-B4DB-5BF140329763}" type="presParOf" srcId="{4500D4A2-215E-4860-BDFB-B91DD4687E3A}" destId="{D2ED465F-E596-4AAF-8639-10282EEF18CE}" srcOrd="3" destOrd="0" presId="urn:microsoft.com/office/officeart/2018/2/layout/IconVerticalSolidList"/>
    <dgm:cxn modelId="{B86E1816-3515-4C54-B841-E2E2D3204140}" type="presParOf" srcId="{863ABB00-89E9-42E8-8334-FB5A8ECDF52B}" destId="{F135F004-3F22-4F49-80EB-6AC70F3090BA}" srcOrd="1" destOrd="0" presId="urn:microsoft.com/office/officeart/2018/2/layout/IconVerticalSolidList"/>
    <dgm:cxn modelId="{466E8EDE-E5AC-4C62-B3B2-87D6C3C8CF48}" type="presParOf" srcId="{863ABB00-89E9-42E8-8334-FB5A8ECDF52B}" destId="{48C68A40-BFC3-46A8-A8B2-37068556579F}" srcOrd="2" destOrd="0" presId="urn:microsoft.com/office/officeart/2018/2/layout/IconVerticalSolidList"/>
    <dgm:cxn modelId="{334D01D3-E78A-4B5D-A6CE-1F276F490A87}" type="presParOf" srcId="{48C68A40-BFC3-46A8-A8B2-37068556579F}" destId="{D25ED6DC-94D4-4CB7-A28C-39F0AF73583D}" srcOrd="0" destOrd="0" presId="urn:microsoft.com/office/officeart/2018/2/layout/IconVerticalSolidList"/>
    <dgm:cxn modelId="{C1699D11-7698-4D07-8C29-A98F73D603B6}" type="presParOf" srcId="{48C68A40-BFC3-46A8-A8B2-37068556579F}" destId="{1953D3D2-74D6-4F8B-B9BE-C08029C68621}" srcOrd="1" destOrd="0" presId="urn:microsoft.com/office/officeart/2018/2/layout/IconVerticalSolidList"/>
    <dgm:cxn modelId="{FBA3E971-5DE9-432B-8D59-38E3FC738EDE}" type="presParOf" srcId="{48C68A40-BFC3-46A8-A8B2-37068556579F}" destId="{A64712AD-1242-4EF8-B5A4-4DB519F8B40D}" srcOrd="2" destOrd="0" presId="urn:microsoft.com/office/officeart/2018/2/layout/IconVerticalSolidList"/>
    <dgm:cxn modelId="{243BF642-0BF1-4638-99B3-49D3CE642E54}" type="presParOf" srcId="{48C68A40-BFC3-46A8-A8B2-37068556579F}" destId="{790E96A8-3B53-438E-9736-2E4E607E0B73}" srcOrd="3" destOrd="0" presId="urn:microsoft.com/office/officeart/2018/2/layout/IconVerticalSolidList"/>
    <dgm:cxn modelId="{0D44FF3F-8DB2-43C2-A008-B9871EDF1403}" type="presParOf" srcId="{863ABB00-89E9-42E8-8334-FB5A8ECDF52B}" destId="{4F0341D1-2D12-45A2-8AE2-DC44BEC01286}" srcOrd="3" destOrd="0" presId="urn:microsoft.com/office/officeart/2018/2/layout/IconVerticalSolidList"/>
    <dgm:cxn modelId="{7287AE40-9BD5-49D4-9697-BD4F94BFA965}" type="presParOf" srcId="{863ABB00-89E9-42E8-8334-FB5A8ECDF52B}" destId="{EF7A7FB7-7B0D-4DAB-B651-D77B514D2B16}" srcOrd="4" destOrd="0" presId="urn:microsoft.com/office/officeart/2018/2/layout/IconVerticalSolidList"/>
    <dgm:cxn modelId="{02FF5718-FC32-4851-927F-340E213064DA}" type="presParOf" srcId="{EF7A7FB7-7B0D-4DAB-B651-D77B514D2B16}" destId="{45258D70-3BD5-4799-9AE0-D50874AD1F2E}" srcOrd="0" destOrd="0" presId="urn:microsoft.com/office/officeart/2018/2/layout/IconVerticalSolidList"/>
    <dgm:cxn modelId="{FB66119E-27B2-4135-8194-7B82C525F71E}" type="presParOf" srcId="{EF7A7FB7-7B0D-4DAB-B651-D77B514D2B16}" destId="{16DAC1DE-2392-47CC-B42B-32AFF3B58793}" srcOrd="1" destOrd="0" presId="urn:microsoft.com/office/officeart/2018/2/layout/IconVerticalSolidList"/>
    <dgm:cxn modelId="{8B628F33-9C2C-42DC-8AEB-D36A6F7C4116}" type="presParOf" srcId="{EF7A7FB7-7B0D-4DAB-B651-D77B514D2B16}" destId="{9DA28231-3E84-4425-AB66-076035CF81EE}" srcOrd="2" destOrd="0" presId="urn:microsoft.com/office/officeart/2018/2/layout/IconVerticalSolidList"/>
    <dgm:cxn modelId="{CA0E75C4-F0EC-4ABF-B884-40E3BCD5D049}" type="presParOf" srcId="{EF7A7FB7-7B0D-4DAB-B651-D77B514D2B16}" destId="{BA0867DD-A36D-4759-81CD-91A89F23D1C8}" srcOrd="3" destOrd="0" presId="urn:microsoft.com/office/officeart/2018/2/layout/IconVerticalSolidList"/>
    <dgm:cxn modelId="{FD0363BC-BF60-4F81-97EA-C61F45286451}" type="presParOf" srcId="{863ABB00-89E9-42E8-8334-FB5A8ECDF52B}" destId="{773F1973-9806-4862-A1E8-0202B96B3BF8}" srcOrd="5" destOrd="0" presId="urn:microsoft.com/office/officeart/2018/2/layout/IconVerticalSolidList"/>
    <dgm:cxn modelId="{E205A76E-5AFE-4B33-AB4D-FDC47CE55F97}" type="presParOf" srcId="{863ABB00-89E9-42E8-8334-FB5A8ECDF52B}" destId="{0B84DBBA-9F0D-4C5A-ACDF-F1B10DFBE71B}" srcOrd="6" destOrd="0" presId="urn:microsoft.com/office/officeart/2018/2/layout/IconVerticalSolidList"/>
    <dgm:cxn modelId="{35753D06-D314-48F4-9FFB-5D33AE51B6B0}" type="presParOf" srcId="{0B84DBBA-9F0D-4C5A-ACDF-F1B10DFBE71B}" destId="{6CD777A4-5F2C-4A95-B68A-FCF4360D750E}" srcOrd="0" destOrd="0" presId="urn:microsoft.com/office/officeart/2018/2/layout/IconVerticalSolidList"/>
    <dgm:cxn modelId="{FC79B2DE-F51F-4734-B1E7-A7A95DA8240E}" type="presParOf" srcId="{0B84DBBA-9F0D-4C5A-ACDF-F1B10DFBE71B}" destId="{21E6ED7E-FCFF-472D-A301-711B52212F99}" srcOrd="1" destOrd="0" presId="urn:microsoft.com/office/officeart/2018/2/layout/IconVerticalSolidList"/>
    <dgm:cxn modelId="{B9ADA895-BCF2-4C32-A2A5-77FB6E538057}" type="presParOf" srcId="{0B84DBBA-9F0D-4C5A-ACDF-F1B10DFBE71B}" destId="{3A86EF7A-B1F9-4524-917D-C0E467A3E96D}" srcOrd="2" destOrd="0" presId="urn:microsoft.com/office/officeart/2018/2/layout/IconVerticalSolidList"/>
    <dgm:cxn modelId="{0AECF143-E4F0-4496-8B89-F7E9D1819024}" type="presParOf" srcId="{0B84DBBA-9F0D-4C5A-ACDF-F1B10DFBE71B}" destId="{C037171D-731E-4B01-A15C-D618F88E081F}"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D77C7CD-8121-4C22-815B-C7E66F7ABC33}">
      <dsp:nvSpPr>
        <dsp:cNvPr id="0" name=""/>
        <dsp:cNvSpPr/>
      </dsp:nvSpPr>
      <dsp:spPr>
        <a:xfrm>
          <a:off x="0" y="531"/>
          <a:ext cx="10515600" cy="124293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D6D5F4F-62EF-4D56-A66B-A664962F36CE}">
      <dsp:nvSpPr>
        <dsp:cNvPr id="0" name=""/>
        <dsp:cNvSpPr/>
      </dsp:nvSpPr>
      <dsp:spPr>
        <a:xfrm>
          <a:off x="375988" y="280191"/>
          <a:ext cx="683614" cy="683614"/>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CE36B61-6989-49E8-AB13-F4FB03C64B4F}">
      <dsp:nvSpPr>
        <dsp:cNvPr id="0" name=""/>
        <dsp:cNvSpPr/>
      </dsp:nvSpPr>
      <dsp:spPr>
        <a:xfrm>
          <a:off x="1435590" y="531"/>
          <a:ext cx="9080009" cy="12429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544" tIns="131544" rIns="131544" bIns="131544" numCol="1" spcCol="1270" anchor="ctr" anchorCtr="0">
          <a:noAutofit/>
        </a:bodyPr>
        <a:lstStyle/>
        <a:p>
          <a:pPr marL="0" lvl="0" indent="0" algn="l" defTabSz="1111250">
            <a:lnSpc>
              <a:spcPct val="100000"/>
            </a:lnSpc>
            <a:spcBef>
              <a:spcPct val="0"/>
            </a:spcBef>
            <a:spcAft>
              <a:spcPct val="35000"/>
            </a:spcAft>
            <a:buNone/>
          </a:pPr>
          <a:r>
            <a:rPr lang="en-US" sz="2500" kern="1200"/>
            <a:t>Get Experienced in Django Web Framework</a:t>
          </a:r>
        </a:p>
      </dsp:txBody>
      <dsp:txXfrm>
        <a:off x="1435590" y="531"/>
        <a:ext cx="9080009" cy="1242935"/>
      </dsp:txXfrm>
    </dsp:sp>
    <dsp:sp modelId="{694A8120-899E-432B-B519-F7A3B1330CB0}">
      <dsp:nvSpPr>
        <dsp:cNvPr id="0" name=""/>
        <dsp:cNvSpPr/>
      </dsp:nvSpPr>
      <dsp:spPr>
        <a:xfrm>
          <a:off x="0" y="1554201"/>
          <a:ext cx="10515600" cy="124293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E704C10-C1B3-4AA7-9372-5BF8FDAF9AA4}">
      <dsp:nvSpPr>
        <dsp:cNvPr id="0" name=""/>
        <dsp:cNvSpPr/>
      </dsp:nvSpPr>
      <dsp:spPr>
        <a:xfrm>
          <a:off x="375988" y="1833861"/>
          <a:ext cx="683614" cy="683614"/>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503019C-1000-429C-8066-67656DB92B50}">
      <dsp:nvSpPr>
        <dsp:cNvPr id="0" name=""/>
        <dsp:cNvSpPr/>
      </dsp:nvSpPr>
      <dsp:spPr>
        <a:xfrm>
          <a:off x="1435590" y="1554201"/>
          <a:ext cx="9080009" cy="12429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544" tIns="131544" rIns="131544" bIns="131544" numCol="1" spcCol="1270" anchor="ctr" anchorCtr="0">
          <a:noAutofit/>
        </a:bodyPr>
        <a:lstStyle/>
        <a:p>
          <a:pPr marL="0" lvl="0" indent="0" algn="l" defTabSz="1111250">
            <a:lnSpc>
              <a:spcPct val="100000"/>
            </a:lnSpc>
            <a:spcBef>
              <a:spcPct val="0"/>
            </a:spcBef>
            <a:spcAft>
              <a:spcPct val="35000"/>
            </a:spcAft>
            <a:buNone/>
          </a:pPr>
          <a:r>
            <a:rPr lang="en-US" sz="2500" kern="1200"/>
            <a:t>Meet Customers Requirements for IoT App</a:t>
          </a:r>
        </a:p>
      </dsp:txBody>
      <dsp:txXfrm>
        <a:off x="1435590" y="1554201"/>
        <a:ext cx="9080009" cy="1242935"/>
      </dsp:txXfrm>
    </dsp:sp>
    <dsp:sp modelId="{FCC1BB4F-87CF-4AAF-BA94-C76BC0FF881B}">
      <dsp:nvSpPr>
        <dsp:cNvPr id="0" name=""/>
        <dsp:cNvSpPr/>
      </dsp:nvSpPr>
      <dsp:spPr>
        <a:xfrm>
          <a:off x="0" y="3107870"/>
          <a:ext cx="10515600" cy="1242935"/>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9148F37-F268-44FC-8806-6AAC61315BBD}">
      <dsp:nvSpPr>
        <dsp:cNvPr id="0" name=""/>
        <dsp:cNvSpPr/>
      </dsp:nvSpPr>
      <dsp:spPr>
        <a:xfrm>
          <a:off x="375988" y="3387531"/>
          <a:ext cx="683614" cy="683614"/>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3F271A5-73AA-4E8A-A5F0-72BF565A5A2F}">
      <dsp:nvSpPr>
        <dsp:cNvPr id="0" name=""/>
        <dsp:cNvSpPr/>
      </dsp:nvSpPr>
      <dsp:spPr>
        <a:xfrm>
          <a:off x="1435590" y="3107870"/>
          <a:ext cx="9080009" cy="12429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544" tIns="131544" rIns="131544" bIns="131544" numCol="1" spcCol="1270" anchor="ctr" anchorCtr="0">
          <a:noAutofit/>
        </a:bodyPr>
        <a:lstStyle/>
        <a:p>
          <a:pPr marL="0" lvl="0" indent="0" algn="l" defTabSz="1111250">
            <a:lnSpc>
              <a:spcPct val="100000"/>
            </a:lnSpc>
            <a:spcBef>
              <a:spcPct val="0"/>
            </a:spcBef>
            <a:spcAft>
              <a:spcPct val="35000"/>
            </a:spcAft>
            <a:buNone/>
          </a:pPr>
          <a:r>
            <a:rPr lang="en-US" sz="2500" kern="1200"/>
            <a:t>Using AI tools such as ChatGPT to develop Web Applications</a:t>
          </a:r>
        </a:p>
      </dsp:txBody>
      <dsp:txXfrm>
        <a:off x="1435590" y="3107870"/>
        <a:ext cx="9080009" cy="124293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5420990-81BC-4EA0-8D00-241CAC3E66B1}">
      <dsp:nvSpPr>
        <dsp:cNvPr id="0" name=""/>
        <dsp:cNvSpPr/>
      </dsp:nvSpPr>
      <dsp:spPr>
        <a:xfrm>
          <a:off x="2725376" y="1486951"/>
          <a:ext cx="1100310" cy="1100310"/>
        </a:xfrm>
        <a:prstGeom prst="ellips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8415" tIns="18415" rIns="18415" bIns="18415" numCol="1" spcCol="1270" anchor="ctr" anchorCtr="0">
          <a:noAutofit/>
        </a:bodyPr>
        <a:lstStyle/>
        <a:p>
          <a:pPr marL="0" lvl="0" indent="0" algn="ctr" defTabSz="1289050">
            <a:lnSpc>
              <a:spcPct val="90000"/>
            </a:lnSpc>
            <a:spcBef>
              <a:spcPts val="600"/>
            </a:spcBef>
            <a:spcAft>
              <a:spcPts val="0"/>
            </a:spcAft>
            <a:buNone/>
          </a:pPr>
          <a:r>
            <a:rPr lang="en-US" sz="2900" kern="1200"/>
            <a:t>html</a:t>
          </a:r>
        </a:p>
      </dsp:txBody>
      <dsp:txXfrm>
        <a:off x="2886513" y="1648088"/>
        <a:ext cx="778036" cy="778036"/>
      </dsp:txXfrm>
    </dsp:sp>
    <dsp:sp modelId="{EFA5E0E2-F520-4EBB-B9DB-D1095E90D5E8}">
      <dsp:nvSpPr>
        <dsp:cNvPr id="0" name=""/>
        <dsp:cNvSpPr/>
      </dsp:nvSpPr>
      <dsp:spPr>
        <a:xfrm rot="10800000">
          <a:off x="1657010" y="1880312"/>
          <a:ext cx="1009606" cy="313588"/>
        </a:xfrm>
        <a:prstGeom prst="leftArrow">
          <a:avLst>
            <a:gd name="adj1" fmla="val 60000"/>
            <a:gd name="adj2" fmla="val 5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588C1F68-E3B8-46F9-B005-D623CF8F9322}">
      <dsp:nvSpPr>
        <dsp:cNvPr id="0" name=""/>
        <dsp:cNvSpPr/>
      </dsp:nvSpPr>
      <dsp:spPr>
        <a:xfrm>
          <a:off x="1134363" y="1618988"/>
          <a:ext cx="1045294" cy="836235"/>
        </a:xfrm>
        <a:prstGeom prst="roundRect">
          <a:avLst>
            <a:gd name="adj" fmla="val 10000"/>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3815" tIns="43815" rIns="43815" bIns="43815" numCol="1" spcCol="1270" anchor="ctr" anchorCtr="0">
          <a:noAutofit/>
        </a:bodyPr>
        <a:lstStyle/>
        <a:p>
          <a:pPr marL="0" lvl="0" indent="0" algn="ctr" defTabSz="1022350">
            <a:lnSpc>
              <a:spcPct val="90000"/>
            </a:lnSpc>
            <a:spcBef>
              <a:spcPct val="0"/>
            </a:spcBef>
            <a:spcAft>
              <a:spcPct val="35000"/>
            </a:spcAft>
            <a:buNone/>
          </a:pPr>
          <a:r>
            <a:rPr lang="en-US" sz="2300" kern="1200"/>
            <a:t>Ruby</a:t>
          </a:r>
        </a:p>
      </dsp:txBody>
      <dsp:txXfrm>
        <a:off x="1158855" y="1643480"/>
        <a:ext cx="996310" cy="787251"/>
      </dsp:txXfrm>
    </dsp:sp>
    <dsp:sp modelId="{17ECACA8-69D9-48B1-9B8E-6FD1FED1061B}">
      <dsp:nvSpPr>
        <dsp:cNvPr id="0" name=""/>
        <dsp:cNvSpPr/>
      </dsp:nvSpPr>
      <dsp:spPr>
        <a:xfrm rot="13500000">
          <a:off x="1983211" y="1092794"/>
          <a:ext cx="1009606" cy="313588"/>
        </a:xfrm>
        <a:prstGeom prst="leftArrow">
          <a:avLst>
            <a:gd name="adj1" fmla="val 60000"/>
            <a:gd name="adj2" fmla="val 5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4C732F24-9DDE-4B98-816B-CA63A7C31289}">
      <dsp:nvSpPr>
        <dsp:cNvPr id="0" name=""/>
        <dsp:cNvSpPr/>
      </dsp:nvSpPr>
      <dsp:spPr>
        <a:xfrm>
          <a:off x="1608417" y="474521"/>
          <a:ext cx="1045294" cy="836235"/>
        </a:xfrm>
        <a:prstGeom prst="roundRect">
          <a:avLst>
            <a:gd name="adj" fmla="val 10000"/>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3815" tIns="43815" rIns="43815" bIns="43815" numCol="1" spcCol="1270" anchor="ctr" anchorCtr="0">
          <a:noAutofit/>
        </a:bodyPr>
        <a:lstStyle/>
        <a:p>
          <a:pPr marL="0" lvl="0" indent="0" algn="ctr" defTabSz="1022350">
            <a:lnSpc>
              <a:spcPct val="90000"/>
            </a:lnSpc>
            <a:spcBef>
              <a:spcPct val="0"/>
            </a:spcBef>
            <a:spcAft>
              <a:spcPct val="35000"/>
            </a:spcAft>
            <a:buNone/>
          </a:pPr>
          <a:r>
            <a:rPr lang="en-US" sz="2300" kern="1200"/>
            <a:t>Java</a:t>
          </a:r>
        </a:p>
      </dsp:txBody>
      <dsp:txXfrm>
        <a:off x="1632909" y="499013"/>
        <a:ext cx="996310" cy="787251"/>
      </dsp:txXfrm>
    </dsp:sp>
    <dsp:sp modelId="{7DB34A17-C08A-403E-9A2C-77254AAD269F}">
      <dsp:nvSpPr>
        <dsp:cNvPr id="0" name=""/>
        <dsp:cNvSpPr/>
      </dsp:nvSpPr>
      <dsp:spPr>
        <a:xfrm rot="16200000">
          <a:off x="2770728" y="766594"/>
          <a:ext cx="1009606" cy="313588"/>
        </a:xfrm>
        <a:prstGeom prst="leftArrow">
          <a:avLst>
            <a:gd name="adj1" fmla="val 60000"/>
            <a:gd name="adj2" fmla="val 5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9F82096E-5CA4-427B-A842-5BBF102EFC93}">
      <dsp:nvSpPr>
        <dsp:cNvPr id="0" name=""/>
        <dsp:cNvSpPr/>
      </dsp:nvSpPr>
      <dsp:spPr>
        <a:xfrm>
          <a:off x="2752884" y="467"/>
          <a:ext cx="1045294" cy="836235"/>
        </a:xfrm>
        <a:prstGeom prst="roundRect">
          <a:avLst>
            <a:gd name="adj" fmla="val 10000"/>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3815" tIns="43815" rIns="43815" bIns="43815" numCol="1" spcCol="1270" anchor="ctr" anchorCtr="0">
          <a:noAutofit/>
        </a:bodyPr>
        <a:lstStyle/>
        <a:p>
          <a:pPr marL="0" lvl="0" indent="0" algn="ctr" defTabSz="1022350">
            <a:lnSpc>
              <a:spcPct val="90000"/>
            </a:lnSpc>
            <a:spcBef>
              <a:spcPct val="0"/>
            </a:spcBef>
            <a:spcAft>
              <a:spcPct val="35000"/>
            </a:spcAft>
            <a:buNone/>
          </a:pPr>
          <a:r>
            <a:rPr lang="en-US" sz="2300" kern="1200"/>
            <a:t>Python</a:t>
          </a:r>
        </a:p>
      </dsp:txBody>
      <dsp:txXfrm>
        <a:off x="2777376" y="24959"/>
        <a:ext cx="996310" cy="787251"/>
      </dsp:txXfrm>
    </dsp:sp>
    <dsp:sp modelId="{0DE8CC17-CA0D-489B-8E8D-6A2C18C3F4C8}">
      <dsp:nvSpPr>
        <dsp:cNvPr id="0" name=""/>
        <dsp:cNvSpPr/>
      </dsp:nvSpPr>
      <dsp:spPr>
        <a:xfrm rot="18900000">
          <a:off x="3558246" y="1092794"/>
          <a:ext cx="1009606" cy="313588"/>
        </a:xfrm>
        <a:prstGeom prst="leftArrow">
          <a:avLst>
            <a:gd name="adj1" fmla="val 60000"/>
            <a:gd name="adj2" fmla="val 5000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5A570955-6531-400E-976B-7627D5F24C1D}">
      <dsp:nvSpPr>
        <dsp:cNvPr id="0" name=""/>
        <dsp:cNvSpPr/>
      </dsp:nvSpPr>
      <dsp:spPr>
        <a:xfrm>
          <a:off x="3897352" y="474521"/>
          <a:ext cx="1045294" cy="836235"/>
        </a:xfrm>
        <a:prstGeom prst="roundRect">
          <a:avLst>
            <a:gd name="adj" fmla="val 10000"/>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3815" tIns="43815" rIns="43815" bIns="43815" numCol="1" spcCol="1270" anchor="ctr" anchorCtr="0">
          <a:noAutofit/>
        </a:bodyPr>
        <a:lstStyle/>
        <a:p>
          <a:pPr marL="0" lvl="0" indent="0" algn="ctr" defTabSz="1022350">
            <a:lnSpc>
              <a:spcPct val="90000"/>
            </a:lnSpc>
            <a:spcBef>
              <a:spcPct val="0"/>
            </a:spcBef>
            <a:spcAft>
              <a:spcPct val="35000"/>
            </a:spcAft>
            <a:buNone/>
          </a:pPr>
          <a:r>
            <a:rPr lang="en-US" sz="2300" kern="1200"/>
            <a:t>php</a:t>
          </a:r>
        </a:p>
      </dsp:txBody>
      <dsp:txXfrm>
        <a:off x="3921844" y="499013"/>
        <a:ext cx="996310" cy="787251"/>
      </dsp:txXfrm>
    </dsp:sp>
    <dsp:sp modelId="{FA8998B1-33DC-4045-83FB-E23218CEE8BA}">
      <dsp:nvSpPr>
        <dsp:cNvPr id="0" name=""/>
        <dsp:cNvSpPr/>
      </dsp:nvSpPr>
      <dsp:spPr>
        <a:xfrm>
          <a:off x="3884447" y="1880312"/>
          <a:ext cx="1009606" cy="313588"/>
        </a:xfrm>
        <a:prstGeom prst="leftArrow">
          <a:avLst>
            <a:gd name="adj1" fmla="val 60000"/>
            <a:gd name="adj2" fmla="val 50000"/>
          </a:avLst>
        </a:prstGeom>
        <a:solidFill>
          <a:schemeClr val="accent6">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6FE5BFF6-8695-4447-918D-72956C79D4E1}">
      <dsp:nvSpPr>
        <dsp:cNvPr id="0" name=""/>
        <dsp:cNvSpPr/>
      </dsp:nvSpPr>
      <dsp:spPr>
        <a:xfrm>
          <a:off x="4371406" y="1618988"/>
          <a:ext cx="1045294" cy="836235"/>
        </a:xfrm>
        <a:prstGeom prst="roundRect">
          <a:avLst>
            <a:gd name="adj" fmla="val 10000"/>
          </a:avLst>
        </a:prstGeom>
        <a:solidFill>
          <a:schemeClr val="accent6">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3815" tIns="43815" rIns="43815" bIns="43815" numCol="1" spcCol="1270" anchor="ctr" anchorCtr="0">
          <a:noAutofit/>
        </a:bodyPr>
        <a:lstStyle/>
        <a:p>
          <a:pPr marL="0" lvl="0" indent="0" algn="ctr" defTabSz="1022350">
            <a:lnSpc>
              <a:spcPct val="90000"/>
            </a:lnSpc>
            <a:spcBef>
              <a:spcPct val="0"/>
            </a:spcBef>
            <a:spcAft>
              <a:spcPct val="35000"/>
            </a:spcAft>
            <a:buNone/>
          </a:pPr>
          <a:r>
            <a:rPr lang="en-US" sz="2300" kern="1200"/>
            <a:t>nodsjs</a:t>
          </a:r>
        </a:p>
      </dsp:txBody>
      <dsp:txXfrm>
        <a:off x="4395898" y="1643480"/>
        <a:ext cx="996310" cy="787251"/>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6083630-1697-4B97-9522-FB8967423B6B}">
      <dsp:nvSpPr>
        <dsp:cNvPr id="0" name=""/>
        <dsp:cNvSpPr/>
      </dsp:nvSpPr>
      <dsp:spPr>
        <a:xfrm>
          <a:off x="0" y="1595"/>
          <a:ext cx="10515600" cy="808817"/>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8120B3E-4A6A-4645-A0FB-139439906B36}">
      <dsp:nvSpPr>
        <dsp:cNvPr id="0" name=""/>
        <dsp:cNvSpPr/>
      </dsp:nvSpPr>
      <dsp:spPr>
        <a:xfrm>
          <a:off x="244667" y="183579"/>
          <a:ext cx="444849" cy="444849"/>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2ED465F-E596-4AAF-8639-10282EEF18CE}">
      <dsp:nvSpPr>
        <dsp:cNvPr id="0" name=""/>
        <dsp:cNvSpPr/>
      </dsp:nvSpPr>
      <dsp:spPr>
        <a:xfrm>
          <a:off x="934183" y="1595"/>
          <a:ext cx="9581416" cy="80881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5600" tIns="85600" rIns="85600" bIns="85600" numCol="1" spcCol="1270" anchor="ctr" anchorCtr="0">
          <a:noAutofit/>
        </a:bodyPr>
        <a:lstStyle/>
        <a:p>
          <a:pPr marL="0" lvl="0" indent="0" algn="l" defTabSz="889000">
            <a:lnSpc>
              <a:spcPct val="100000"/>
            </a:lnSpc>
            <a:spcBef>
              <a:spcPct val="0"/>
            </a:spcBef>
            <a:spcAft>
              <a:spcPct val="35000"/>
            </a:spcAft>
            <a:buNone/>
          </a:pPr>
          <a:r>
            <a:rPr lang="en-US" sz="2000" kern="1200"/>
            <a:t>django-admin startproject is used to create the basic structure and default files of a new Django project.</a:t>
          </a:r>
        </a:p>
      </dsp:txBody>
      <dsp:txXfrm>
        <a:off x="934183" y="1595"/>
        <a:ext cx="9581416" cy="808817"/>
      </dsp:txXfrm>
    </dsp:sp>
    <dsp:sp modelId="{D25ED6DC-94D4-4CB7-A28C-39F0AF73583D}">
      <dsp:nvSpPr>
        <dsp:cNvPr id="0" name=""/>
        <dsp:cNvSpPr/>
      </dsp:nvSpPr>
      <dsp:spPr>
        <a:xfrm>
          <a:off x="0" y="1012617"/>
          <a:ext cx="10515600" cy="808817"/>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953D3D2-74D6-4F8B-B9BE-C08029C68621}">
      <dsp:nvSpPr>
        <dsp:cNvPr id="0" name=""/>
        <dsp:cNvSpPr/>
      </dsp:nvSpPr>
      <dsp:spPr>
        <a:xfrm>
          <a:off x="244667" y="1194601"/>
          <a:ext cx="444849" cy="444849"/>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90E96A8-3B53-438E-9736-2E4E607E0B73}">
      <dsp:nvSpPr>
        <dsp:cNvPr id="0" name=""/>
        <dsp:cNvSpPr/>
      </dsp:nvSpPr>
      <dsp:spPr>
        <a:xfrm>
          <a:off x="934183" y="1012617"/>
          <a:ext cx="9581416" cy="80881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5600" tIns="85600" rIns="85600" bIns="85600" numCol="1" spcCol="1270" anchor="ctr" anchorCtr="0">
          <a:noAutofit/>
        </a:bodyPr>
        <a:lstStyle/>
        <a:p>
          <a:pPr marL="0" lvl="0" indent="0" algn="l" defTabSz="889000">
            <a:lnSpc>
              <a:spcPct val="100000"/>
            </a:lnSpc>
            <a:spcBef>
              <a:spcPct val="0"/>
            </a:spcBef>
            <a:spcAft>
              <a:spcPct val="35000"/>
            </a:spcAft>
            <a:buNone/>
          </a:pPr>
          <a:r>
            <a:rPr lang="en-US" sz="2000" kern="1200"/>
            <a:t>The command python manage.py startapp is used to create the basic file structure for a new Django app. </a:t>
          </a:r>
        </a:p>
      </dsp:txBody>
      <dsp:txXfrm>
        <a:off x="934183" y="1012617"/>
        <a:ext cx="9581416" cy="808817"/>
      </dsp:txXfrm>
    </dsp:sp>
    <dsp:sp modelId="{45258D70-3BD5-4799-9AE0-D50874AD1F2E}">
      <dsp:nvSpPr>
        <dsp:cNvPr id="0" name=""/>
        <dsp:cNvSpPr/>
      </dsp:nvSpPr>
      <dsp:spPr>
        <a:xfrm>
          <a:off x="0" y="2023638"/>
          <a:ext cx="10515600" cy="808817"/>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6DAC1DE-2392-47CC-B42B-32AFF3B58793}">
      <dsp:nvSpPr>
        <dsp:cNvPr id="0" name=""/>
        <dsp:cNvSpPr/>
      </dsp:nvSpPr>
      <dsp:spPr>
        <a:xfrm>
          <a:off x="244667" y="2205622"/>
          <a:ext cx="444849" cy="444849"/>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A0867DD-A36D-4759-81CD-91A89F23D1C8}">
      <dsp:nvSpPr>
        <dsp:cNvPr id="0" name=""/>
        <dsp:cNvSpPr/>
      </dsp:nvSpPr>
      <dsp:spPr>
        <a:xfrm>
          <a:off x="934183" y="2023638"/>
          <a:ext cx="9581416" cy="80881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5600" tIns="85600" rIns="85600" bIns="85600" numCol="1" spcCol="1270" anchor="ctr" anchorCtr="0">
          <a:noAutofit/>
        </a:bodyPr>
        <a:lstStyle/>
        <a:p>
          <a:pPr marL="0" lvl="0" indent="0" algn="l" defTabSz="889000">
            <a:lnSpc>
              <a:spcPct val="100000"/>
            </a:lnSpc>
            <a:spcBef>
              <a:spcPct val="0"/>
            </a:spcBef>
            <a:spcAft>
              <a:spcPct val="35000"/>
            </a:spcAft>
            <a:buNone/>
          </a:pPr>
          <a:r>
            <a:rPr lang="en-US" sz="2000" kern="1200"/>
            <a:t>python manage.py makemigrations is used to create new migration files based on the changes you made to your models.py</a:t>
          </a:r>
        </a:p>
      </dsp:txBody>
      <dsp:txXfrm>
        <a:off x="934183" y="2023638"/>
        <a:ext cx="9581416" cy="808817"/>
      </dsp:txXfrm>
    </dsp:sp>
    <dsp:sp modelId="{6CD777A4-5F2C-4A95-B68A-FCF4360D750E}">
      <dsp:nvSpPr>
        <dsp:cNvPr id="0" name=""/>
        <dsp:cNvSpPr/>
      </dsp:nvSpPr>
      <dsp:spPr>
        <a:xfrm>
          <a:off x="0" y="3034660"/>
          <a:ext cx="10515600" cy="808817"/>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1E6ED7E-FCFF-472D-A301-711B52212F99}">
      <dsp:nvSpPr>
        <dsp:cNvPr id="0" name=""/>
        <dsp:cNvSpPr/>
      </dsp:nvSpPr>
      <dsp:spPr>
        <a:xfrm>
          <a:off x="244667" y="3216643"/>
          <a:ext cx="444849" cy="444849"/>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037171D-731E-4B01-A15C-D618F88E081F}">
      <dsp:nvSpPr>
        <dsp:cNvPr id="0" name=""/>
        <dsp:cNvSpPr/>
      </dsp:nvSpPr>
      <dsp:spPr>
        <a:xfrm>
          <a:off x="934183" y="3034660"/>
          <a:ext cx="9581416" cy="80881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5600" tIns="85600" rIns="85600" bIns="85600" numCol="1" spcCol="1270" anchor="ctr" anchorCtr="0">
          <a:noAutofit/>
        </a:bodyPr>
        <a:lstStyle/>
        <a:p>
          <a:pPr marL="0" lvl="0" indent="0" algn="l" defTabSz="889000">
            <a:lnSpc>
              <a:spcPct val="100000"/>
            </a:lnSpc>
            <a:spcBef>
              <a:spcPct val="0"/>
            </a:spcBef>
            <a:spcAft>
              <a:spcPct val="35000"/>
            </a:spcAft>
            <a:buNone/>
          </a:pPr>
          <a:r>
            <a:rPr lang="en-US" sz="2000" kern="1200"/>
            <a:t>python manage.py migrate is used to apply the migrations to the actual database.</a:t>
          </a:r>
        </a:p>
      </dsp:txBody>
      <dsp:txXfrm>
        <a:off x="934183" y="3034660"/>
        <a:ext cx="9581416" cy="808817"/>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radial4">
  <dgm:title val=""/>
  <dgm:desc val=""/>
  <dgm:catLst>
    <dgm:cat type="relationship" pri="190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t modelId="11"/>
        <dgm:pt modelId="12"/>
      </dgm:ptLst>
      <dgm:cxnLst>
        <dgm:cxn modelId="2" srcId="0" destId="1" srcOrd="0" destOrd="0"/>
        <dgm:cxn modelId="15" srcId="1" destId="11" srcOrd="0" destOrd="0"/>
        <dgm:cxn modelId="16" srcId="1" destId="12" srcOrd="1"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cycle">
    <dgm:varLst>
      <dgm:chMax val="1"/>
      <dgm:dir/>
      <dgm:animLvl val="ctr"/>
      <dgm:resizeHandles val="exact"/>
    </dgm:varLst>
    <dgm:choose name="Name0">
      <dgm:if name="Name1" func="var" arg="dir" op="equ" val="norm">
        <dgm:choose name="Name2">
          <dgm:if name="Name3" axis="ch ch" ptType="node node" st="1 1" cnt="1 0" func="cnt" op="lte" val="1">
            <dgm:alg type="cycle">
              <dgm:param type="stAng" val="0"/>
              <dgm:param type="spanAng" val="360"/>
              <dgm:param type="ctrShpMap" val="fNode"/>
            </dgm:alg>
          </dgm:if>
          <dgm:else name="Name4">
            <dgm:choose name="Name5">
              <dgm:if name="Name6" axis="ch ch" ptType="node node" st="1 1" cnt="1 0" func="cnt" op="lte" val="3">
                <dgm:alg type="cycle">
                  <dgm:param type="stAng" val="-55"/>
                  <dgm:param type="spanAng" val="110"/>
                  <dgm:param type="ctrShpMap" val="fNode"/>
                </dgm:alg>
              </dgm:if>
              <dgm:else name="Name7">
                <dgm:choose name="Name8">
                  <dgm:if name="Name9" axis="ch ch" ptType="node node" st="1 1" cnt="1 0" func="cnt" op="equ" val="4">
                    <dgm:alg type="cycle">
                      <dgm:param type="stAng" val="-75"/>
                      <dgm:param type="spanAng" val="150"/>
                      <dgm:param type="ctrShpMap" val="fNode"/>
                    </dgm:alg>
                  </dgm:if>
                  <dgm:else name="Name10">
                    <dgm:alg type="cycle">
                      <dgm:param type="stAng" val="-90"/>
                      <dgm:param type="spanAng" val="180"/>
                      <dgm:param type="ctrShpMap" val="fNode"/>
                    </dgm:alg>
                  </dgm:else>
                </dgm:choose>
              </dgm:else>
            </dgm:choose>
          </dgm:else>
        </dgm:choose>
      </dgm:if>
      <dgm:else name="Name11">
        <dgm:choose name="Name12">
          <dgm:if name="Name13" axis="ch ch" ptType="node node" st="1 1" cnt="1 0" func="cnt" op="lte" val="1">
            <dgm:alg type="cycle">
              <dgm:param type="stAng" val="0"/>
              <dgm:param type="spanAng" val="-360"/>
              <dgm:param type="ctrShpMap" val="fNode"/>
            </dgm:alg>
          </dgm:if>
          <dgm:else name="Name14">
            <dgm:choose name="Name15">
              <dgm:if name="Name16" axis="ch ch" ptType="node node" st="1 1" cnt="1 0" func="cnt" op="lte" val="3">
                <dgm:alg type="cycle">
                  <dgm:param type="stAng" val="55"/>
                  <dgm:param type="spanAng" val="-110"/>
                  <dgm:param type="ctrShpMap" val="fNode"/>
                </dgm:alg>
              </dgm:if>
              <dgm:else name="Name17">
                <dgm:choose name="Name18">
                  <dgm:if name="Name19" axis="ch ch" ptType="node node" st="1 1" cnt="1 0" func="cnt" op="equ" val="4">
                    <dgm:alg type="cycle">
                      <dgm:param type="stAng" val="75"/>
                      <dgm:param type="spanAng" val="-150"/>
                      <dgm:param type="ctrShpMap" val="fNode"/>
                    </dgm:alg>
                  </dgm:if>
                  <dgm:else name="Name20">
                    <dgm:alg type="cycle">
                      <dgm:param type="stAng" val="90"/>
                      <dgm:param type="spanAng" val="-180"/>
                      <dgm:param type="ctrShpMap" val="fNode"/>
                    </dgm:alg>
                  </dgm:else>
                </dgm:choose>
              </dgm:else>
            </dgm:choose>
          </dgm:else>
        </dgm:choose>
      </dgm:else>
    </dgm:choose>
    <dgm:shape xmlns:r="http://schemas.openxmlformats.org/officeDocument/2006/relationships" r:blip="">
      <dgm:adjLst/>
    </dgm:shape>
    <dgm:presOf/>
    <dgm:constrLst>
      <dgm:constr type="w" for="ch" forName="centerShape" refType="w"/>
      <dgm:constr type="w" for="ch" forName="node" refType="w" refFor="ch" refForName="centerShape" fact="0.95"/>
      <dgm:constr type="h" for="ch" forName="parTrans" refType="w" refFor="ch" refForName="centerShape" fact="0.285"/>
      <dgm:constr type="sp" refType="w" refFor="ch" refForName="centerShape" op="equ" fact="0.23"/>
      <dgm:constr type="sibSp" refType="w" refFor="ch" refForName="node" fact="0.1"/>
      <dgm:constr type="primFontSz" for="ch" forName="node" op="equ"/>
    </dgm:constrLst>
    <dgm:choose name="Name21">
      <dgm:if name="Name22" axis="ch ch" ptType="node node" st="1 1" cnt="1 0" func="cnt" op="lte" val="5">
        <dgm:ruleLst>
          <dgm:rule type="w" for="ch" forName="centerShape" val="NaN" fact="0.27" max="NaN"/>
        </dgm:ruleLst>
      </dgm:if>
      <dgm:else name="Name23">
        <dgm:ruleLst>
          <dgm:rule type="w" for="ch" forName="centerShape" val="NaN" fact="0.27" max="NaN"/>
          <dgm:rule type="w" for="ch" forName="node" val="NaN" fact="0.7" max="NaN"/>
        </dgm:ruleLst>
      </dgm:else>
    </dgm:choose>
    <dgm:forEach name="Name24" axis="ch" ptType="node" cnt="1">
      <dgm:layoutNode name="centerShape" styleLbl="node0">
        <dgm:alg type="tx"/>
        <dgm:shape xmlns:r="http://schemas.openxmlformats.org/officeDocument/2006/relationships" type="ellipse" r:blip="">
          <dgm:adjLst/>
        </dgm:shape>
        <dgm:presOf axis="self"/>
        <dgm:constrLst>
          <dgm:constr type="tMarg" refType="primFontSz" fact="0.05"/>
          <dgm:constr type="bMarg" refType="primFontSz" fact="0.05"/>
          <dgm:constr type="lMarg" refType="primFontSz" fact="0.05"/>
          <dgm:constr type="rMarg" refType="primFontSz" fact="0.05"/>
          <dgm:constr type="primFontSz" val="65"/>
          <dgm:constr type="h" refType="w"/>
        </dgm:constrLst>
        <dgm:ruleLst>
          <dgm:rule type="primFontSz" val="5" fact="NaN" max="NaN"/>
        </dgm:ruleLst>
      </dgm:layoutNode>
      <dgm:forEach name="Name25" axis="ch">
        <dgm:forEach name="Name26" axis="self" ptType="parTrans">
          <dgm:layoutNode name="parTrans" styleLbl="bgSibTrans2D1">
            <dgm:alg type="conn">
              <dgm:param type="begPts" val="auto"/>
              <dgm:param type="endPts" val="ctr"/>
              <dgm:param type="endSty" val="noArr"/>
              <dgm:param type="begSty" val="arr"/>
            </dgm:alg>
            <dgm:shape xmlns:r="http://schemas.openxmlformats.org/officeDocument/2006/relationships" type="conn" r:blip="">
              <dgm:adjLst/>
            </dgm:shape>
            <dgm:presOf axis="self"/>
            <dgm:constrLst>
              <dgm:constr type="begPad" refType="connDist" fact="0.055"/>
              <dgm:constr type="endPad"/>
            </dgm:constrLst>
            <dgm:ruleLst/>
          </dgm:layoutNode>
        </dgm:forEach>
        <dgm:forEach name="Name27" axis="self" ptType="node">
          <dgm:layoutNode name="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h" refType="w" fact="0.8"/>
              <dgm:constr type="tMarg" refType="primFontSz" fact="0.15"/>
              <dgm:constr type="bMarg" refType="primFontSz" fact="0.15"/>
              <dgm:constr type="lMarg" refType="primFontSz" fact="0.15"/>
              <dgm:constr type="rMarg" refType="primFontSz" fact="0.15"/>
            </dgm:constrLst>
            <dgm:ruleLst>
              <dgm:rule type="primFontSz" val="5" fact="NaN" max="NaN"/>
            </dgm:ruleLst>
          </dgm:layoutNode>
        </dgm:forEach>
      </dgm:forEach>
    </dgm:forEach>
  </dgm:layoutNode>
</dgm:layoutDef>
</file>

<file path=ppt/diagrams/layout3.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C0D8822-DFFA-482A-A100-C94A551CD0BE}" type="datetimeFigureOut">
              <a:rPr lang="en-US" smtClean="0"/>
              <a:t>5/20/2025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A563587-8ABA-4622-A195-1FC809463A2F}" type="slidenum">
              <a:rPr lang="en-US" smtClean="0"/>
              <a:t>‹#›</a:t>
            </a:fld>
            <a:endParaRPr lang="en-US"/>
          </a:p>
        </p:txBody>
      </p:sp>
    </p:spTree>
    <p:extLst>
      <p:ext uri="{BB962C8B-B14F-4D97-AF65-F5344CB8AC3E}">
        <p14:creationId xmlns:p14="http://schemas.microsoft.com/office/powerpoint/2010/main" val="41830284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 this module, we will develop a simple Django web application for IoT data.</a:t>
            </a:r>
          </a:p>
          <a:p>
            <a:endParaRPr lang="en-US"/>
          </a:p>
          <a:p>
            <a:r>
              <a:rPr lang="en-US"/>
              <a:t>We will use our computer to run the Django web application.</a:t>
            </a:r>
          </a:p>
        </p:txBody>
      </p:sp>
      <p:sp>
        <p:nvSpPr>
          <p:cNvPr id="4" name="Slide Number Placeholder 3"/>
          <p:cNvSpPr>
            <a:spLocks noGrp="1"/>
          </p:cNvSpPr>
          <p:nvPr>
            <p:ph type="sldNum" sz="quarter" idx="5"/>
          </p:nvPr>
        </p:nvSpPr>
        <p:spPr/>
        <p:txBody>
          <a:bodyPr/>
          <a:lstStyle/>
          <a:p>
            <a:fld id="{AA563587-8ABA-4622-A195-1FC809463A2F}" type="slidenum">
              <a:rPr lang="en-US" smtClean="0"/>
              <a:t>1</a:t>
            </a:fld>
            <a:endParaRPr lang="en-US"/>
          </a:p>
        </p:txBody>
      </p:sp>
    </p:spTree>
    <p:extLst>
      <p:ext uri="{BB962C8B-B14F-4D97-AF65-F5344CB8AC3E}">
        <p14:creationId xmlns:p14="http://schemas.microsoft.com/office/powerpoint/2010/main" val="396397697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US"/>
              <a:t>In this module, we’ll be building a simple web application using </a:t>
            </a:r>
            <a:r>
              <a:rPr lang="en-US" b="1"/>
              <a:t>Django</a:t>
            </a:r>
            <a:r>
              <a:rPr lang="en-US"/>
              <a:t>, a powerful and popular web framework written in Python.</a:t>
            </a:r>
          </a:p>
          <a:p>
            <a:pPr>
              <a:buNone/>
            </a:pPr>
            <a:r>
              <a:rPr lang="en-US"/>
              <a:t>When it comes to web development, we have a variety of programming languages at our disposal — including PHP, Python, Java, JavaScript, and many others. </a:t>
            </a:r>
          </a:p>
          <a:p>
            <a:pPr>
              <a:buNone/>
            </a:pPr>
            <a:r>
              <a:rPr lang="en-US"/>
              <a:t>These languages are used to dynamically generate the HTML pages that users request in their web browsers.</a:t>
            </a:r>
          </a:p>
          <a:p>
            <a:pPr>
              <a:buNone/>
            </a:pPr>
            <a:endParaRPr lang="en-US"/>
          </a:p>
          <a:p>
            <a:pPr>
              <a:buNone/>
            </a:pPr>
            <a:r>
              <a:rPr lang="en-US"/>
              <a:t>Although we often have the freedom to choose which language or framework to use, in some cases, the choice may be influenced or dictated by client requirements or existing systems.</a:t>
            </a:r>
          </a:p>
          <a:p>
            <a:pPr>
              <a:buNone/>
            </a:pPr>
            <a:r>
              <a:rPr lang="en-US"/>
              <a:t>That’s why it’s valuable to understand the basic process of web development across different programming languages — even if you specialize in just one.</a:t>
            </a:r>
          </a:p>
          <a:p>
            <a:r>
              <a:rPr lang="en-US"/>
              <a:t>And today, we also have the advantage of using AI tools like ChatGPT, which can help us write code, debug problems, and accelerate web development in smart and efficient ways.</a:t>
            </a:r>
          </a:p>
          <a:p>
            <a:endParaRPr lang="en-US"/>
          </a:p>
          <a:p>
            <a:endParaRPr lang="en-US"/>
          </a:p>
          <a:p>
            <a:endParaRPr lang="en-US"/>
          </a:p>
          <a:p>
            <a:endParaRPr lang="en-US"/>
          </a:p>
        </p:txBody>
      </p:sp>
      <p:sp>
        <p:nvSpPr>
          <p:cNvPr id="4" name="Slide Number Placeholder 3"/>
          <p:cNvSpPr>
            <a:spLocks noGrp="1"/>
          </p:cNvSpPr>
          <p:nvPr>
            <p:ph type="sldNum" sz="quarter" idx="5"/>
          </p:nvPr>
        </p:nvSpPr>
        <p:spPr/>
        <p:txBody>
          <a:bodyPr/>
          <a:lstStyle/>
          <a:p>
            <a:fld id="{AA563587-8ABA-4622-A195-1FC809463A2F}" type="slidenum">
              <a:rPr lang="en-US" smtClean="0"/>
              <a:t>2</a:t>
            </a:fld>
            <a:endParaRPr lang="en-US"/>
          </a:p>
        </p:txBody>
      </p:sp>
    </p:spTree>
    <p:extLst>
      <p:ext uri="{BB962C8B-B14F-4D97-AF65-F5344CB8AC3E}">
        <p14:creationId xmlns:p14="http://schemas.microsoft.com/office/powerpoint/2010/main" val="21103347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Web development is broadly categorized into </a:t>
            </a:r>
            <a:r>
              <a:rPr lang="en-US" b="1"/>
              <a:t>frontend</a:t>
            </a:r>
            <a:r>
              <a:rPr lang="en-US"/>
              <a:t> (client-side) and </a:t>
            </a:r>
            <a:r>
              <a:rPr lang="en-US" b="1"/>
              <a:t>backend</a:t>
            </a:r>
            <a:r>
              <a:rPr lang="en-US"/>
              <a:t> (server-side) development.</a:t>
            </a:r>
          </a:p>
          <a:p>
            <a:endParaRPr lang="en-US"/>
          </a:p>
          <a:p>
            <a:pPr>
              <a:buNone/>
            </a:pPr>
            <a:r>
              <a:rPr lang="en-US"/>
              <a:t>We’ll begin with the frontend — the part of the web that users interact with directly.</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t>HTML is a markup language for web pages and css is used for style sheets.</a:t>
            </a:r>
          </a:p>
          <a:p>
            <a:pPr>
              <a:buNone/>
            </a:pPr>
            <a:endParaRPr lang="en-US"/>
          </a:p>
          <a:p>
            <a:pPr marL="0" marR="0" lvl="0" indent="0" algn="l" defTabSz="914400" rtl="0" eaLnBrk="1" fontAlgn="auto" latinLnBrk="0" hangingPunct="1">
              <a:lnSpc>
                <a:spcPct val="100000"/>
              </a:lnSpc>
              <a:spcBef>
                <a:spcPts val="0"/>
              </a:spcBef>
              <a:spcAft>
                <a:spcPts val="0"/>
              </a:spcAft>
              <a:buClrTx/>
              <a:buSzTx/>
              <a:buFontTx/>
              <a:buNone/>
              <a:tabLst/>
              <a:defRPr/>
            </a:pPr>
            <a:r>
              <a:rPr lang="en-US" b="0"/>
              <a:t>JavaScript is  </a:t>
            </a:r>
            <a:r>
              <a:rPr lang="en-US"/>
              <a:t>the most dominant language, used by over 99% of all websites. </a:t>
            </a:r>
            <a:r>
              <a:rPr lang="en-US" b="1"/>
              <a:t>JavaScript</a:t>
            </a:r>
            <a:r>
              <a:rPr lang="en-US"/>
              <a:t> continues to be the most commonly used programming language.</a:t>
            </a:r>
          </a:p>
          <a:p>
            <a:pPr>
              <a:buNone/>
            </a:pPr>
            <a:r>
              <a:rPr lang="en-US"/>
              <a:t>For developers working on large-scale applications, </a:t>
            </a:r>
            <a:r>
              <a:rPr lang="en-US" b="1"/>
              <a:t>TypeScript</a:t>
            </a:r>
            <a:r>
              <a:rPr lang="en-US"/>
              <a:t> — a typed superset of JavaScript — is becoming increasingly popular, thanks to its enhanced reliability and tooling.</a:t>
            </a:r>
          </a:p>
          <a:p>
            <a:pPr>
              <a:buNone/>
            </a:pPr>
            <a:endParaRPr lang="en-US"/>
          </a:p>
          <a:p>
            <a:pPr>
              <a:buNone/>
            </a:pPr>
            <a:r>
              <a:rPr lang="en-US"/>
              <a:t>Now let’s move to the backend — where the logic and data processing happen behind the scenes. </a:t>
            </a:r>
          </a:p>
          <a:p>
            <a:pPr>
              <a:buNone/>
            </a:pPr>
            <a:endParaRPr lang="en-US"/>
          </a:p>
          <a:p>
            <a:pPr>
              <a:buNone/>
            </a:pPr>
            <a:r>
              <a:rPr lang="en-US" b="1"/>
              <a:t>PHP</a:t>
            </a:r>
            <a:r>
              <a:rPr lang="en-US"/>
              <a:t> remains a major player, powering around 74% of websites. </a:t>
            </a:r>
          </a:p>
          <a:p>
            <a:pPr>
              <a:buNone/>
            </a:pPr>
            <a:r>
              <a:rPr lang="en-US" b="1"/>
              <a:t>Java</a:t>
            </a:r>
            <a:r>
              <a:rPr lang="en-US"/>
              <a:t> is often chosen for large-scale enterprise applications due to its performance and scalability. </a:t>
            </a:r>
          </a:p>
          <a:p>
            <a:pPr>
              <a:buNone/>
            </a:pPr>
            <a:r>
              <a:rPr lang="en-US" b="1"/>
              <a:t>Python</a:t>
            </a:r>
            <a:r>
              <a:rPr lang="en-US"/>
              <a:t> is rising fast in popularity, largely because of its simplicity and powerful web frameworks like Django and Flask. </a:t>
            </a:r>
          </a:p>
          <a:p>
            <a:pPr>
              <a:buNone/>
            </a:pPr>
            <a:r>
              <a:rPr lang="en-US"/>
              <a:t>Meanwhile, </a:t>
            </a:r>
            <a:r>
              <a:rPr lang="en-US" b="1"/>
              <a:t>Node.js</a:t>
            </a:r>
            <a:r>
              <a:rPr lang="en-US"/>
              <a:t> allows developers to use JavaScript on the server side, enabling full-stack development with a single language. And finally, </a:t>
            </a:r>
          </a:p>
          <a:p>
            <a:pPr>
              <a:buNone/>
            </a:pPr>
            <a:r>
              <a:rPr lang="en-US" b="1"/>
              <a:t>Ruby</a:t>
            </a:r>
            <a:r>
              <a:rPr lang="en-US"/>
              <a:t>, especially with the Ruby on Rails framework, is known for its developer-friendly syntax and rapid development capabilities.</a:t>
            </a:r>
          </a:p>
          <a:p>
            <a:pPr>
              <a:buNone/>
            </a:pPr>
            <a:endParaRPr lang="en-US"/>
          </a:p>
        </p:txBody>
      </p:sp>
      <p:sp>
        <p:nvSpPr>
          <p:cNvPr id="4" name="Slide Number Placeholder 3"/>
          <p:cNvSpPr>
            <a:spLocks noGrp="1"/>
          </p:cNvSpPr>
          <p:nvPr>
            <p:ph type="sldNum" sz="quarter" idx="5"/>
          </p:nvPr>
        </p:nvSpPr>
        <p:spPr/>
        <p:txBody>
          <a:bodyPr/>
          <a:lstStyle/>
          <a:p>
            <a:fld id="{AA563587-8ABA-4622-A195-1FC809463A2F}" type="slidenum">
              <a:rPr lang="en-US" smtClean="0"/>
              <a:t>3</a:t>
            </a:fld>
            <a:endParaRPr lang="en-US"/>
          </a:p>
        </p:txBody>
      </p:sp>
    </p:spTree>
    <p:extLst>
      <p:ext uri="{BB962C8B-B14F-4D97-AF65-F5344CB8AC3E}">
        <p14:creationId xmlns:p14="http://schemas.microsoft.com/office/powerpoint/2010/main" val="385631150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t>Django is a high-level Python web framework that enables rapid development of secure and maintainable websites.</a:t>
            </a:r>
          </a:p>
          <a:p>
            <a:endParaRPr lang="en-US" sz="1200"/>
          </a:p>
          <a:p>
            <a:pPr>
              <a:buNone/>
            </a:pPr>
            <a:r>
              <a:rPr lang="en-US"/>
              <a:t>Django is an open-source, high-level web framework designed to help developers build secure and maintainable websites quickly. </a:t>
            </a:r>
          </a:p>
          <a:p>
            <a:pPr>
              <a:buNone/>
            </a:pPr>
            <a:endParaRPr lang="en-US"/>
          </a:p>
          <a:p>
            <a:pPr>
              <a:buNone/>
            </a:pPr>
            <a:r>
              <a:rPr lang="en-US"/>
              <a:t>It was</a:t>
            </a:r>
            <a:r>
              <a:rPr lang="en-US" sz="1200"/>
              <a:t> initially developed between 2003 and 2005 </a:t>
            </a:r>
            <a:r>
              <a:rPr lang="en-US"/>
              <a:t>, and since then, it has become a favorite among developers for its simplicity, robustness, and scalability.</a:t>
            </a:r>
          </a:p>
          <a:p>
            <a:pPr>
              <a:buNone/>
            </a:pPr>
            <a:endParaRPr lang="en-US"/>
          </a:p>
          <a:p>
            <a:r>
              <a:rPr lang="en-US"/>
              <a:t>One of Django’s biggest strengths is that it comes with a wide range of built-in features — like an admin interface, authentication, database handling, form processing, and security protections — all ready to use out of the box.</a:t>
            </a:r>
          </a:p>
          <a:p>
            <a:endParaRPr lang="en-US"/>
          </a:p>
          <a:p>
            <a:endParaRPr lang="en-US"/>
          </a:p>
          <a:p>
            <a:endParaRPr lang="en-US"/>
          </a:p>
          <a:p>
            <a:endParaRPr lang="en-US"/>
          </a:p>
        </p:txBody>
      </p:sp>
      <p:sp>
        <p:nvSpPr>
          <p:cNvPr id="4" name="Slide Number Placeholder 3"/>
          <p:cNvSpPr>
            <a:spLocks noGrp="1"/>
          </p:cNvSpPr>
          <p:nvPr>
            <p:ph type="sldNum" sz="quarter" idx="5"/>
          </p:nvPr>
        </p:nvSpPr>
        <p:spPr/>
        <p:txBody>
          <a:bodyPr/>
          <a:lstStyle/>
          <a:p>
            <a:fld id="{AA563587-8ABA-4622-A195-1FC809463A2F}" type="slidenum">
              <a:rPr lang="en-US" smtClean="0"/>
              <a:t>4</a:t>
            </a:fld>
            <a:endParaRPr lang="en-US"/>
          </a:p>
        </p:txBody>
      </p:sp>
    </p:spTree>
    <p:extLst>
      <p:ext uri="{BB962C8B-B14F-4D97-AF65-F5344CB8AC3E}">
        <p14:creationId xmlns:p14="http://schemas.microsoft.com/office/powerpoint/2010/main" val="177311713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US"/>
              <a:t>When learning Django, one of the first concepts to understand is its architecture — known as </a:t>
            </a:r>
            <a:r>
              <a:rPr lang="en-US" b="1"/>
              <a:t>MTV</a:t>
            </a:r>
            <a:r>
              <a:rPr lang="en-US"/>
              <a:t>, which stands for Model–Template–View. </a:t>
            </a:r>
          </a:p>
          <a:p>
            <a:pPr>
              <a:buNone/>
            </a:pPr>
            <a:endParaRPr lang="en-US"/>
          </a:p>
          <a:p>
            <a:pPr>
              <a:buNone/>
            </a:pPr>
            <a:r>
              <a:rPr lang="en-US"/>
              <a:t>In the </a:t>
            </a:r>
            <a:r>
              <a:rPr lang="en-US" b="1"/>
              <a:t>Model</a:t>
            </a:r>
            <a:r>
              <a:rPr lang="en-US"/>
              <a:t> layer, we define the data structure. It’s where we describe what our data looks like — like database tables, fields, and relationships — all using Python classes.</a:t>
            </a:r>
          </a:p>
          <a:p>
            <a:pPr>
              <a:buNone/>
            </a:pPr>
            <a:endParaRPr lang="en-US"/>
          </a:p>
          <a:p>
            <a:pPr>
              <a:buNone/>
            </a:pPr>
            <a:r>
              <a:rPr lang="en-US"/>
              <a:t>The </a:t>
            </a:r>
            <a:r>
              <a:rPr lang="en-US" b="1"/>
              <a:t>Template</a:t>
            </a:r>
            <a:r>
              <a:rPr lang="en-US"/>
              <a:t> layer is all about presentation. It controls how the data is displayed on the web, typically as HTML pages. </a:t>
            </a:r>
          </a:p>
          <a:p>
            <a:pPr>
              <a:buNone/>
            </a:pPr>
            <a:endParaRPr lang="en-US"/>
          </a:p>
          <a:p>
            <a:pPr>
              <a:buNone/>
            </a:pPr>
            <a:r>
              <a:rPr lang="en-US"/>
              <a:t>Next, the </a:t>
            </a:r>
            <a:r>
              <a:rPr lang="en-US" b="1"/>
              <a:t>View</a:t>
            </a:r>
            <a:r>
              <a:rPr lang="en-US"/>
              <a:t> acts as the bridge between models and templates. It contains the core logic of the application — it retrieves data from the model and passes it to the appropriate template for rendering.</a:t>
            </a:r>
          </a:p>
          <a:p>
            <a:pPr>
              <a:buNone/>
            </a:pPr>
            <a:endParaRPr lang="en-US"/>
          </a:p>
          <a:p>
            <a:pPr>
              <a:buNone/>
            </a:pPr>
            <a:r>
              <a:rPr lang="en-US"/>
              <a:t>Another powerful feature Django provides is the </a:t>
            </a:r>
            <a:r>
              <a:rPr lang="en-US" b="1"/>
              <a:t>Admin Interface</a:t>
            </a:r>
            <a:r>
              <a:rPr lang="en-US"/>
              <a:t>. This is a web-based control panel that’s automatically generated from your models. With just a few lines of code, you can get a fully functional backend interface for managing your data.</a:t>
            </a:r>
          </a:p>
          <a:p>
            <a:pPr>
              <a:buNone/>
            </a:pPr>
            <a:endParaRPr lang="en-US"/>
          </a:p>
          <a:p>
            <a:pPr>
              <a:buNone/>
            </a:pPr>
            <a:r>
              <a:rPr lang="en-US"/>
              <a:t>Django also comes with an </a:t>
            </a:r>
            <a:r>
              <a:rPr lang="en-US" b="1"/>
              <a:t>ORM</a:t>
            </a:r>
            <a:r>
              <a:rPr lang="en-US"/>
              <a:t>, or Object-Relational Mapping system. Instead of writing raw SQL queries, you interact with the database using Python objects. This not only makes code easier to write and read, but also more secure and portable.</a:t>
            </a:r>
          </a:p>
          <a:p>
            <a:pPr>
              <a:buNone/>
            </a:pPr>
            <a:endParaRPr lang="en-US"/>
          </a:p>
          <a:p>
            <a:pPr>
              <a:buNone/>
            </a:pPr>
            <a:r>
              <a:rPr lang="en-US"/>
              <a:t>Speaking of routing, Django includes a built-in </a:t>
            </a:r>
            <a:r>
              <a:rPr lang="en-US" b="1"/>
              <a:t>URL routing system</a:t>
            </a:r>
            <a:r>
              <a:rPr lang="en-US"/>
              <a:t>, allowing you to map incoming web requests to specific functions — known as views — that handle the request logic.</a:t>
            </a:r>
          </a:p>
          <a:p>
            <a:pPr>
              <a:buNone/>
            </a:pPr>
            <a:endParaRPr lang="en-US"/>
          </a:p>
          <a:p>
            <a:pPr>
              <a:buNone/>
            </a:pPr>
            <a:r>
              <a:rPr lang="en-US"/>
              <a:t>Security is another core strength of Django. It protects against many common web vulnerabilities — like SQL injection, cross-site scripting, and cross-site request forgery — right out of the box.</a:t>
            </a:r>
          </a:p>
          <a:p>
            <a:pPr>
              <a:buNone/>
            </a:pPr>
            <a:endParaRPr lang="en-US"/>
          </a:p>
          <a:p>
            <a:r>
              <a:rPr lang="en-US"/>
              <a:t>And finally, Django is highly </a:t>
            </a:r>
            <a:r>
              <a:rPr lang="en-US" b="1"/>
              <a:t>scalable</a:t>
            </a:r>
            <a:r>
              <a:rPr lang="en-US"/>
              <a:t>. It’s suitable for everything from small academic projects to high-traffic enterprise-level web applications, thanks to its modular structure and robust design.</a:t>
            </a:r>
          </a:p>
          <a:p>
            <a:endParaRPr lang="en-US"/>
          </a:p>
        </p:txBody>
      </p:sp>
      <p:sp>
        <p:nvSpPr>
          <p:cNvPr id="4" name="Slide Number Placeholder 3"/>
          <p:cNvSpPr>
            <a:spLocks noGrp="1"/>
          </p:cNvSpPr>
          <p:nvPr>
            <p:ph type="sldNum" sz="quarter" idx="5"/>
          </p:nvPr>
        </p:nvSpPr>
        <p:spPr/>
        <p:txBody>
          <a:bodyPr/>
          <a:lstStyle/>
          <a:p>
            <a:fld id="{AA563587-8ABA-4622-A195-1FC809463A2F}" type="slidenum">
              <a:rPr lang="en-US" smtClean="0"/>
              <a:t>5</a:t>
            </a:fld>
            <a:endParaRPr lang="en-US"/>
          </a:p>
        </p:txBody>
      </p:sp>
    </p:spTree>
    <p:extLst>
      <p:ext uri="{BB962C8B-B14F-4D97-AF65-F5344CB8AC3E}">
        <p14:creationId xmlns:p14="http://schemas.microsoft.com/office/powerpoint/2010/main" val="13673091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US"/>
              <a:t>Let’s walk through the basic steps to install Django and start a new Django project.</a:t>
            </a:r>
          </a:p>
          <a:p>
            <a:pPr>
              <a:buNone/>
            </a:pPr>
            <a:r>
              <a:rPr lang="en-US"/>
              <a:t>We begin in the command prompt. First, we install Django using Python’s package manager, pip. Type:</a:t>
            </a:r>
          </a:p>
          <a:p>
            <a:pPr>
              <a:buNone/>
            </a:pPr>
            <a:r>
              <a:rPr lang="en-US"/>
              <a:t>python -m pip install Django</a:t>
            </a:r>
          </a:p>
          <a:p>
            <a:pPr>
              <a:buNone/>
            </a:pPr>
            <a:r>
              <a:rPr lang="en-US"/>
              <a:t>This command ensures Django is installed in your current Python environment.</a:t>
            </a:r>
          </a:p>
          <a:p>
            <a:pPr>
              <a:buNone/>
            </a:pPr>
            <a:r>
              <a:rPr lang="en-US"/>
              <a:t>Next, you may want to check that Django was installed correctly. To verify the version, enter:</a:t>
            </a:r>
          </a:p>
          <a:p>
            <a:pPr>
              <a:buNone/>
            </a:pPr>
            <a:r>
              <a:rPr lang="en-US"/>
              <a:t>python -m django --version</a:t>
            </a:r>
          </a:p>
          <a:p>
            <a:pPr>
              <a:buNone/>
            </a:pPr>
            <a:r>
              <a:rPr lang="en-US"/>
              <a:t>Make sure to use double hyphens before the word 'version'.</a:t>
            </a:r>
          </a:p>
          <a:p>
            <a:pPr>
              <a:buNone/>
            </a:pPr>
            <a:r>
              <a:rPr lang="en-US"/>
              <a:t>Now, let’s create a folder for your new Django project. Use the md command — short for 'make directory' — like this:</a:t>
            </a:r>
          </a:p>
          <a:p>
            <a:pPr>
              <a:buNone/>
            </a:pPr>
            <a:r>
              <a:rPr lang="en-US"/>
              <a:t>md django-iot</a:t>
            </a:r>
          </a:p>
          <a:p>
            <a:pPr>
              <a:buNone/>
            </a:pPr>
            <a:r>
              <a:rPr lang="en-US"/>
              <a:t>This will create a new folder named ‘django-iot’.</a:t>
            </a:r>
          </a:p>
          <a:p>
            <a:pPr>
              <a:buNone/>
            </a:pPr>
            <a:r>
              <a:rPr lang="en-US"/>
              <a:t>Then, to start your Django project, run:</a:t>
            </a:r>
          </a:p>
          <a:p>
            <a:pPr>
              <a:buNone/>
            </a:pPr>
            <a:r>
              <a:rPr lang="en-US"/>
              <a:t>django-admin startproject myproject django-iot</a:t>
            </a:r>
          </a:p>
          <a:p>
            <a:pPr>
              <a:buNone/>
            </a:pPr>
            <a:r>
              <a:rPr lang="en-US"/>
              <a:t>This command creates a new Django project called ‘myproject’ and places it inside the ‘django-iot’ directory.</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t>Once you start a new Django project, several important files and folders are automatically created for you. Let’s take a closer look at what each of these does.</a:t>
            </a:r>
          </a:p>
          <a:p>
            <a:pPr>
              <a:buNone/>
            </a:pPr>
            <a:endParaRPr lang="en-US"/>
          </a:p>
          <a:p>
            <a:pPr>
              <a:buNone/>
            </a:pPr>
            <a:r>
              <a:rPr lang="en-US"/>
              <a:t>Lets move into our project directory:</a:t>
            </a:r>
          </a:p>
          <a:p>
            <a:pPr>
              <a:buNone/>
            </a:pPr>
            <a:r>
              <a:rPr lang="en-US"/>
              <a:t>cd django-iot</a:t>
            </a:r>
          </a:p>
          <a:p>
            <a:r>
              <a:rPr lang="en-US"/>
              <a:t>Type dir to see the generated files and folders.</a:t>
            </a:r>
          </a:p>
          <a:p>
            <a:endParaRPr lang="en-US"/>
          </a:p>
        </p:txBody>
      </p:sp>
      <p:sp>
        <p:nvSpPr>
          <p:cNvPr id="4" name="Slide Number Placeholder 3"/>
          <p:cNvSpPr>
            <a:spLocks noGrp="1"/>
          </p:cNvSpPr>
          <p:nvPr>
            <p:ph type="sldNum" sz="quarter" idx="5"/>
          </p:nvPr>
        </p:nvSpPr>
        <p:spPr/>
        <p:txBody>
          <a:bodyPr/>
          <a:lstStyle/>
          <a:p>
            <a:fld id="{AA563587-8ABA-4622-A195-1FC809463A2F}" type="slidenum">
              <a:rPr lang="en-US" smtClean="0"/>
              <a:t>6</a:t>
            </a:fld>
            <a:endParaRPr lang="en-US"/>
          </a:p>
        </p:txBody>
      </p:sp>
    </p:spTree>
    <p:extLst>
      <p:ext uri="{BB962C8B-B14F-4D97-AF65-F5344CB8AC3E}">
        <p14:creationId xmlns:p14="http://schemas.microsoft.com/office/powerpoint/2010/main" val="227584368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US"/>
              <a:t>In vscode, look at the files and folders created by </a:t>
            </a:r>
            <a:r>
              <a:rPr lang="en-US" sz="1200"/>
              <a:t>django-admin startproject command.</a:t>
            </a:r>
          </a:p>
          <a:p>
            <a:pPr>
              <a:buNone/>
            </a:pPr>
            <a:endParaRPr lang="en-US"/>
          </a:p>
          <a:p>
            <a:pPr>
              <a:buNone/>
            </a:pPr>
            <a:r>
              <a:rPr lang="en-US"/>
              <a:t>Let’s look at the last file </a:t>
            </a:r>
            <a:r>
              <a:rPr lang="en-US" b="1"/>
              <a:t>manage.py</a:t>
            </a:r>
            <a:r>
              <a:rPr lang="en-US"/>
              <a:t>. This is a command-line utility that allows you to interact with your Django project. You’ll use it to run the development server, apply migrations, create apps, and more.</a:t>
            </a:r>
          </a:p>
          <a:p>
            <a:pPr>
              <a:buNone/>
            </a:pPr>
            <a:r>
              <a:rPr lang="en-US"/>
              <a:t>Next, let’s look at the folder, </a:t>
            </a:r>
            <a:r>
              <a:rPr lang="en-US" b="1"/>
              <a:t>myproject</a:t>
            </a:r>
            <a:r>
              <a:rPr lang="en-US"/>
              <a:t>. This directory is the core Python package for your project.</a:t>
            </a:r>
          </a:p>
          <a:p>
            <a:pPr>
              <a:buNone/>
            </a:pPr>
            <a:r>
              <a:rPr lang="en-US"/>
              <a:t>Inside myproject , there are a few key files:</a:t>
            </a:r>
          </a:p>
          <a:p>
            <a:pPr>
              <a:buFont typeface="Arial" panose="020B0604020202020204" pitchFamily="34" charset="0"/>
              <a:buNone/>
            </a:pPr>
            <a:r>
              <a:rPr lang="en-US" b="1"/>
              <a:t>__init__.py</a:t>
            </a:r>
            <a:r>
              <a:rPr lang="en-US"/>
              <a:t>: This empty file tells Python that this folder should be treated as a package.</a:t>
            </a:r>
          </a:p>
          <a:p>
            <a:pPr>
              <a:buFont typeface="Arial" panose="020B0604020202020204" pitchFamily="34" charset="0"/>
              <a:buNone/>
            </a:pPr>
            <a:r>
              <a:rPr lang="en-US" b="1"/>
              <a:t>settings.py</a:t>
            </a:r>
            <a:r>
              <a:rPr lang="en-US"/>
              <a:t>: This is where your project’s configuration lives — things like database settings, installed apps, middleware, and security options are all defined here.</a:t>
            </a:r>
          </a:p>
          <a:p>
            <a:pPr>
              <a:buFont typeface="Arial" panose="020B0604020202020204" pitchFamily="34" charset="0"/>
              <a:buNone/>
            </a:pPr>
            <a:r>
              <a:rPr lang="en-US" b="1"/>
              <a:t>urls.py</a:t>
            </a:r>
            <a:r>
              <a:rPr lang="en-US"/>
              <a:t>: Think of this as your site’s table of contents. It defines how URLs are routed to views within your project.</a:t>
            </a:r>
          </a:p>
          <a:p>
            <a:pPr>
              <a:buFont typeface="Arial" panose="020B0604020202020204" pitchFamily="34" charset="0"/>
              <a:buNone/>
            </a:pPr>
            <a:r>
              <a:rPr lang="en-US" b="1"/>
              <a:t>asgi.py</a:t>
            </a:r>
            <a:r>
              <a:rPr lang="en-US"/>
              <a:t>: This file acts as an entry point for ASGI-compatible web servers. It’s used when you want to handle asynchronous features like WebSockets or background tasks.</a:t>
            </a:r>
          </a:p>
          <a:p>
            <a:pPr>
              <a:buFont typeface="Arial" panose="020B0604020202020204" pitchFamily="34" charset="0"/>
              <a:buNone/>
            </a:pPr>
            <a:r>
              <a:rPr lang="en-US" b="1"/>
              <a:t>wsgi.py</a:t>
            </a:r>
            <a:r>
              <a:rPr lang="en-US"/>
              <a:t>: Similarly, this is the entry point for WSGI-compatible web servers, like Gunicorn or uWSGI. It’s commonly used for deploying traditional web applications.</a:t>
            </a:r>
          </a:p>
          <a:p>
            <a:r>
              <a:rPr lang="en-US"/>
              <a:t>Together, these files form the foundation of your Django project — providing structure, configuration, and connection points for development and deployment</a:t>
            </a:r>
          </a:p>
          <a:p>
            <a:endParaRPr lang="en-US"/>
          </a:p>
        </p:txBody>
      </p:sp>
      <p:sp>
        <p:nvSpPr>
          <p:cNvPr id="4" name="Slide Number Placeholder 3"/>
          <p:cNvSpPr>
            <a:spLocks noGrp="1"/>
          </p:cNvSpPr>
          <p:nvPr>
            <p:ph type="sldNum" sz="quarter" idx="5"/>
          </p:nvPr>
        </p:nvSpPr>
        <p:spPr/>
        <p:txBody>
          <a:bodyPr/>
          <a:lstStyle/>
          <a:p>
            <a:fld id="{AA563587-8ABA-4622-A195-1FC809463A2F}" type="slidenum">
              <a:rPr lang="en-US" smtClean="0"/>
              <a:t>7</a:t>
            </a:fld>
            <a:endParaRPr lang="en-US"/>
          </a:p>
        </p:txBody>
      </p:sp>
    </p:spTree>
    <p:extLst>
      <p:ext uri="{BB962C8B-B14F-4D97-AF65-F5344CB8AC3E}">
        <p14:creationId xmlns:p14="http://schemas.microsoft.com/office/powerpoint/2010/main" val="76350248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US"/>
              <a:t>Finally, you’re ready to launch the development server. Run the following command:</a:t>
            </a:r>
          </a:p>
          <a:p>
            <a:pPr>
              <a:buNone/>
            </a:pPr>
            <a:r>
              <a:rPr lang="en-US"/>
              <a:t>python manage.py runserver</a:t>
            </a:r>
          </a:p>
          <a:p>
            <a:pPr>
              <a:buNone/>
            </a:pPr>
            <a:endParaRPr lang="en-US"/>
          </a:p>
          <a:p>
            <a:pPr>
              <a:buNone/>
            </a:pPr>
            <a:r>
              <a:rPr lang="en-US"/>
              <a:t>This starts Django’s built-in web server, and you can now open your browser and visit http://127.0.0.1:8000.</a:t>
            </a:r>
          </a:p>
          <a:p>
            <a:endParaRPr lang="en-US"/>
          </a:p>
          <a:p>
            <a:pPr marL="0" marR="0" lvl="0" indent="0" algn="l" defTabSz="914400" rtl="0" eaLnBrk="1" fontAlgn="auto" latinLnBrk="0" hangingPunct="1">
              <a:lnSpc>
                <a:spcPct val="100000"/>
              </a:lnSpc>
              <a:spcBef>
                <a:spcPts val="0"/>
              </a:spcBef>
              <a:spcAft>
                <a:spcPts val="0"/>
              </a:spcAft>
              <a:buClrTx/>
              <a:buSzTx/>
              <a:buFontTx/>
              <a:buNone/>
              <a:tabLst/>
              <a:defRPr/>
            </a:pPr>
            <a:r>
              <a:rPr lang="en-US"/>
              <a:t>And that’s it — your Django project is now up and running!</a:t>
            </a:r>
          </a:p>
          <a:p>
            <a:endParaRPr lang="en-US"/>
          </a:p>
          <a:p>
            <a:endParaRPr lang="en-US"/>
          </a:p>
        </p:txBody>
      </p:sp>
      <p:sp>
        <p:nvSpPr>
          <p:cNvPr id="4" name="Slide Number Placeholder 3"/>
          <p:cNvSpPr>
            <a:spLocks noGrp="1"/>
          </p:cNvSpPr>
          <p:nvPr>
            <p:ph type="sldNum" sz="quarter" idx="5"/>
          </p:nvPr>
        </p:nvSpPr>
        <p:spPr/>
        <p:txBody>
          <a:bodyPr/>
          <a:lstStyle/>
          <a:p>
            <a:fld id="{AA563587-8ABA-4622-A195-1FC809463A2F}" type="slidenum">
              <a:rPr lang="en-US" smtClean="0"/>
              <a:t>8</a:t>
            </a:fld>
            <a:endParaRPr lang="en-US"/>
          </a:p>
        </p:txBody>
      </p:sp>
    </p:spTree>
    <p:extLst>
      <p:ext uri="{BB962C8B-B14F-4D97-AF65-F5344CB8AC3E}">
        <p14:creationId xmlns:p14="http://schemas.microsoft.com/office/powerpoint/2010/main" val="178390847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Arial" panose="020B0604020202020204" pitchFamily="34" charset="0"/>
              <a:buNone/>
            </a:pPr>
            <a:r>
              <a:rPr lang="en-US" b="0" i="0">
                <a:solidFill>
                  <a:srgbClr val="1B1B1B"/>
                </a:solidFill>
                <a:effectLst/>
                <a:latin typeface="Inter"/>
              </a:rPr>
              <a:t>Web applications handles http request from clients and process the request and then return responses in HTML.</a:t>
            </a:r>
          </a:p>
          <a:p>
            <a:pPr algn="l">
              <a:buFont typeface="Arial" panose="020B0604020202020204" pitchFamily="34" charset="0"/>
              <a:buNone/>
            </a:pPr>
            <a:endParaRPr lang="en-US" b="1" i="0">
              <a:solidFill>
                <a:srgbClr val="1B1B1B"/>
              </a:solidFill>
              <a:effectLst/>
              <a:latin typeface="Inter"/>
            </a:endParaRPr>
          </a:p>
          <a:p>
            <a:pPr algn="l">
              <a:buFont typeface="Arial" panose="020B0604020202020204" pitchFamily="34" charset="0"/>
              <a:buNone/>
            </a:pPr>
            <a:r>
              <a:rPr lang="en-US" b="0" i="0">
                <a:solidFill>
                  <a:srgbClr val="1B1B1B"/>
                </a:solidFill>
                <a:effectLst/>
                <a:latin typeface="Inter"/>
              </a:rPr>
              <a:t>A URL mapper is used to redirect HTTP requests to the appropriate view based on the request URL. </a:t>
            </a:r>
          </a:p>
          <a:p>
            <a:pPr algn="l">
              <a:buFont typeface="Arial" panose="020B0604020202020204" pitchFamily="34" charset="0"/>
              <a:buNone/>
            </a:pPr>
            <a:r>
              <a:rPr lang="en-US" b="0" i="0">
                <a:solidFill>
                  <a:srgbClr val="1B1B1B"/>
                </a:solidFill>
                <a:effectLst/>
                <a:latin typeface="Inter"/>
              </a:rPr>
              <a:t>The URL mapper can also match particular patterns of strings or digits that appear in a URL and pass these to a view function as data.</a:t>
            </a:r>
          </a:p>
          <a:p>
            <a:pPr algn="l">
              <a:buFont typeface="Arial" panose="020B0604020202020204" pitchFamily="34" charset="0"/>
              <a:buNone/>
            </a:pPr>
            <a:endParaRPr lang="en-US" b="1" i="0">
              <a:solidFill>
                <a:srgbClr val="1B1B1B"/>
              </a:solidFill>
              <a:effectLst/>
              <a:latin typeface="Inter"/>
            </a:endParaRPr>
          </a:p>
          <a:p>
            <a:pPr algn="l">
              <a:buFont typeface="Arial" panose="020B0604020202020204" pitchFamily="34" charset="0"/>
              <a:buNone/>
            </a:pPr>
            <a:r>
              <a:rPr lang="en-US" b="0" i="0">
                <a:solidFill>
                  <a:srgbClr val="1B1B1B"/>
                </a:solidFill>
                <a:effectLst/>
                <a:latin typeface="Inter"/>
              </a:rPr>
              <a:t>A view is a request handler function, which receives HTTP requests and returns HTTP responses. </a:t>
            </a:r>
          </a:p>
          <a:p>
            <a:pPr algn="l">
              <a:buFont typeface="Arial" panose="020B0604020202020204" pitchFamily="34" charset="0"/>
              <a:buNone/>
            </a:pPr>
            <a:r>
              <a:rPr lang="en-US" b="0" i="0">
                <a:solidFill>
                  <a:srgbClr val="1B1B1B"/>
                </a:solidFill>
                <a:effectLst/>
                <a:latin typeface="Inter"/>
              </a:rPr>
              <a:t>Views access the data needed to satisfy requests via </a:t>
            </a:r>
            <a:r>
              <a:rPr lang="en-US" b="0" i="1">
                <a:solidFill>
                  <a:srgbClr val="1B1B1B"/>
                </a:solidFill>
                <a:effectLst/>
                <a:latin typeface="Inter"/>
              </a:rPr>
              <a:t>models</a:t>
            </a:r>
            <a:r>
              <a:rPr lang="en-US" b="0" i="0">
                <a:solidFill>
                  <a:srgbClr val="1B1B1B"/>
                </a:solidFill>
                <a:effectLst/>
                <a:latin typeface="Inter"/>
              </a:rPr>
              <a:t>, and delegate the formatting of the response to </a:t>
            </a:r>
            <a:r>
              <a:rPr lang="en-US" b="0" i="1">
                <a:solidFill>
                  <a:srgbClr val="1B1B1B"/>
                </a:solidFill>
                <a:effectLst/>
                <a:latin typeface="Inter"/>
              </a:rPr>
              <a:t>templates</a:t>
            </a:r>
            <a:r>
              <a:rPr lang="en-US" b="0" i="0">
                <a:solidFill>
                  <a:srgbClr val="1B1B1B"/>
                </a:solidFill>
                <a:effectLst/>
                <a:latin typeface="Inter"/>
              </a:rPr>
              <a:t>.</a:t>
            </a:r>
          </a:p>
          <a:p>
            <a:pPr algn="l">
              <a:buFont typeface="Arial" panose="020B0604020202020204" pitchFamily="34" charset="0"/>
              <a:buNone/>
            </a:pPr>
            <a:endParaRPr lang="en-US" b="0" i="0">
              <a:solidFill>
                <a:srgbClr val="1B1B1B"/>
              </a:solidFill>
              <a:effectLst/>
              <a:latin typeface="Inter"/>
            </a:endParaRPr>
          </a:p>
          <a:p>
            <a:pPr algn="l">
              <a:buFont typeface="Arial" panose="020B0604020202020204" pitchFamily="34" charset="0"/>
              <a:buNone/>
            </a:pPr>
            <a:r>
              <a:rPr lang="en-US" b="0" i="0">
                <a:solidFill>
                  <a:srgbClr val="1B1B1B"/>
                </a:solidFill>
                <a:effectLst/>
                <a:latin typeface="Inter"/>
              </a:rPr>
              <a:t>Models are Python objects that define the structure of an application's data, and provide mechanisms to manage (add, modify, delete) and query records in the database.</a:t>
            </a:r>
          </a:p>
          <a:p>
            <a:pPr algn="l">
              <a:buFont typeface="Arial" panose="020B0604020202020204" pitchFamily="34" charset="0"/>
              <a:buNone/>
            </a:pPr>
            <a:endParaRPr lang="en-US" b="0" i="0">
              <a:solidFill>
                <a:srgbClr val="1B1B1B"/>
              </a:solidFill>
              <a:effectLst/>
              <a:latin typeface="Inter"/>
            </a:endParaRPr>
          </a:p>
          <a:p>
            <a:pPr algn="l">
              <a:buFont typeface="Arial" panose="020B0604020202020204" pitchFamily="34" charset="0"/>
              <a:buNone/>
            </a:pPr>
            <a:r>
              <a:rPr lang="en-US" b="0" i="0">
                <a:solidFill>
                  <a:srgbClr val="1B1B1B"/>
                </a:solidFill>
                <a:effectLst/>
                <a:latin typeface="Inter"/>
              </a:rPr>
              <a:t>A template is a text file defining the structure or layout of a file (such as an HTML page), with placeholders used to represent actual content. </a:t>
            </a:r>
          </a:p>
          <a:p>
            <a:pPr algn="l">
              <a:buFont typeface="Arial" panose="020B0604020202020204" pitchFamily="34" charset="0"/>
              <a:buNone/>
            </a:pPr>
            <a:endParaRPr lang="en-US" b="0" i="0">
              <a:solidFill>
                <a:srgbClr val="1B1B1B"/>
              </a:solidFill>
              <a:effectLst/>
              <a:latin typeface="Inter"/>
            </a:endParaRPr>
          </a:p>
          <a:p>
            <a:pPr algn="l">
              <a:buFont typeface="Arial" panose="020B0604020202020204" pitchFamily="34" charset="0"/>
              <a:buNone/>
            </a:pPr>
            <a:r>
              <a:rPr lang="en-US" b="0" i="0">
                <a:solidFill>
                  <a:srgbClr val="1B1B1B"/>
                </a:solidFill>
                <a:effectLst/>
                <a:latin typeface="Inter"/>
              </a:rPr>
              <a:t>A </a:t>
            </a:r>
            <a:r>
              <a:rPr lang="en-US" b="0" i="1">
                <a:solidFill>
                  <a:srgbClr val="1B1B1B"/>
                </a:solidFill>
                <a:effectLst/>
                <a:latin typeface="Inter"/>
              </a:rPr>
              <a:t>view</a:t>
            </a:r>
            <a:r>
              <a:rPr lang="en-US" b="0" i="0">
                <a:solidFill>
                  <a:srgbClr val="1B1B1B"/>
                </a:solidFill>
                <a:effectLst/>
                <a:latin typeface="Inter"/>
              </a:rPr>
              <a:t> can dynamically create an HTML page using an HTML template, populating it with data from a </a:t>
            </a:r>
            <a:r>
              <a:rPr lang="en-US" b="0" i="1">
                <a:solidFill>
                  <a:srgbClr val="1B1B1B"/>
                </a:solidFill>
                <a:effectLst/>
                <a:latin typeface="Inter"/>
              </a:rPr>
              <a:t>model</a:t>
            </a:r>
            <a:r>
              <a:rPr lang="en-US" b="0" i="0">
                <a:solidFill>
                  <a:srgbClr val="1B1B1B"/>
                </a:solidFill>
                <a:effectLst/>
                <a:latin typeface="Inter"/>
              </a:rPr>
              <a:t>. </a:t>
            </a:r>
          </a:p>
          <a:p>
            <a:pPr algn="l">
              <a:buFont typeface="Arial" panose="020B0604020202020204" pitchFamily="34" charset="0"/>
              <a:buNone/>
            </a:pPr>
            <a:endParaRPr lang="en-US" b="0" i="0">
              <a:solidFill>
                <a:srgbClr val="1B1B1B"/>
              </a:solidFill>
              <a:effectLst/>
              <a:latin typeface="Inter"/>
            </a:endParaRPr>
          </a:p>
          <a:p>
            <a:pPr algn="l">
              <a:buFont typeface="Arial" panose="020B0604020202020204" pitchFamily="34" charset="0"/>
              <a:buNone/>
            </a:pPr>
            <a:r>
              <a:rPr lang="en-US" b="0" i="0">
                <a:solidFill>
                  <a:srgbClr val="1B1B1B"/>
                </a:solidFill>
                <a:effectLst/>
                <a:latin typeface="Inter"/>
              </a:rPr>
              <a:t>A template can be used to define the structure of any type of file.</a:t>
            </a:r>
          </a:p>
          <a:p>
            <a:pPr algn="l">
              <a:buFont typeface="Arial" panose="020B0604020202020204" pitchFamily="34" charset="0"/>
              <a:buNone/>
            </a:pPr>
            <a:endParaRPr lang="en-US" b="0" i="0">
              <a:solidFill>
                <a:srgbClr val="1B1B1B"/>
              </a:solidFill>
              <a:effectLst/>
              <a:latin typeface="Inter"/>
            </a:endParaRPr>
          </a:p>
          <a:p>
            <a:pPr marL="0" indent="0">
              <a:buFont typeface="Arial" panose="020B0604020202020204" pitchFamily="34" charset="0"/>
              <a:buNone/>
            </a:pPr>
            <a:endParaRPr lang="en-US"/>
          </a:p>
        </p:txBody>
      </p:sp>
      <p:sp>
        <p:nvSpPr>
          <p:cNvPr id="4" name="Slide Number Placeholder 3"/>
          <p:cNvSpPr>
            <a:spLocks noGrp="1"/>
          </p:cNvSpPr>
          <p:nvPr>
            <p:ph type="sldNum" sz="quarter" idx="5"/>
          </p:nvPr>
        </p:nvSpPr>
        <p:spPr/>
        <p:txBody>
          <a:bodyPr/>
          <a:lstStyle/>
          <a:p>
            <a:fld id="{AA563587-8ABA-4622-A195-1FC809463A2F}" type="slidenum">
              <a:rPr lang="en-US" smtClean="0"/>
              <a:t>9</a:t>
            </a:fld>
            <a:endParaRPr lang="en-US"/>
          </a:p>
        </p:txBody>
      </p:sp>
    </p:spTree>
    <p:extLst>
      <p:ext uri="{BB962C8B-B14F-4D97-AF65-F5344CB8AC3E}">
        <p14:creationId xmlns:p14="http://schemas.microsoft.com/office/powerpoint/2010/main" val="268550406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US"/>
              <a:t>When you create a new Django app using the command python manage.py startapp iot, </a:t>
            </a:r>
          </a:p>
          <a:p>
            <a:pPr>
              <a:buNone/>
            </a:pPr>
            <a:r>
              <a:rPr lang="en-US"/>
              <a:t>Django automatically generates a set of essential files and folders to help you structure your application properly. </a:t>
            </a:r>
          </a:p>
          <a:p>
            <a:pPr>
              <a:buNone/>
            </a:pPr>
            <a:r>
              <a:rPr lang="en-US"/>
              <a:t>Let’s go through them one by one in vscode.</a:t>
            </a:r>
          </a:p>
          <a:p>
            <a:pPr>
              <a:buNone/>
            </a:pPr>
            <a:endParaRPr lang="en-US"/>
          </a:p>
          <a:p>
            <a:pPr>
              <a:buNone/>
            </a:pPr>
            <a:r>
              <a:rPr lang="en-US"/>
              <a:t>First, we have </a:t>
            </a:r>
            <a:r>
              <a:rPr lang="en-US" b="1"/>
              <a:t>__init__.py</a:t>
            </a:r>
            <a:r>
              <a:rPr lang="en-US"/>
              <a:t>. This file is empty, but it tells Python that this directory should be treated as a Python package. </a:t>
            </a:r>
          </a:p>
          <a:p>
            <a:pPr>
              <a:buNone/>
            </a:pPr>
            <a:r>
              <a:rPr lang="en-US"/>
              <a:t>It’s required for the app to be recognized and imported by Django.</a:t>
            </a:r>
          </a:p>
          <a:p>
            <a:pPr>
              <a:buNone/>
            </a:pPr>
            <a:r>
              <a:rPr lang="en-US"/>
              <a:t>Next is </a:t>
            </a:r>
            <a:r>
              <a:rPr lang="en-US" b="1"/>
              <a:t>admin.py</a:t>
            </a:r>
            <a:r>
              <a:rPr lang="en-US"/>
              <a:t>. This file is used to register your models with Django’s built-in admin interface. By doing so, you can manage your app’s data through a user-friendly web dashboard.</a:t>
            </a:r>
          </a:p>
          <a:p>
            <a:pPr>
              <a:buNone/>
            </a:pPr>
            <a:r>
              <a:rPr lang="en-US"/>
              <a:t>Then we have </a:t>
            </a:r>
            <a:r>
              <a:rPr lang="en-US" b="1"/>
              <a:t>apps.py</a:t>
            </a:r>
            <a:r>
              <a:rPr lang="en-US"/>
              <a:t>. This file defines the configuration class for your app. It’s used by Django to identify and include your app in the project. </a:t>
            </a:r>
          </a:p>
          <a:p>
            <a:pPr>
              <a:buNone/>
            </a:pPr>
            <a:r>
              <a:rPr lang="en-US"/>
              <a:t>Most of the time, you don’t need to modify this unless you’re customizing app behavior.</a:t>
            </a:r>
          </a:p>
          <a:p>
            <a:pPr>
              <a:buNone/>
            </a:pPr>
            <a:r>
              <a:rPr lang="en-US"/>
              <a:t>The </a:t>
            </a:r>
            <a:r>
              <a:rPr lang="en-US" b="1"/>
              <a:t>migrations/</a:t>
            </a:r>
            <a:r>
              <a:rPr lang="en-US"/>
              <a:t> folder stores database migration files. These are automatically created when you make changes to your models and run the makemigrations command. </a:t>
            </a:r>
          </a:p>
          <a:p>
            <a:pPr>
              <a:buNone/>
            </a:pPr>
            <a:r>
              <a:rPr lang="en-US"/>
              <a:t>Inside this folder, you’ll also see a __init__.py file — again, marking it as a Python package.</a:t>
            </a:r>
          </a:p>
          <a:p>
            <a:pPr>
              <a:buNone/>
            </a:pPr>
            <a:r>
              <a:rPr lang="en-US"/>
              <a:t>Moving on, we have </a:t>
            </a:r>
            <a:r>
              <a:rPr lang="en-US" b="1"/>
              <a:t>models.py</a:t>
            </a:r>
            <a:r>
              <a:rPr lang="en-US"/>
              <a:t>. </a:t>
            </a:r>
          </a:p>
          <a:p>
            <a:pPr>
              <a:buNone/>
            </a:pPr>
            <a:r>
              <a:rPr lang="en-US"/>
              <a:t>This is where you define your app’s data models — the Python classes that represent tables in your database. Django’s ORM translates these models into actual database tables.</a:t>
            </a:r>
          </a:p>
          <a:p>
            <a:pPr>
              <a:buNone/>
            </a:pPr>
            <a:r>
              <a:rPr lang="en-US"/>
              <a:t>Then comes </a:t>
            </a:r>
            <a:r>
              <a:rPr lang="en-US" b="1"/>
              <a:t>tests.py</a:t>
            </a:r>
            <a:r>
              <a:rPr lang="en-US"/>
              <a:t>. This file is used for writing unit tests to verify that your app’s code works as expected. Django makes it easy to write and run tests as part of your development workflow.</a:t>
            </a:r>
          </a:p>
          <a:p>
            <a:pPr>
              <a:buNone/>
            </a:pPr>
            <a:endParaRPr lang="en-US"/>
          </a:p>
          <a:p>
            <a:r>
              <a:rPr lang="en-US"/>
              <a:t>And finally, there’s </a:t>
            </a:r>
            <a:r>
              <a:rPr lang="en-US" b="1"/>
              <a:t>views.py</a:t>
            </a:r>
            <a:r>
              <a:rPr lang="en-US"/>
              <a:t>. This is where the logic for handling incoming web requests goes. Views retrieve data from the database, apply business logic, and return responses — usually rendered HTML pages or JSON.</a:t>
            </a:r>
          </a:p>
          <a:p>
            <a:endParaRPr lang="en-US"/>
          </a:p>
        </p:txBody>
      </p:sp>
      <p:sp>
        <p:nvSpPr>
          <p:cNvPr id="4" name="Slide Number Placeholder 3"/>
          <p:cNvSpPr>
            <a:spLocks noGrp="1"/>
          </p:cNvSpPr>
          <p:nvPr>
            <p:ph type="sldNum" sz="quarter" idx="5"/>
          </p:nvPr>
        </p:nvSpPr>
        <p:spPr/>
        <p:txBody>
          <a:bodyPr/>
          <a:lstStyle/>
          <a:p>
            <a:fld id="{AA563587-8ABA-4622-A195-1FC809463A2F}" type="slidenum">
              <a:rPr lang="en-US" smtClean="0"/>
              <a:t>10</a:t>
            </a:fld>
            <a:endParaRPr lang="en-US"/>
          </a:p>
        </p:txBody>
      </p:sp>
    </p:spTree>
    <p:extLst>
      <p:ext uri="{BB962C8B-B14F-4D97-AF65-F5344CB8AC3E}">
        <p14:creationId xmlns:p14="http://schemas.microsoft.com/office/powerpoint/2010/main" val="368926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 would like to recommend to use AI tools such as chatgpt in developing web applications. AI can be used to solve the problems and expediate the development process.</a:t>
            </a:r>
          </a:p>
          <a:p>
            <a:endParaRPr lang="en-US"/>
          </a:p>
          <a:p>
            <a:r>
              <a:rPr lang="en-US"/>
              <a:t>Ask ChatGTP using the text in the slide. </a:t>
            </a:r>
          </a:p>
        </p:txBody>
      </p:sp>
      <p:sp>
        <p:nvSpPr>
          <p:cNvPr id="4" name="Slide Number Placeholder 3"/>
          <p:cNvSpPr>
            <a:spLocks noGrp="1"/>
          </p:cNvSpPr>
          <p:nvPr>
            <p:ph type="sldNum" sz="quarter" idx="5"/>
          </p:nvPr>
        </p:nvSpPr>
        <p:spPr/>
        <p:txBody>
          <a:bodyPr/>
          <a:lstStyle/>
          <a:p>
            <a:fld id="{AA563587-8ABA-4622-A195-1FC809463A2F}" type="slidenum">
              <a:rPr lang="en-US" smtClean="0"/>
              <a:t>11</a:t>
            </a:fld>
            <a:endParaRPr lang="en-US"/>
          </a:p>
        </p:txBody>
      </p:sp>
    </p:spTree>
    <p:extLst>
      <p:ext uri="{BB962C8B-B14F-4D97-AF65-F5344CB8AC3E}">
        <p14:creationId xmlns:p14="http://schemas.microsoft.com/office/powerpoint/2010/main" val="235077423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US"/>
              <a:t>When you create a new Django project, several built-in applications are automatically added to the INSTALLED_APPS list in the settings.py file. </a:t>
            </a:r>
          </a:p>
          <a:p>
            <a:pPr>
              <a:buNone/>
            </a:pPr>
            <a:endParaRPr lang="en-US"/>
          </a:p>
          <a:p>
            <a:pPr>
              <a:buNone/>
            </a:pPr>
            <a:r>
              <a:rPr lang="en-US"/>
              <a:t>These default apps provide essential features that help you build fully functional web applications right from the start. Let’s take a closer look.</a:t>
            </a:r>
          </a:p>
          <a:p>
            <a:pPr>
              <a:buNone/>
            </a:pPr>
            <a:r>
              <a:rPr lang="en-US"/>
              <a:t>First, there’s </a:t>
            </a:r>
            <a:r>
              <a:rPr lang="en-US" b="1"/>
              <a:t>django.contrib.admin</a:t>
            </a:r>
            <a:r>
              <a:rPr lang="en-US"/>
              <a:t>. This enables the powerful Django admin interface — a web-based dashboard that allows you to manage your site’s data with ease. </a:t>
            </a:r>
          </a:p>
          <a:p>
            <a:pPr>
              <a:buNone/>
            </a:pPr>
            <a:r>
              <a:rPr lang="en-US"/>
              <a:t>You’ll use it soon to manage models without writing any code for forms or views.</a:t>
            </a:r>
          </a:p>
          <a:p>
            <a:pPr>
              <a:buNone/>
            </a:pPr>
            <a:r>
              <a:rPr lang="en-US"/>
              <a:t>Next, we have </a:t>
            </a:r>
            <a:r>
              <a:rPr lang="en-US" b="1"/>
              <a:t>django.contrib.auth</a:t>
            </a:r>
            <a:r>
              <a:rPr lang="en-US"/>
              <a:t>. This is Django’s built-in authentication system. It handles everything from user login and logout to password management and permissions.</a:t>
            </a:r>
          </a:p>
          <a:p>
            <a:pPr>
              <a:buNone/>
            </a:pPr>
            <a:r>
              <a:rPr lang="en-US"/>
              <a:t>Then comes </a:t>
            </a:r>
            <a:r>
              <a:rPr lang="en-US" b="1"/>
              <a:t>django.contrib.contenttypes</a:t>
            </a:r>
            <a:r>
              <a:rPr lang="en-US"/>
              <a:t>. This app provides a framework for tracking all the models installed in your project. </a:t>
            </a:r>
          </a:p>
          <a:p>
            <a:pPr>
              <a:buNone/>
            </a:pPr>
            <a:r>
              <a:rPr lang="en-US"/>
              <a:t>It’s essential for working with generic relationships between models.</a:t>
            </a:r>
          </a:p>
          <a:p>
            <a:pPr>
              <a:buNone/>
            </a:pPr>
            <a:r>
              <a:rPr lang="en-US"/>
              <a:t>The </a:t>
            </a:r>
            <a:r>
              <a:rPr lang="en-US" b="1"/>
              <a:t>django.contrib.sessions</a:t>
            </a:r>
            <a:r>
              <a:rPr lang="en-US"/>
              <a:t> app manages session data — allowing you to store information about users across different requests. </a:t>
            </a:r>
          </a:p>
          <a:p>
            <a:pPr>
              <a:buNone/>
            </a:pPr>
            <a:r>
              <a:rPr lang="en-US"/>
              <a:t>For example, this is how Django remembers who is logged in.</a:t>
            </a:r>
          </a:p>
          <a:p>
            <a:pPr>
              <a:buNone/>
            </a:pPr>
            <a:r>
              <a:rPr lang="en-US"/>
              <a:t>After that, there’s </a:t>
            </a:r>
            <a:r>
              <a:rPr lang="en-US" b="1"/>
              <a:t>django.contrib.messages</a:t>
            </a:r>
            <a:r>
              <a:rPr lang="en-US"/>
              <a:t>. This framework enables you to send temporary messages to users, such as success notifications or error alerts, which can be displayed in the user interface.</a:t>
            </a:r>
          </a:p>
          <a:p>
            <a:r>
              <a:rPr lang="en-US"/>
              <a:t>And finally, we have </a:t>
            </a:r>
            <a:r>
              <a:rPr lang="en-US" b="1"/>
              <a:t>django.contrib.staticfiles</a:t>
            </a:r>
            <a:r>
              <a:rPr lang="en-US"/>
              <a:t>. This app helps you manage static files like CSS, JavaScript, and images — all the resources that make your website visually appealing and interactive</a:t>
            </a:r>
          </a:p>
          <a:p>
            <a:endParaRPr lang="en-US"/>
          </a:p>
        </p:txBody>
      </p:sp>
      <p:sp>
        <p:nvSpPr>
          <p:cNvPr id="4" name="Slide Number Placeholder 3"/>
          <p:cNvSpPr>
            <a:spLocks noGrp="1"/>
          </p:cNvSpPr>
          <p:nvPr>
            <p:ph type="sldNum" sz="quarter" idx="5"/>
          </p:nvPr>
        </p:nvSpPr>
        <p:spPr/>
        <p:txBody>
          <a:bodyPr/>
          <a:lstStyle/>
          <a:p>
            <a:fld id="{AA563587-8ABA-4622-A195-1FC809463A2F}" type="slidenum">
              <a:rPr lang="en-US" smtClean="0"/>
              <a:t>12</a:t>
            </a:fld>
            <a:endParaRPr lang="en-US"/>
          </a:p>
        </p:txBody>
      </p:sp>
    </p:spTree>
    <p:extLst>
      <p:ext uri="{BB962C8B-B14F-4D97-AF65-F5344CB8AC3E}">
        <p14:creationId xmlns:p14="http://schemas.microsoft.com/office/powerpoint/2010/main" val="190601479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We will use rest framework and we are going to include iot app in our Django project.</a:t>
            </a:r>
          </a:p>
          <a:p>
            <a:endParaRPr lang="en-US"/>
          </a:p>
          <a:p>
            <a:pPr marL="0" indent="0">
              <a:buNone/>
            </a:pPr>
            <a:r>
              <a:rPr lang="en-US"/>
              <a:t>In vscode, open settings.py and add </a:t>
            </a:r>
            <a:r>
              <a:rPr lang="en-US" sz="1200">
                <a:solidFill>
                  <a:srgbClr val="FF0000"/>
                </a:solidFill>
              </a:rPr>
              <a:t> 'rest_framework’ and 'iot’ in the Installed Apps array as shown in the slide.</a:t>
            </a:r>
          </a:p>
          <a:p>
            <a:pPr marL="0" indent="0">
              <a:buNone/>
            </a:pPr>
            <a:endParaRPr lang="en-US" sz="1200">
              <a:solidFill>
                <a:srgbClr val="FF0000"/>
              </a:solidFill>
            </a:endParaRPr>
          </a:p>
          <a:p>
            <a:pPr marL="0" indent="0">
              <a:buNone/>
            </a:pPr>
            <a:r>
              <a:rPr lang="en-US" sz="1200">
                <a:solidFill>
                  <a:srgbClr val="FF0000"/>
                </a:solidFill>
              </a:rPr>
              <a:t>Open a command terminal and Install  'rest_framework’  python package by </a:t>
            </a:r>
          </a:p>
          <a:p>
            <a:pPr marL="0" indent="0">
              <a:buNone/>
            </a:pPr>
            <a:endParaRPr lang="en-US" sz="1200">
              <a:solidFill>
                <a:srgbClr val="FF0000"/>
              </a:solidFill>
            </a:endParaRPr>
          </a:p>
          <a:p>
            <a:pPr marL="0" indent="0">
              <a:buNone/>
            </a:pPr>
            <a:r>
              <a:rPr lang="en-US">
                <a:solidFill>
                  <a:srgbClr val="48484C"/>
                </a:solidFill>
                <a:effectLst/>
              </a:rPr>
              <a:t>pip install djangorestframework </a:t>
            </a:r>
            <a:r>
              <a:rPr lang="en-US" sz="1200">
                <a:solidFill>
                  <a:srgbClr val="FF0000"/>
                </a:solidFill>
                <a:effectLst/>
              </a:rPr>
              <a:t>command.</a:t>
            </a:r>
          </a:p>
          <a:p>
            <a:pPr marL="0" indent="0">
              <a:buNone/>
            </a:pPr>
            <a:endParaRPr lang="en-US" sz="1200">
              <a:solidFill>
                <a:srgbClr val="FF0000"/>
              </a:solidFill>
              <a:effectLst/>
            </a:endParaRPr>
          </a:p>
          <a:p>
            <a:pPr marL="0" indent="0">
              <a:buNone/>
            </a:pPr>
            <a:endParaRPr lang="en-US"/>
          </a:p>
        </p:txBody>
      </p:sp>
      <p:sp>
        <p:nvSpPr>
          <p:cNvPr id="4" name="Slide Number Placeholder 3"/>
          <p:cNvSpPr>
            <a:spLocks noGrp="1"/>
          </p:cNvSpPr>
          <p:nvPr>
            <p:ph type="sldNum" sz="quarter" idx="5"/>
          </p:nvPr>
        </p:nvSpPr>
        <p:spPr/>
        <p:txBody>
          <a:bodyPr/>
          <a:lstStyle/>
          <a:p>
            <a:fld id="{AA563587-8ABA-4622-A195-1FC809463A2F}" type="slidenum">
              <a:rPr lang="en-US" smtClean="0"/>
              <a:t>13</a:t>
            </a:fld>
            <a:endParaRPr lang="en-US"/>
          </a:p>
        </p:txBody>
      </p:sp>
    </p:spTree>
    <p:extLst>
      <p:ext uri="{BB962C8B-B14F-4D97-AF65-F5344CB8AC3E}">
        <p14:creationId xmlns:p14="http://schemas.microsoft.com/office/powerpoint/2010/main" val="399303847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 vscode, open model.py</a:t>
            </a:r>
          </a:p>
          <a:p>
            <a:endParaRPr lang="en-US"/>
          </a:p>
          <a:p>
            <a:r>
              <a:rPr lang="en-US"/>
              <a:t>Edit the file using suggested answers from chatgpt or sample source code at github.</a:t>
            </a:r>
          </a:p>
          <a:p>
            <a:endParaRPr lang="en-US"/>
          </a:p>
          <a:p>
            <a:r>
              <a:rPr lang="en-US"/>
              <a:t>In model.py, </a:t>
            </a:r>
          </a:p>
          <a:p>
            <a:endParaRPr lang="en-US" b="0"/>
          </a:p>
          <a:p>
            <a:r>
              <a:rPr lang="en-US" b="0"/>
              <a:t>The SensorData class inherits from Django’s models.Model class.</a:t>
            </a:r>
          </a:p>
          <a:p>
            <a:endParaRPr lang="en-US"/>
          </a:p>
          <a:p>
            <a:r>
              <a:rPr lang="en-US"/>
              <a:t>We use field classes like CharField and FloatField from the models package to define database columns.</a:t>
            </a:r>
          </a:p>
          <a:p>
            <a:endParaRPr lang="en-US"/>
          </a:p>
          <a:p>
            <a:r>
              <a:rPr lang="en-US"/>
              <a:t>Model.py is used to create a database table in Django.</a:t>
            </a:r>
          </a:p>
          <a:p>
            <a:endParaRPr lang="en-US"/>
          </a:p>
          <a:p>
            <a:r>
              <a:rPr lang="en-US"/>
              <a:t>The default database for Django is sqlite3.</a:t>
            </a:r>
          </a:p>
          <a:p>
            <a:endParaRPr lang="en-US"/>
          </a:p>
          <a:p>
            <a:endParaRPr lang="en-US"/>
          </a:p>
          <a:p>
            <a:endParaRPr lang="en-US"/>
          </a:p>
        </p:txBody>
      </p:sp>
      <p:sp>
        <p:nvSpPr>
          <p:cNvPr id="4" name="Slide Number Placeholder 3"/>
          <p:cNvSpPr>
            <a:spLocks noGrp="1"/>
          </p:cNvSpPr>
          <p:nvPr>
            <p:ph type="sldNum" sz="quarter" idx="5"/>
          </p:nvPr>
        </p:nvSpPr>
        <p:spPr/>
        <p:txBody>
          <a:bodyPr/>
          <a:lstStyle/>
          <a:p>
            <a:fld id="{AA563587-8ABA-4622-A195-1FC809463A2F}" type="slidenum">
              <a:rPr lang="en-US" smtClean="0"/>
              <a:t>14</a:t>
            </a:fld>
            <a:endParaRPr lang="en-US"/>
          </a:p>
        </p:txBody>
      </p:sp>
    </p:spTree>
    <p:extLst>
      <p:ext uri="{BB962C8B-B14F-4D97-AF65-F5344CB8AC3E}">
        <p14:creationId xmlns:p14="http://schemas.microsoft.com/office/powerpoint/2010/main" val="92879476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US"/>
              <a:t>By running the makemigrations command, you’re telling Django that you've made changes to your models and want to generate a new file in the migrations folder to reflect those changes.</a:t>
            </a:r>
          </a:p>
          <a:p>
            <a:pPr>
              <a:buNone/>
            </a:pPr>
            <a:r>
              <a:rPr lang="en-US"/>
              <a:t>Migrations are Django’s way of recording and applying changes to your database schema — such as adding new models or modifying existing fields.</a:t>
            </a:r>
          </a:p>
          <a:p>
            <a:pPr>
              <a:buNone/>
            </a:pPr>
            <a:endParaRPr lang="en-US"/>
          </a:p>
          <a:p>
            <a:pPr>
              <a:buNone/>
            </a:pPr>
            <a:r>
              <a:rPr lang="en-US"/>
              <a:t>If you're curious, you can actually open and read the migration file for your new model. It will typically be located at</a:t>
            </a:r>
            <a:br>
              <a:rPr lang="en-US"/>
            </a:br>
            <a:r>
              <a:rPr lang="en-US"/>
              <a:t>iot/migrations/0001_initial.py.</a:t>
            </a:r>
          </a:p>
          <a:p>
            <a:endParaRPr lang="en-US"/>
          </a:p>
          <a:p>
            <a:r>
              <a:rPr lang="en-US"/>
              <a:t>Next, when you run the migrate command, Django looks at the INSTALLED_APPS setting in your settings.py file. </a:t>
            </a:r>
          </a:p>
          <a:p>
            <a:endParaRPr lang="en-US"/>
          </a:p>
          <a:p>
            <a:r>
              <a:rPr lang="en-US"/>
              <a:t>It then applies the migration files to create the actual database tables, using the database configuration also defined in that settings file.</a:t>
            </a:r>
          </a:p>
          <a:p>
            <a:endParaRPr lang="en-US"/>
          </a:p>
        </p:txBody>
      </p:sp>
      <p:sp>
        <p:nvSpPr>
          <p:cNvPr id="4" name="Slide Number Placeholder 3"/>
          <p:cNvSpPr>
            <a:spLocks noGrp="1"/>
          </p:cNvSpPr>
          <p:nvPr>
            <p:ph type="sldNum" sz="quarter" idx="5"/>
          </p:nvPr>
        </p:nvSpPr>
        <p:spPr/>
        <p:txBody>
          <a:bodyPr/>
          <a:lstStyle/>
          <a:p>
            <a:fld id="{AA563587-8ABA-4622-A195-1FC809463A2F}" type="slidenum">
              <a:rPr lang="en-US" smtClean="0"/>
              <a:t>15</a:t>
            </a:fld>
            <a:endParaRPr lang="en-US"/>
          </a:p>
        </p:txBody>
      </p:sp>
    </p:spTree>
    <p:extLst>
      <p:ext uri="{BB962C8B-B14F-4D97-AF65-F5344CB8AC3E}">
        <p14:creationId xmlns:p14="http://schemas.microsoft.com/office/powerpoint/2010/main" val="311167109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 Django, URL configuration is how we map web addresses to specific functions that handle the request.</a:t>
            </a:r>
          </a:p>
          <a:p>
            <a:endParaRPr lang="en-US"/>
          </a:p>
          <a:p>
            <a:r>
              <a:rPr lang="en-US"/>
              <a:t>We start with the </a:t>
            </a:r>
            <a:r>
              <a:rPr lang="en-US" b="1"/>
              <a:t>project-level urls.py</a:t>
            </a:r>
            <a:r>
              <a:rPr lang="en-US"/>
              <a:t> file:</a:t>
            </a:r>
          </a:p>
          <a:p>
            <a:pPr>
              <a:buNone/>
            </a:pPr>
            <a:r>
              <a:rPr lang="en-US"/>
              <a:t>This file tells Django how to route URLs at the global project level. The line path('admin/', admin.site.urls) sets up the admin interface at the /admin/ URL.</a:t>
            </a:r>
          </a:p>
          <a:p>
            <a:r>
              <a:rPr lang="en-US"/>
              <a:t>The second line — path('', include('iot.urls')) — includes the URL patterns from our iot app. That means any URL not starting with /admin/ will be handled by the iot/urls.py file.</a:t>
            </a:r>
          </a:p>
          <a:p>
            <a:endParaRPr lang="en-US"/>
          </a:p>
          <a:p>
            <a:r>
              <a:rPr lang="en-US"/>
              <a:t>Now, let’s look at the </a:t>
            </a:r>
            <a:r>
              <a:rPr lang="en-US" b="1"/>
              <a:t>app-level urls.py file</a:t>
            </a:r>
            <a:r>
              <a:rPr lang="en-US"/>
              <a:t> inside the iot app.</a:t>
            </a:r>
          </a:p>
          <a:p>
            <a:endParaRPr lang="en-US"/>
          </a:p>
          <a:p>
            <a:pPr>
              <a:buNone/>
            </a:pPr>
            <a:r>
              <a:rPr lang="en-US"/>
              <a:t>The first parameter of the path function is the URL pattern that the client will request.</a:t>
            </a:r>
            <a:br>
              <a:rPr lang="en-US"/>
            </a:br>
            <a:r>
              <a:rPr lang="en-US"/>
              <a:t>The second parameter specifies the function or class-based view that will handle the request.</a:t>
            </a:r>
          </a:p>
          <a:p>
            <a:r>
              <a:rPr lang="en-US"/>
              <a:t>For example, the route 'api/sensor/' points to the receive_sensor_data view. This view is likely used for devices to </a:t>
            </a:r>
            <a:r>
              <a:rPr lang="en-US" b="1"/>
              <a:t>send sensor data</a:t>
            </a:r>
            <a:r>
              <a:rPr lang="en-US"/>
              <a:t> to the server, typically via a </a:t>
            </a:r>
            <a:r>
              <a:rPr lang="en-US" b="1"/>
              <a:t>POST request</a:t>
            </a:r>
            <a:endParaRPr lang="en-US"/>
          </a:p>
          <a:p>
            <a:endParaRPr lang="en-US"/>
          </a:p>
          <a:p>
            <a:r>
              <a:rPr lang="en-US"/>
              <a:t>The name parameter in path function is used for </a:t>
            </a:r>
            <a:r>
              <a:rPr lang="en-US" b="1"/>
              <a:t>reverse URL resolution</a:t>
            </a:r>
            <a:r>
              <a:rPr lang="en-US"/>
              <a:t>, </a:t>
            </a:r>
            <a:r>
              <a:rPr lang="en-US" b="1"/>
              <a:t>template navigation</a:t>
            </a:r>
            <a:r>
              <a:rPr lang="en-US"/>
              <a:t>, and </a:t>
            </a:r>
            <a:r>
              <a:rPr lang="en-US" b="1"/>
              <a:t>maintainable URL management</a:t>
            </a:r>
            <a:r>
              <a:rPr lang="en-US"/>
              <a:t> in Django applications.</a:t>
            </a:r>
          </a:p>
          <a:p>
            <a:endParaRPr lang="en-US"/>
          </a:p>
        </p:txBody>
      </p:sp>
      <p:sp>
        <p:nvSpPr>
          <p:cNvPr id="4" name="Slide Number Placeholder 3"/>
          <p:cNvSpPr>
            <a:spLocks noGrp="1"/>
          </p:cNvSpPr>
          <p:nvPr>
            <p:ph type="sldNum" sz="quarter" idx="5"/>
          </p:nvPr>
        </p:nvSpPr>
        <p:spPr/>
        <p:txBody>
          <a:bodyPr/>
          <a:lstStyle/>
          <a:p>
            <a:fld id="{AA563587-8ABA-4622-A195-1FC809463A2F}" type="slidenum">
              <a:rPr lang="en-US" smtClean="0"/>
              <a:t>16</a:t>
            </a:fld>
            <a:endParaRPr lang="en-US"/>
          </a:p>
        </p:txBody>
      </p:sp>
    </p:spTree>
    <p:extLst>
      <p:ext uri="{BB962C8B-B14F-4D97-AF65-F5344CB8AC3E}">
        <p14:creationId xmlns:p14="http://schemas.microsoft.com/office/powerpoint/2010/main" val="244752365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US"/>
              <a:t>In Django, a template file is used to define the structure and presentation of your website’s front-end — the HTML that users see in their web browser.</a:t>
            </a:r>
          </a:p>
          <a:p>
            <a:pPr>
              <a:buNone/>
            </a:pPr>
            <a:r>
              <a:rPr lang="en-US"/>
              <a:t>Django’s templating system allows you to mix static HTML with dynamic content, using a simple and readable syntax. This lets you display information from your database, user input, or server-side logic directly in your web pages — without writing any raw Python code in the HTML.</a:t>
            </a:r>
          </a:p>
          <a:p>
            <a:pPr>
              <a:buNone/>
            </a:pPr>
            <a:r>
              <a:rPr lang="en-US"/>
              <a:t>A typical Django template file has a .html extension and lives inside a templates folder. Within this file, you can use </a:t>
            </a:r>
            <a:r>
              <a:rPr lang="en-US" b="1"/>
              <a:t>template tags</a:t>
            </a:r>
            <a:r>
              <a:rPr lang="en-US"/>
              <a:t> and </a:t>
            </a:r>
            <a:r>
              <a:rPr lang="en-US" b="1"/>
              <a:t>template variables</a:t>
            </a:r>
            <a:r>
              <a:rPr lang="en-US"/>
              <a:t>.</a:t>
            </a:r>
          </a:p>
          <a:p>
            <a:pPr>
              <a:buNone/>
            </a:pPr>
            <a:endParaRPr lang="en-US"/>
          </a:p>
          <a:p>
            <a:pPr>
              <a:buFont typeface="Arial" panose="020B0604020202020204" pitchFamily="34" charset="0"/>
              <a:buNone/>
            </a:pPr>
            <a:r>
              <a:rPr lang="en-US" b="1"/>
              <a:t>Template variables</a:t>
            </a:r>
            <a:r>
              <a:rPr lang="en-US"/>
              <a:t>, written with double curly braces like {{ temperature }}, are placeholders that Django replaces with actual values when rendering the page.</a:t>
            </a:r>
          </a:p>
          <a:p>
            <a:pPr>
              <a:buFont typeface="Arial" panose="020B0604020202020204" pitchFamily="34" charset="0"/>
              <a:buNone/>
            </a:pPr>
            <a:r>
              <a:rPr lang="en-US" b="1"/>
              <a:t>Template tags</a:t>
            </a:r>
            <a:r>
              <a:rPr lang="en-US"/>
              <a:t>, enclosed in {% ... %}, are used for logic and control structures — like loops ({% </a:t>
            </a:r>
            <a:r>
              <a:rPr lang="en-US" sz="1200">
                <a:solidFill>
                  <a:srgbClr val="1F914D"/>
                </a:solidFill>
              </a:rPr>
              <a:t>for entry in data </a:t>
            </a:r>
            <a:r>
              <a:rPr lang="en-US"/>
              <a:t>%}).</a:t>
            </a:r>
          </a:p>
          <a:p>
            <a:pPr>
              <a:buFont typeface="Arial" panose="020B0604020202020204" pitchFamily="34" charset="0"/>
              <a:buNone/>
            </a:pPr>
            <a:endParaRPr lang="en-US"/>
          </a:p>
          <a:p>
            <a:pPr>
              <a:buFont typeface="Arial" panose="020B0604020202020204" pitchFamily="34" charset="0"/>
              <a:buNone/>
            </a:pPr>
            <a:r>
              <a:rPr lang="en-US"/>
              <a:t>When the template is rendered by a view, Django fills in the values dynamically — turning your data into a complete HTML page.</a:t>
            </a:r>
          </a:p>
          <a:p>
            <a:endParaRPr lang="en-US"/>
          </a:p>
        </p:txBody>
      </p:sp>
      <p:sp>
        <p:nvSpPr>
          <p:cNvPr id="4" name="Slide Number Placeholder 3"/>
          <p:cNvSpPr>
            <a:spLocks noGrp="1"/>
          </p:cNvSpPr>
          <p:nvPr>
            <p:ph type="sldNum" sz="quarter" idx="5"/>
          </p:nvPr>
        </p:nvSpPr>
        <p:spPr/>
        <p:txBody>
          <a:bodyPr/>
          <a:lstStyle/>
          <a:p>
            <a:fld id="{AA563587-8ABA-4622-A195-1FC809463A2F}" type="slidenum">
              <a:rPr lang="en-US" smtClean="0"/>
              <a:t>17</a:t>
            </a:fld>
            <a:endParaRPr lang="en-US"/>
          </a:p>
        </p:txBody>
      </p:sp>
    </p:spTree>
    <p:extLst>
      <p:ext uri="{BB962C8B-B14F-4D97-AF65-F5344CB8AC3E}">
        <p14:creationId xmlns:p14="http://schemas.microsoft.com/office/powerpoint/2010/main" val="405789170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US"/>
              <a:t>In Django, the view.py file plays a central role in how your web application responds to incoming requests. </a:t>
            </a:r>
          </a:p>
          <a:p>
            <a:pPr>
              <a:buNone/>
            </a:pPr>
            <a:r>
              <a:rPr lang="en-US"/>
              <a:t>It contains the logic that processes data and determines what the user should see or receive.</a:t>
            </a:r>
          </a:p>
          <a:p>
            <a:pPr>
              <a:buNone/>
            </a:pPr>
            <a:r>
              <a:rPr lang="en-US"/>
              <a:t>In simple terms, a </a:t>
            </a:r>
            <a:r>
              <a:rPr lang="en-US" b="1"/>
              <a:t>view is a Python function or class</a:t>
            </a:r>
            <a:r>
              <a:rPr lang="en-US"/>
              <a:t> that takes a web request and returns a web response. </a:t>
            </a:r>
          </a:p>
          <a:p>
            <a:pPr>
              <a:buNone/>
            </a:pPr>
            <a:r>
              <a:rPr lang="en-US"/>
              <a:t>This response could be an HTML page, a JSON object, a redirect, or even an error message.</a:t>
            </a:r>
          </a:p>
          <a:p>
            <a:r>
              <a:rPr lang="en-US"/>
              <a:t>Each view is linked to a specific URL pattern through the urls.py file. </a:t>
            </a:r>
          </a:p>
          <a:p>
            <a:r>
              <a:rPr lang="en-US"/>
              <a:t>When a request comes in, Django looks at the URL, finds the matching view, and runs the associated function or class.</a:t>
            </a:r>
          </a:p>
          <a:p>
            <a:endParaRPr lang="en-US"/>
          </a:p>
        </p:txBody>
      </p:sp>
      <p:sp>
        <p:nvSpPr>
          <p:cNvPr id="4" name="Slide Number Placeholder 3"/>
          <p:cNvSpPr>
            <a:spLocks noGrp="1"/>
          </p:cNvSpPr>
          <p:nvPr>
            <p:ph type="sldNum" sz="quarter" idx="5"/>
          </p:nvPr>
        </p:nvSpPr>
        <p:spPr/>
        <p:txBody>
          <a:bodyPr/>
          <a:lstStyle/>
          <a:p>
            <a:fld id="{AA563587-8ABA-4622-A195-1FC809463A2F}" type="slidenum">
              <a:rPr lang="en-US" smtClean="0"/>
              <a:t>18</a:t>
            </a:fld>
            <a:endParaRPr lang="en-US"/>
          </a:p>
        </p:txBody>
      </p:sp>
    </p:spTree>
    <p:extLst>
      <p:ext uri="{BB962C8B-B14F-4D97-AF65-F5344CB8AC3E}">
        <p14:creationId xmlns:p14="http://schemas.microsoft.com/office/powerpoint/2010/main" val="54941169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US"/>
              <a:t>We will use a python file, named utils.py which will be used for validating API keys in view.py.</a:t>
            </a:r>
          </a:p>
          <a:p>
            <a:pPr>
              <a:buNone/>
            </a:pPr>
            <a:endParaRPr lang="en-US"/>
          </a:p>
          <a:p>
            <a:pPr>
              <a:buNone/>
            </a:pPr>
            <a:r>
              <a:rPr lang="en-US"/>
              <a:t>Let’s break it down.</a:t>
            </a:r>
          </a:p>
          <a:p>
            <a:pPr>
              <a:buNone/>
            </a:pPr>
            <a:r>
              <a:rPr lang="en-US"/>
              <a:t>At the top, we have a dictionary named </a:t>
            </a:r>
            <a:r>
              <a:rPr lang="en-US" b="1"/>
              <a:t>VALID_API_KEYS</a:t>
            </a:r>
            <a:r>
              <a:rPr lang="en-US"/>
              <a:t>. This dictionary maps API keys to device IDs. </a:t>
            </a:r>
          </a:p>
          <a:p>
            <a:pPr>
              <a:buNone/>
            </a:pPr>
            <a:endParaRPr lang="en-US"/>
          </a:p>
          <a:p>
            <a:pPr>
              <a:buNone/>
            </a:pPr>
            <a:r>
              <a:rPr lang="en-US"/>
              <a:t>For example:</a:t>
            </a:r>
          </a:p>
          <a:p>
            <a:pPr>
              <a:buFont typeface="Arial" panose="020B0604020202020204" pitchFamily="34" charset="0"/>
              <a:buNone/>
            </a:pPr>
            <a:r>
              <a:rPr lang="en-US"/>
              <a:t>"abc123" corresponds to "device01",</a:t>
            </a:r>
          </a:p>
          <a:p>
            <a:pPr>
              <a:buFont typeface="Arial" panose="020B0604020202020204" pitchFamily="34" charset="0"/>
              <a:buNone/>
            </a:pPr>
            <a:r>
              <a:rPr lang="en-US"/>
              <a:t>and "xyz789" corresponds to "device02".</a:t>
            </a:r>
          </a:p>
          <a:p>
            <a:pPr>
              <a:buFont typeface="Arial" panose="020B0604020202020204" pitchFamily="34" charset="0"/>
              <a:buNone/>
            </a:pPr>
            <a:endParaRPr lang="en-US"/>
          </a:p>
          <a:p>
            <a:r>
              <a:rPr lang="en-US"/>
              <a:t>These key-value pairs represent authorized devices that are allowed to send data to your server.</a:t>
            </a:r>
          </a:p>
          <a:p>
            <a:endParaRPr lang="en-US"/>
          </a:p>
          <a:p>
            <a:r>
              <a:rPr lang="en-US" b="1"/>
              <a:t>is_valid_apikey</a:t>
            </a:r>
            <a:r>
              <a:rPr lang="en-US"/>
              <a:t> function takes two arguments: an apikey and a device_id. </a:t>
            </a:r>
          </a:p>
          <a:p>
            <a:endParaRPr lang="en-US"/>
          </a:p>
          <a:p>
            <a:r>
              <a:rPr lang="en-US"/>
              <a:t>It checks whether the provided API key is valid and whether it matches the correct device.</a:t>
            </a:r>
          </a:p>
          <a:p>
            <a:endParaRPr lang="en-US"/>
          </a:p>
          <a:p>
            <a:r>
              <a:rPr lang="en-US"/>
              <a:t>This function is used in view.py</a:t>
            </a:r>
          </a:p>
          <a:p>
            <a:endParaRPr lang="en-US"/>
          </a:p>
        </p:txBody>
      </p:sp>
      <p:sp>
        <p:nvSpPr>
          <p:cNvPr id="4" name="Slide Number Placeholder 3"/>
          <p:cNvSpPr>
            <a:spLocks noGrp="1"/>
          </p:cNvSpPr>
          <p:nvPr>
            <p:ph type="sldNum" sz="quarter" idx="5"/>
          </p:nvPr>
        </p:nvSpPr>
        <p:spPr/>
        <p:txBody>
          <a:bodyPr/>
          <a:lstStyle/>
          <a:p>
            <a:fld id="{AA563587-8ABA-4622-A195-1FC809463A2F}" type="slidenum">
              <a:rPr lang="en-US" smtClean="0"/>
              <a:t>19</a:t>
            </a:fld>
            <a:endParaRPr lang="en-US"/>
          </a:p>
        </p:txBody>
      </p:sp>
    </p:spTree>
    <p:extLst>
      <p:ext uri="{BB962C8B-B14F-4D97-AF65-F5344CB8AC3E}">
        <p14:creationId xmlns:p14="http://schemas.microsoft.com/office/powerpoint/2010/main" val="136212536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 Django REST Framework, the serializers.py file plays a key role in converting complex data — such as Django model instances — into formats like JSON, which can be sent over the web. </a:t>
            </a:r>
          </a:p>
          <a:p>
            <a:endParaRPr lang="en-US"/>
          </a:p>
          <a:p>
            <a:r>
              <a:rPr lang="en-US"/>
              <a:t>It also works the other way around, converting incoming JSON data into Python objects that can be saved into the database.</a:t>
            </a:r>
          </a:p>
          <a:p>
            <a:endParaRPr lang="en-US"/>
          </a:p>
          <a:p>
            <a:pPr>
              <a:buNone/>
            </a:pPr>
            <a:r>
              <a:rPr lang="en-US"/>
              <a:t>This serializer can now be used in your views to</a:t>
            </a:r>
          </a:p>
          <a:p>
            <a:pPr>
              <a:buNone/>
            </a:pPr>
            <a:endParaRPr lang="en-US"/>
          </a:p>
          <a:p>
            <a:pPr>
              <a:buFont typeface="Arial" panose="020B0604020202020204" pitchFamily="34" charset="0"/>
              <a:buNone/>
            </a:pPr>
            <a:r>
              <a:rPr lang="en-US"/>
              <a:t>Convert sensor data from the database into JSON for API responses.</a:t>
            </a:r>
          </a:p>
          <a:p>
            <a:pPr>
              <a:buFont typeface="Arial" panose="020B0604020202020204" pitchFamily="34" charset="0"/>
              <a:buNone/>
            </a:pPr>
            <a:endParaRPr lang="en-US"/>
          </a:p>
          <a:p>
            <a:pPr>
              <a:buFont typeface="Arial" panose="020B0604020202020204" pitchFamily="34" charset="0"/>
              <a:buNone/>
            </a:pPr>
            <a:r>
              <a:rPr lang="en-US"/>
              <a:t>Validate incoming POST requests from IoT devices before saving them</a:t>
            </a:r>
          </a:p>
          <a:p>
            <a:endParaRPr lang="en-US"/>
          </a:p>
        </p:txBody>
      </p:sp>
      <p:sp>
        <p:nvSpPr>
          <p:cNvPr id="4" name="Slide Number Placeholder 3"/>
          <p:cNvSpPr>
            <a:spLocks noGrp="1"/>
          </p:cNvSpPr>
          <p:nvPr>
            <p:ph type="sldNum" sz="quarter" idx="5"/>
          </p:nvPr>
        </p:nvSpPr>
        <p:spPr/>
        <p:txBody>
          <a:bodyPr/>
          <a:lstStyle/>
          <a:p>
            <a:fld id="{AA563587-8ABA-4622-A195-1FC809463A2F}" type="slidenum">
              <a:rPr lang="en-US" smtClean="0"/>
              <a:t>20</a:t>
            </a:fld>
            <a:endParaRPr lang="en-US"/>
          </a:p>
        </p:txBody>
      </p:sp>
    </p:spTree>
    <p:extLst>
      <p:ext uri="{BB962C8B-B14F-4D97-AF65-F5344CB8AC3E}">
        <p14:creationId xmlns:p14="http://schemas.microsoft.com/office/powerpoint/2010/main" val="58504780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Let’s run the development server and send a data to the server using curl.</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p>
          <a:p>
            <a:pPr marL="0" marR="0" lvl="0" indent="0" algn="l" defTabSz="914400" rtl="0" eaLnBrk="1" fontAlgn="auto" latinLnBrk="0" hangingPunct="1">
              <a:lnSpc>
                <a:spcPct val="100000"/>
              </a:lnSpc>
              <a:spcBef>
                <a:spcPts val="0"/>
              </a:spcBef>
              <a:spcAft>
                <a:spcPts val="0"/>
              </a:spcAft>
              <a:buClrTx/>
              <a:buSzTx/>
              <a:buFontTx/>
              <a:buNone/>
              <a:tabLst/>
              <a:defRPr/>
            </a:pPr>
            <a:r>
              <a:rPr lang="en-US"/>
              <a:t>Copy and paste the curl command in the CMD window to send the data using curl.</a:t>
            </a:r>
          </a:p>
        </p:txBody>
      </p:sp>
      <p:sp>
        <p:nvSpPr>
          <p:cNvPr id="4" name="Slide Number Placeholder 3"/>
          <p:cNvSpPr>
            <a:spLocks noGrp="1"/>
          </p:cNvSpPr>
          <p:nvPr>
            <p:ph type="sldNum" sz="quarter" idx="5"/>
          </p:nvPr>
        </p:nvSpPr>
        <p:spPr/>
        <p:txBody>
          <a:bodyPr/>
          <a:lstStyle/>
          <a:p>
            <a:fld id="{AA563587-8ABA-4622-A195-1FC809463A2F}" type="slidenum">
              <a:rPr lang="en-US" smtClean="0"/>
              <a:t>21</a:t>
            </a:fld>
            <a:endParaRPr lang="en-US"/>
          </a:p>
        </p:txBody>
      </p:sp>
    </p:spTree>
    <p:extLst>
      <p:ext uri="{BB962C8B-B14F-4D97-AF65-F5344CB8AC3E}">
        <p14:creationId xmlns:p14="http://schemas.microsoft.com/office/powerpoint/2010/main" val="63289352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In the web browser, </a:t>
            </a:r>
            <a:r>
              <a:rPr lang="en-US" sz="1200">
                <a:solidFill>
                  <a:schemeClr val="bg1"/>
                </a:solidFill>
              </a:rPr>
              <a:t>visit http://127.0.0.1:8000/device/device01</a:t>
            </a:r>
            <a:endParaRPr lang="en-US"/>
          </a:p>
          <a:p>
            <a:endParaRPr lang="en-US"/>
          </a:p>
          <a:p>
            <a:r>
              <a:rPr lang="en-US"/>
              <a:t>It will show the temperature and humidity as shown in the slide.</a:t>
            </a:r>
          </a:p>
        </p:txBody>
      </p:sp>
      <p:sp>
        <p:nvSpPr>
          <p:cNvPr id="4" name="Slide Number Placeholder 3"/>
          <p:cNvSpPr>
            <a:spLocks noGrp="1"/>
          </p:cNvSpPr>
          <p:nvPr>
            <p:ph type="sldNum" sz="quarter" idx="5"/>
          </p:nvPr>
        </p:nvSpPr>
        <p:spPr/>
        <p:txBody>
          <a:bodyPr/>
          <a:lstStyle/>
          <a:p>
            <a:fld id="{AA563587-8ABA-4622-A195-1FC809463A2F}" type="slidenum">
              <a:rPr lang="en-US" smtClean="0"/>
              <a:t>22</a:t>
            </a:fld>
            <a:endParaRPr lang="en-US"/>
          </a:p>
        </p:txBody>
      </p:sp>
    </p:spTree>
    <p:extLst>
      <p:ext uri="{BB962C8B-B14F-4D97-AF65-F5344CB8AC3E}">
        <p14:creationId xmlns:p14="http://schemas.microsoft.com/office/powerpoint/2010/main" val="38541688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If we want graphical display of temperature and humidity, we may add sensor_gauge_view function in the view.py and add a path pattern in urls.py.</a:t>
            </a:r>
          </a:p>
          <a:p>
            <a:endParaRPr lang="en-US"/>
          </a:p>
          <a:p>
            <a:r>
              <a:rPr lang="en-US"/>
              <a:t>You may refer the source code at github.</a:t>
            </a:r>
          </a:p>
        </p:txBody>
      </p:sp>
      <p:sp>
        <p:nvSpPr>
          <p:cNvPr id="4" name="Slide Number Placeholder 3"/>
          <p:cNvSpPr>
            <a:spLocks noGrp="1"/>
          </p:cNvSpPr>
          <p:nvPr>
            <p:ph type="sldNum" sz="quarter" idx="5"/>
          </p:nvPr>
        </p:nvSpPr>
        <p:spPr/>
        <p:txBody>
          <a:bodyPr/>
          <a:lstStyle/>
          <a:p>
            <a:fld id="{AA563587-8ABA-4622-A195-1FC809463A2F}" type="slidenum">
              <a:rPr lang="en-US" smtClean="0"/>
              <a:t>23</a:t>
            </a:fld>
            <a:endParaRPr lang="en-US"/>
          </a:p>
        </p:txBody>
      </p:sp>
    </p:spTree>
    <p:extLst>
      <p:ext uri="{BB962C8B-B14F-4D97-AF65-F5344CB8AC3E}">
        <p14:creationId xmlns:p14="http://schemas.microsoft.com/office/powerpoint/2010/main" val="329963537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In summary,</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p>
          <a:p>
            <a:pPr marL="0" marR="0" lvl="0" indent="0" algn="l" defTabSz="914400" rtl="0" eaLnBrk="1" fontAlgn="auto" latinLnBrk="0" hangingPunct="1">
              <a:lnSpc>
                <a:spcPct val="100000"/>
              </a:lnSpc>
              <a:spcBef>
                <a:spcPts val="0"/>
              </a:spcBef>
              <a:spcAft>
                <a:spcPts val="0"/>
              </a:spcAft>
              <a:buClrTx/>
              <a:buSzTx/>
              <a:buFontTx/>
              <a:buNone/>
              <a:tabLst/>
              <a:defRPr/>
            </a:pPr>
            <a:r>
              <a:rPr lang="en-US"/>
              <a:t>We have used django-admin startproject command for creating its default directory structure and essential configuration files.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p>
          <a:p>
            <a:pPr marL="0" marR="0" lvl="0" indent="0" algn="l" defTabSz="914400" rtl="0" eaLnBrk="1" fontAlgn="auto" latinLnBrk="0" hangingPunct="1">
              <a:lnSpc>
                <a:spcPct val="100000"/>
              </a:lnSpc>
              <a:spcBef>
                <a:spcPts val="0"/>
              </a:spcBef>
              <a:spcAft>
                <a:spcPts val="0"/>
              </a:spcAft>
              <a:buClrTx/>
              <a:buSzTx/>
              <a:buFontTx/>
              <a:buNone/>
              <a:tabLst/>
              <a:defRPr/>
            </a:pPr>
            <a:r>
              <a:rPr lang="en-US"/>
              <a:t>We have used python manage.py startapp command to set up the foundational files and folders needed for a new Django app.</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p>
          <a:p>
            <a:pPr marL="0" marR="0" lvl="0" indent="0" algn="l" defTabSz="914400" rtl="0" eaLnBrk="1" fontAlgn="auto" latinLnBrk="0" hangingPunct="1">
              <a:lnSpc>
                <a:spcPct val="100000"/>
              </a:lnSpc>
              <a:spcBef>
                <a:spcPts val="0"/>
              </a:spcBef>
              <a:spcAft>
                <a:spcPts val="0"/>
              </a:spcAft>
              <a:buClrTx/>
              <a:buSzTx/>
              <a:buFontTx/>
              <a:buNone/>
              <a:tabLst/>
              <a:defRPr/>
            </a:pPr>
            <a:r>
              <a:rPr lang="en-US"/>
              <a:t>python manage.py makemigrations generated migration files to record changes made to our models in models.py.</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p>
          <a:p>
            <a:pPr marL="0" marR="0" lvl="0" indent="0" algn="l" defTabSz="914400" rtl="0" eaLnBrk="1" fontAlgn="auto" latinLnBrk="0" hangingPunct="1">
              <a:lnSpc>
                <a:spcPct val="100000"/>
              </a:lnSpc>
              <a:spcBef>
                <a:spcPts val="0"/>
              </a:spcBef>
              <a:spcAft>
                <a:spcPts val="0"/>
              </a:spcAft>
              <a:buClrTx/>
              <a:buSzTx/>
              <a:buFontTx/>
              <a:buNone/>
              <a:tabLst/>
              <a:defRPr/>
            </a:pPr>
            <a:r>
              <a:rPr lang="en-US"/>
              <a:t>And finally, python manage.py migrate takes those migration files and applies them to the actual database, creating or modifying tables as needed.</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p>
          <a:p>
            <a:pPr marL="0" marR="0" lvl="0" indent="0" algn="l" defTabSz="914400" rtl="0" eaLnBrk="1" fontAlgn="auto" latinLnBrk="0" hangingPunct="1">
              <a:lnSpc>
                <a:spcPct val="100000"/>
              </a:lnSpc>
              <a:spcBef>
                <a:spcPts val="0"/>
              </a:spcBef>
              <a:spcAft>
                <a:spcPts val="0"/>
              </a:spcAft>
              <a:buClrTx/>
              <a:buSzTx/>
              <a:buFontTx/>
              <a:buNone/>
              <a:tabLst/>
              <a:defRPr/>
            </a:pPr>
            <a:r>
              <a:rPr lang="en-US"/>
              <a:t>AI tools such as ChatGPT can be used to get assistance in developing Django web application.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p>
          <a:p>
            <a:pPr marL="0" marR="0" lvl="0" indent="0" algn="l" defTabSz="914400" rtl="0" eaLnBrk="1" fontAlgn="auto" latinLnBrk="0" hangingPunct="1">
              <a:lnSpc>
                <a:spcPct val="100000"/>
              </a:lnSpc>
              <a:spcBef>
                <a:spcPts val="0"/>
              </a:spcBef>
              <a:spcAft>
                <a:spcPts val="0"/>
              </a:spcAft>
              <a:buClrTx/>
              <a:buSzTx/>
              <a:buFontTx/>
              <a:buNone/>
              <a:tabLst/>
              <a:defRPr/>
            </a:pPr>
            <a:r>
              <a:rPr lang="en-US"/>
              <a:t>Thank you for your attention.</a:t>
            </a:r>
          </a:p>
        </p:txBody>
      </p:sp>
      <p:sp>
        <p:nvSpPr>
          <p:cNvPr id="4" name="Slide Number Placeholder 3"/>
          <p:cNvSpPr>
            <a:spLocks noGrp="1"/>
          </p:cNvSpPr>
          <p:nvPr>
            <p:ph type="sldNum" sz="quarter" idx="5"/>
          </p:nvPr>
        </p:nvSpPr>
        <p:spPr/>
        <p:txBody>
          <a:bodyPr/>
          <a:lstStyle/>
          <a:p>
            <a:fld id="{AA563587-8ABA-4622-A195-1FC809463A2F}" type="slidenum">
              <a:rPr lang="en-US" smtClean="0"/>
              <a:t>24</a:t>
            </a:fld>
            <a:endParaRPr lang="en-US"/>
          </a:p>
        </p:txBody>
      </p:sp>
    </p:spTree>
    <p:extLst>
      <p:ext uri="{BB962C8B-B14F-4D97-AF65-F5344CB8AC3E}">
        <p14:creationId xmlns:p14="http://schemas.microsoft.com/office/powerpoint/2010/main" val="301986439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E0A3ED-CF83-22D6-5B7F-79723B64E24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4A90C604-0FE0-4144-A4B3-E1311146D0C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67504E9-AE36-C1D2-941E-4845D98B81C8}"/>
              </a:ext>
            </a:extLst>
          </p:cNvPr>
          <p:cNvSpPr>
            <a:spLocks noGrp="1"/>
          </p:cNvSpPr>
          <p:nvPr>
            <p:ph type="dt" sz="half" idx="10"/>
          </p:nvPr>
        </p:nvSpPr>
        <p:spPr/>
        <p:txBody>
          <a:bodyPr/>
          <a:lstStyle/>
          <a:p>
            <a:fld id="{2FE1C341-444E-49DC-8FD9-3A56DA6D1B79}" type="datetimeFigureOut">
              <a:rPr lang="en-US" smtClean="0"/>
              <a:t>5/20/2025</a:t>
            </a:fld>
            <a:endParaRPr lang="en-US"/>
          </a:p>
        </p:txBody>
      </p:sp>
      <p:sp>
        <p:nvSpPr>
          <p:cNvPr id="5" name="Footer Placeholder 4">
            <a:extLst>
              <a:ext uri="{FF2B5EF4-FFF2-40B4-BE49-F238E27FC236}">
                <a16:creationId xmlns:a16="http://schemas.microsoft.com/office/drawing/2014/main" id="{1A7C5FB8-DDBF-E313-A964-4DF85CA2BE4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B9D5BE4-04A3-60A8-FF71-601E0DD756FB}"/>
              </a:ext>
            </a:extLst>
          </p:cNvPr>
          <p:cNvSpPr>
            <a:spLocks noGrp="1"/>
          </p:cNvSpPr>
          <p:nvPr>
            <p:ph type="sldNum" sz="quarter" idx="12"/>
          </p:nvPr>
        </p:nvSpPr>
        <p:spPr/>
        <p:txBody>
          <a:bodyPr/>
          <a:lstStyle/>
          <a:p>
            <a:fld id="{8B85FFC7-AFA2-4582-A483-AD43FF120B38}" type="slidenum">
              <a:rPr lang="en-US" smtClean="0"/>
              <a:t>‹#›</a:t>
            </a:fld>
            <a:endParaRPr lang="en-US"/>
          </a:p>
        </p:txBody>
      </p:sp>
    </p:spTree>
    <p:extLst>
      <p:ext uri="{BB962C8B-B14F-4D97-AF65-F5344CB8AC3E}">
        <p14:creationId xmlns:p14="http://schemas.microsoft.com/office/powerpoint/2010/main" val="41048842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4CD9D1-B714-DE9A-8290-E606A83F448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D587E0F-8446-5DEB-8EA3-C9495FBDD43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55CF911-7A14-B04A-DF13-C6A8BD8F53B1}"/>
              </a:ext>
            </a:extLst>
          </p:cNvPr>
          <p:cNvSpPr>
            <a:spLocks noGrp="1"/>
          </p:cNvSpPr>
          <p:nvPr>
            <p:ph type="dt" sz="half" idx="10"/>
          </p:nvPr>
        </p:nvSpPr>
        <p:spPr/>
        <p:txBody>
          <a:bodyPr/>
          <a:lstStyle/>
          <a:p>
            <a:fld id="{2FE1C341-444E-49DC-8FD9-3A56DA6D1B79}" type="datetimeFigureOut">
              <a:rPr lang="en-US" smtClean="0"/>
              <a:t>5/20/2025</a:t>
            </a:fld>
            <a:endParaRPr lang="en-US"/>
          </a:p>
        </p:txBody>
      </p:sp>
      <p:sp>
        <p:nvSpPr>
          <p:cNvPr id="5" name="Footer Placeholder 4">
            <a:extLst>
              <a:ext uri="{FF2B5EF4-FFF2-40B4-BE49-F238E27FC236}">
                <a16:creationId xmlns:a16="http://schemas.microsoft.com/office/drawing/2014/main" id="{10BF2C12-8053-62ED-E6EB-095E1A7ECA2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3599395-8934-9DFE-5F6C-E616C266F501}"/>
              </a:ext>
            </a:extLst>
          </p:cNvPr>
          <p:cNvSpPr>
            <a:spLocks noGrp="1"/>
          </p:cNvSpPr>
          <p:nvPr>
            <p:ph type="sldNum" sz="quarter" idx="12"/>
          </p:nvPr>
        </p:nvSpPr>
        <p:spPr/>
        <p:txBody>
          <a:bodyPr/>
          <a:lstStyle/>
          <a:p>
            <a:fld id="{8B85FFC7-AFA2-4582-A483-AD43FF120B38}" type="slidenum">
              <a:rPr lang="en-US" smtClean="0"/>
              <a:t>‹#›</a:t>
            </a:fld>
            <a:endParaRPr lang="en-US"/>
          </a:p>
        </p:txBody>
      </p:sp>
    </p:spTree>
    <p:extLst>
      <p:ext uri="{BB962C8B-B14F-4D97-AF65-F5344CB8AC3E}">
        <p14:creationId xmlns:p14="http://schemas.microsoft.com/office/powerpoint/2010/main" val="4146633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F39217-C541-CC70-1432-D98BE2186F8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9A691F7-D6E8-9A00-7B04-6E6843201BE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7320C00-B82E-2FD8-0DED-2BA912F245C8}"/>
              </a:ext>
            </a:extLst>
          </p:cNvPr>
          <p:cNvSpPr>
            <a:spLocks noGrp="1"/>
          </p:cNvSpPr>
          <p:nvPr>
            <p:ph type="dt" sz="half" idx="10"/>
          </p:nvPr>
        </p:nvSpPr>
        <p:spPr/>
        <p:txBody>
          <a:bodyPr/>
          <a:lstStyle/>
          <a:p>
            <a:fld id="{2FE1C341-444E-49DC-8FD9-3A56DA6D1B79}" type="datetimeFigureOut">
              <a:rPr lang="en-US" smtClean="0"/>
              <a:t>5/20/2025</a:t>
            </a:fld>
            <a:endParaRPr lang="en-US"/>
          </a:p>
        </p:txBody>
      </p:sp>
      <p:sp>
        <p:nvSpPr>
          <p:cNvPr id="5" name="Footer Placeholder 4">
            <a:extLst>
              <a:ext uri="{FF2B5EF4-FFF2-40B4-BE49-F238E27FC236}">
                <a16:creationId xmlns:a16="http://schemas.microsoft.com/office/drawing/2014/main" id="{F9A8F82A-80C5-8A20-06CC-BA7C6A8939F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72D4845-23A9-19D6-A72D-7E02046F2E60}"/>
              </a:ext>
            </a:extLst>
          </p:cNvPr>
          <p:cNvSpPr>
            <a:spLocks noGrp="1"/>
          </p:cNvSpPr>
          <p:nvPr>
            <p:ph type="sldNum" sz="quarter" idx="12"/>
          </p:nvPr>
        </p:nvSpPr>
        <p:spPr/>
        <p:txBody>
          <a:bodyPr/>
          <a:lstStyle/>
          <a:p>
            <a:fld id="{8B85FFC7-AFA2-4582-A483-AD43FF120B38}" type="slidenum">
              <a:rPr lang="en-US" smtClean="0"/>
              <a:t>‹#›</a:t>
            </a:fld>
            <a:endParaRPr lang="en-US"/>
          </a:p>
        </p:txBody>
      </p:sp>
    </p:spTree>
    <p:extLst>
      <p:ext uri="{BB962C8B-B14F-4D97-AF65-F5344CB8AC3E}">
        <p14:creationId xmlns:p14="http://schemas.microsoft.com/office/powerpoint/2010/main" val="13490331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ADFDF8-74F7-346A-9A8C-13A400FD6BC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E674645-6D34-3161-B4D7-C92F261E67E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C412653-147E-2A6D-FD85-496716F97C5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11BE970-6F77-35A4-918C-090C63EDC296}"/>
              </a:ext>
            </a:extLst>
          </p:cNvPr>
          <p:cNvSpPr>
            <a:spLocks noGrp="1"/>
          </p:cNvSpPr>
          <p:nvPr>
            <p:ph type="dt" sz="half" idx="10"/>
          </p:nvPr>
        </p:nvSpPr>
        <p:spPr/>
        <p:txBody>
          <a:bodyPr/>
          <a:lstStyle/>
          <a:p>
            <a:fld id="{2FE1C341-444E-49DC-8FD9-3A56DA6D1B79}" type="datetimeFigureOut">
              <a:rPr lang="en-US" smtClean="0"/>
              <a:t>5/20/2025</a:t>
            </a:fld>
            <a:endParaRPr lang="en-US"/>
          </a:p>
        </p:txBody>
      </p:sp>
      <p:sp>
        <p:nvSpPr>
          <p:cNvPr id="6" name="Footer Placeholder 5">
            <a:extLst>
              <a:ext uri="{FF2B5EF4-FFF2-40B4-BE49-F238E27FC236}">
                <a16:creationId xmlns:a16="http://schemas.microsoft.com/office/drawing/2014/main" id="{814067C5-157E-DF3A-CEC5-56DC2930D88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3BC25AF-990A-74EC-7865-8C17C127C3E2}"/>
              </a:ext>
            </a:extLst>
          </p:cNvPr>
          <p:cNvSpPr>
            <a:spLocks noGrp="1"/>
          </p:cNvSpPr>
          <p:nvPr>
            <p:ph type="sldNum" sz="quarter" idx="12"/>
          </p:nvPr>
        </p:nvSpPr>
        <p:spPr/>
        <p:txBody>
          <a:bodyPr/>
          <a:lstStyle/>
          <a:p>
            <a:fld id="{8B85FFC7-AFA2-4582-A483-AD43FF120B38}" type="slidenum">
              <a:rPr lang="en-US" smtClean="0"/>
              <a:t>‹#›</a:t>
            </a:fld>
            <a:endParaRPr lang="en-US"/>
          </a:p>
        </p:txBody>
      </p:sp>
    </p:spTree>
    <p:extLst>
      <p:ext uri="{BB962C8B-B14F-4D97-AF65-F5344CB8AC3E}">
        <p14:creationId xmlns:p14="http://schemas.microsoft.com/office/powerpoint/2010/main" val="17889095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E2175D-8258-1D59-598A-D4A419700F2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37BA64F-05BC-16E7-8B75-70C69B34BBD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B1C68EA-256D-43EB-E9E5-7B441BDA7B4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19D758B-E5A2-31B9-971D-46BC17CFC26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5A582A9-FB3D-C1A9-B5D0-94432AFD4DA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22E170E-57EA-7072-46FD-3F0861964C88}"/>
              </a:ext>
            </a:extLst>
          </p:cNvPr>
          <p:cNvSpPr>
            <a:spLocks noGrp="1"/>
          </p:cNvSpPr>
          <p:nvPr>
            <p:ph type="dt" sz="half" idx="10"/>
          </p:nvPr>
        </p:nvSpPr>
        <p:spPr/>
        <p:txBody>
          <a:bodyPr/>
          <a:lstStyle/>
          <a:p>
            <a:fld id="{2FE1C341-444E-49DC-8FD9-3A56DA6D1B79}" type="datetimeFigureOut">
              <a:rPr lang="en-US" smtClean="0"/>
              <a:t>5/20/2025</a:t>
            </a:fld>
            <a:endParaRPr lang="en-US"/>
          </a:p>
        </p:txBody>
      </p:sp>
      <p:sp>
        <p:nvSpPr>
          <p:cNvPr id="8" name="Footer Placeholder 7">
            <a:extLst>
              <a:ext uri="{FF2B5EF4-FFF2-40B4-BE49-F238E27FC236}">
                <a16:creationId xmlns:a16="http://schemas.microsoft.com/office/drawing/2014/main" id="{22AFFA2A-309C-8743-EB51-49253AF5186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6236AD0-5981-6144-D9A6-8953B81B5702}"/>
              </a:ext>
            </a:extLst>
          </p:cNvPr>
          <p:cNvSpPr>
            <a:spLocks noGrp="1"/>
          </p:cNvSpPr>
          <p:nvPr>
            <p:ph type="sldNum" sz="quarter" idx="12"/>
          </p:nvPr>
        </p:nvSpPr>
        <p:spPr/>
        <p:txBody>
          <a:bodyPr/>
          <a:lstStyle/>
          <a:p>
            <a:fld id="{8B85FFC7-AFA2-4582-A483-AD43FF120B38}" type="slidenum">
              <a:rPr lang="en-US" smtClean="0"/>
              <a:t>‹#›</a:t>
            </a:fld>
            <a:endParaRPr lang="en-US"/>
          </a:p>
        </p:txBody>
      </p:sp>
    </p:spTree>
    <p:extLst>
      <p:ext uri="{BB962C8B-B14F-4D97-AF65-F5344CB8AC3E}">
        <p14:creationId xmlns:p14="http://schemas.microsoft.com/office/powerpoint/2010/main" val="41369573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B4A094-F9B2-B3E4-5623-6469AD23ACE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548FE85-F13B-41C2-6B0E-2610E6C83DCA}"/>
              </a:ext>
            </a:extLst>
          </p:cNvPr>
          <p:cNvSpPr>
            <a:spLocks noGrp="1"/>
          </p:cNvSpPr>
          <p:nvPr>
            <p:ph type="dt" sz="half" idx="10"/>
          </p:nvPr>
        </p:nvSpPr>
        <p:spPr/>
        <p:txBody>
          <a:bodyPr/>
          <a:lstStyle/>
          <a:p>
            <a:fld id="{2FE1C341-444E-49DC-8FD9-3A56DA6D1B79}" type="datetimeFigureOut">
              <a:rPr lang="en-US" smtClean="0"/>
              <a:t>5/20/2025</a:t>
            </a:fld>
            <a:endParaRPr lang="en-US"/>
          </a:p>
        </p:txBody>
      </p:sp>
      <p:sp>
        <p:nvSpPr>
          <p:cNvPr id="4" name="Footer Placeholder 3">
            <a:extLst>
              <a:ext uri="{FF2B5EF4-FFF2-40B4-BE49-F238E27FC236}">
                <a16:creationId xmlns:a16="http://schemas.microsoft.com/office/drawing/2014/main" id="{9CDD461A-13A4-C5D1-24B8-E6F32228CBF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3C0A698-58BD-B303-E2AF-1403F5F93616}"/>
              </a:ext>
            </a:extLst>
          </p:cNvPr>
          <p:cNvSpPr>
            <a:spLocks noGrp="1"/>
          </p:cNvSpPr>
          <p:nvPr>
            <p:ph type="sldNum" sz="quarter" idx="12"/>
          </p:nvPr>
        </p:nvSpPr>
        <p:spPr/>
        <p:txBody>
          <a:bodyPr/>
          <a:lstStyle/>
          <a:p>
            <a:fld id="{8B85FFC7-AFA2-4582-A483-AD43FF120B38}" type="slidenum">
              <a:rPr lang="en-US" smtClean="0"/>
              <a:t>‹#›</a:t>
            </a:fld>
            <a:endParaRPr lang="en-US"/>
          </a:p>
        </p:txBody>
      </p:sp>
    </p:spTree>
    <p:extLst>
      <p:ext uri="{BB962C8B-B14F-4D97-AF65-F5344CB8AC3E}">
        <p14:creationId xmlns:p14="http://schemas.microsoft.com/office/powerpoint/2010/main" val="42502932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082F1DB-86F3-DB24-2A80-192437AE8871}"/>
              </a:ext>
            </a:extLst>
          </p:cNvPr>
          <p:cNvSpPr>
            <a:spLocks noGrp="1"/>
          </p:cNvSpPr>
          <p:nvPr>
            <p:ph type="dt" sz="half" idx="10"/>
          </p:nvPr>
        </p:nvSpPr>
        <p:spPr/>
        <p:txBody>
          <a:bodyPr/>
          <a:lstStyle/>
          <a:p>
            <a:fld id="{2FE1C341-444E-49DC-8FD9-3A56DA6D1B79}" type="datetimeFigureOut">
              <a:rPr lang="en-US" smtClean="0"/>
              <a:t>5/20/2025</a:t>
            </a:fld>
            <a:endParaRPr lang="en-US"/>
          </a:p>
        </p:txBody>
      </p:sp>
      <p:sp>
        <p:nvSpPr>
          <p:cNvPr id="3" name="Footer Placeholder 2">
            <a:extLst>
              <a:ext uri="{FF2B5EF4-FFF2-40B4-BE49-F238E27FC236}">
                <a16:creationId xmlns:a16="http://schemas.microsoft.com/office/drawing/2014/main" id="{9575DD0E-FC3E-A8C1-EED5-4174337406D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F3B3321-EDD8-95BE-F7BD-EB1BF1E53A1B}"/>
              </a:ext>
            </a:extLst>
          </p:cNvPr>
          <p:cNvSpPr>
            <a:spLocks noGrp="1"/>
          </p:cNvSpPr>
          <p:nvPr>
            <p:ph type="sldNum" sz="quarter" idx="12"/>
          </p:nvPr>
        </p:nvSpPr>
        <p:spPr/>
        <p:txBody>
          <a:bodyPr/>
          <a:lstStyle/>
          <a:p>
            <a:fld id="{8B85FFC7-AFA2-4582-A483-AD43FF120B38}" type="slidenum">
              <a:rPr lang="en-US" smtClean="0"/>
              <a:t>‹#›</a:t>
            </a:fld>
            <a:endParaRPr lang="en-US"/>
          </a:p>
        </p:txBody>
      </p:sp>
    </p:spTree>
    <p:extLst>
      <p:ext uri="{BB962C8B-B14F-4D97-AF65-F5344CB8AC3E}">
        <p14:creationId xmlns:p14="http://schemas.microsoft.com/office/powerpoint/2010/main" val="8614084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024BF6-24C1-56E3-F47E-0B0780B5B08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B28AE8B-A3ED-39D9-2043-25CE61FD488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F6317E2-41A5-6A0C-0905-F741E997D1E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4C82DCB-EDF2-8CD1-9F55-41201DA09F96}"/>
              </a:ext>
            </a:extLst>
          </p:cNvPr>
          <p:cNvSpPr>
            <a:spLocks noGrp="1"/>
          </p:cNvSpPr>
          <p:nvPr>
            <p:ph type="dt" sz="half" idx="10"/>
          </p:nvPr>
        </p:nvSpPr>
        <p:spPr/>
        <p:txBody>
          <a:bodyPr/>
          <a:lstStyle/>
          <a:p>
            <a:fld id="{2FE1C341-444E-49DC-8FD9-3A56DA6D1B79}" type="datetimeFigureOut">
              <a:rPr lang="en-US" smtClean="0"/>
              <a:t>5/20/2025</a:t>
            </a:fld>
            <a:endParaRPr lang="en-US"/>
          </a:p>
        </p:txBody>
      </p:sp>
      <p:sp>
        <p:nvSpPr>
          <p:cNvPr id="6" name="Footer Placeholder 5">
            <a:extLst>
              <a:ext uri="{FF2B5EF4-FFF2-40B4-BE49-F238E27FC236}">
                <a16:creationId xmlns:a16="http://schemas.microsoft.com/office/drawing/2014/main" id="{AA263A12-2710-BF0C-7739-57090CDFD35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989C08E-20B9-A56B-EB99-F7794BC05D1D}"/>
              </a:ext>
            </a:extLst>
          </p:cNvPr>
          <p:cNvSpPr>
            <a:spLocks noGrp="1"/>
          </p:cNvSpPr>
          <p:nvPr>
            <p:ph type="sldNum" sz="quarter" idx="12"/>
          </p:nvPr>
        </p:nvSpPr>
        <p:spPr/>
        <p:txBody>
          <a:bodyPr/>
          <a:lstStyle/>
          <a:p>
            <a:fld id="{8B85FFC7-AFA2-4582-A483-AD43FF120B38}" type="slidenum">
              <a:rPr lang="en-US" smtClean="0"/>
              <a:t>‹#›</a:t>
            </a:fld>
            <a:endParaRPr lang="en-US"/>
          </a:p>
        </p:txBody>
      </p:sp>
    </p:spTree>
    <p:extLst>
      <p:ext uri="{BB962C8B-B14F-4D97-AF65-F5344CB8AC3E}">
        <p14:creationId xmlns:p14="http://schemas.microsoft.com/office/powerpoint/2010/main" val="34198121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2A7EA8-2B59-6A69-D7A3-9FE1BEAE3BF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CF0A8AD-1D58-5760-EF93-1B773099CF7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20BD946-7759-1550-99F7-7B70031DC66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B7C2D23-CE12-B08D-E100-C42BF3EEAAF6}"/>
              </a:ext>
            </a:extLst>
          </p:cNvPr>
          <p:cNvSpPr>
            <a:spLocks noGrp="1"/>
          </p:cNvSpPr>
          <p:nvPr>
            <p:ph type="dt" sz="half" idx="10"/>
          </p:nvPr>
        </p:nvSpPr>
        <p:spPr/>
        <p:txBody>
          <a:bodyPr/>
          <a:lstStyle/>
          <a:p>
            <a:fld id="{2FE1C341-444E-49DC-8FD9-3A56DA6D1B79}" type="datetimeFigureOut">
              <a:rPr lang="en-US" smtClean="0"/>
              <a:t>5/20/2025</a:t>
            </a:fld>
            <a:endParaRPr lang="en-US"/>
          </a:p>
        </p:txBody>
      </p:sp>
      <p:sp>
        <p:nvSpPr>
          <p:cNvPr id="6" name="Footer Placeholder 5">
            <a:extLst>
              <a:ext uri="{FF2B5EF4-FFF2-40B4-BE49-F238E27FC236}">
                <a16:creationId xmlns:a16="http://schemas.microsoft.com/office/drawing/2014/main" id="{CBCF9AE3-DBB0-D924-B3CA-93D6D509BA6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9C163FE-5D8F-4234-EBE4-6D9F0927B5B1}"/>
              </a:ext>
            </a:extLst>
          </p:cNvPr>
          <p:cNvSpPr>
            <a:spLocks noGrp="1"/>
          </p:cNvSpPr>
          <p:nvPr>
            <p:ph type="sldNum" sz="quarter" idx="12"/>
          </p:nvPr>
        </p:nvSpPr>
        <p:spPr/>
        <p:txBody>
          <a:bodyPr/>
          <a:lstStyle/>
          <a:p>
            <a:fld id="{8B85FFC7-AFA2-4582-A483-AD43FF120B38}" type="slidenum">
              <a:rPr lang="en-US" smtClean="0"/>
              <a:t>‹#›</a:t>
            </a:fld>
            <a:endParaRPr lang="en-US"/>
          </a:p>
        </p:txBody>
      </p:sp>
    </p:spTree>
    <p:extLst>
      <p:ext uri="{BB962C8B-B14F-4D97-AF65-F5344CB8AC3E}">
        <p14:creationId xmlns:p14="http://schemas.microsoft.com/office/powerpoint/2010/main" val="21497417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525CE4-7C6A-1399-AF5E-83A21C483A5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53A99C4-3B6A-3283-0A15-0B3D56813F3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3EF9BFB-C983-89B0-81D3-801AE7DA8567}"/>
              </a:ext>
            </a:extLst>
          </p:cNvPr>
          <p:cNvSpPr>
            <a:spLocks noGrp="1"/>
          </p:cNvSpPr>
          <p:nvPr>
            <p:ph type="dt" sz="half" idx="10"/>
          </p:nvPr>
        </p:nvSpPr>
        <p:spPr/>
        <p:txBody>
          <a:bodyPr/>
          <a:lstStyle/>
          <a:p>
            <a:fld id="{2FE1C341-444E-49DC-8FD9-3A56DA6D1B79}" type="datetimeFigureOut">
              <a:rPr lang="en-US" smtClean="0"/>
              <a:t>5/20/2025</a:t>
            </a:fld>
            <a:endParaRPr lang="en-US"/>
          </a:p>
        </p:txBody>
      </p:sp>
      <p:sp>
        <p:nvSpPr>
          <p:cNvPr id="5" name="Footer Placeholder 4">
            <a:extLst>
              <a:ext uri="{FF2B5EF4-FFF2-40B4-BE49-F238E27FC236}">
                <a16:creationId xmlns:a16="http://schemas.microsoft.com/office/drawing/2014/main" id="{77C88AAA-4EE0-CFA3-06D8-B8713BB7004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E4A5B3B-03F1-563B-DECE-F6D8B8F93256}"/>
              </a:ext>
            </a:extLst>
          </p:cNvPr>
          <p:cNvSpPr>
            <a:spLocks noGrp="1"/>
          </p:cNvSpPr>
          <p:nvPr>
            <p:ph type="sldNum" sz="quarter" idx="12"/>
          </p:nvPr>
        </p:nvSpPr>
        <p:spPr/>
        <p:txBody>
          <a:bodyPr/>
          <a:lstStyle/>
          <a:p>
            <a:fld id="{8B85FFC7-AFA2-4582-A483-AD43FF120B38}" type="slidenum">
              <a:rPr lang="en-US" smtClean="0"/>
              <a:t>‹#›</a:t>
            </a:fld>
            <a:endParaRPr lang="en-US"/>
          </a:p>
        </p:txBody>
      </p:sp>
    </p:spTree>
    <p:extLst>
      <p:ext uri="{BB962C8B-B14F-4D97-AF65-F5344CB8AC3E}">
        <p14:creationId xmlns:p14="http://schemas.microsoft.com/office/powerpoint/2010/main" val="314695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7DE209D-965F-6966-C91E-56831EAA1F1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AE25084-BC56-3A7E-139C-FEA00DA1639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CA2D2BB-8500-E40C-15F6-FB420AA84A30}"/>
              </a:ext>
            </a:extLst>
          </p:cNvPr>
          <p:cNvSpPr>
            <a:spLocks noGrp="1"/>
          </p:cNvSpPr>
          <p:nvPr>
            <p:ph type="dt" sz="half" idx="10"/>
          </p:nvPr>
        </p:nvSpPr>
        <p:spPr/>
        <p:txBody>
          <a:bodyPr/>
          <a:lstStyle/>
          <a:p>
            <a:fld id="{2FE1C341-444E-49DC-8FD9-3A56DA6D1B79}" type="datetimeFigureOut">
              <a:rPr lang="en-US" smtClean="0"/>
              <a:t>5/20/2025</a:t>
            </a:fld>
            <a:endParaRPr lang="en-US"/>
          </a:p>
        </p:txBody>
      </p:sp>
      <p:sp>
        <p:nvSpPr>
          <p:cNvPr id="5" name="Footer Placeholder 4">
            <a:extLst>
              <a:ext uri="{FF2B5EF4-FFF2-40B4-BE49-F238E27FC236}">
                <a16:creationId xmlns:a16="http://schemas.microsoft.com/office/drawing/2014/main" id="{2906FB8D-93E4-5FB5-8539-A5AB9DCC2BD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6731236-F742-C256-0F0B-88159E751715}"/>
              </a:ext>
            </a:extLst>
          </p:cNvPr>
          <p:cNvSpPr>
            <a:spLocks noGrp="1"/>
          </p:cNvSpPr>
          <p:nvPr>
            <p:ph type="sldNum" sz="quarter" idx="12"/>
          </p:nvPr>
        </p:nvSpPr>
        <p:spPr/>
        <p:txBody>
          <a:bodyPr/>
          <a:lstStyle/>
          <a:p>
            <a:fld id="{8B85FFC7-AFA2-4582-A483-AD43FF120B38}" type="slidenum">
              <a:rPr lang="en-US" smtClean="0"/>
              <a:t>‹#›</a:t>
            </a:fld>
            <a:endParaRPr lang="en-US"/>
          </a:p>
        </p:txBody>
      </p:sp>
    </p:spTree>
    <p:extLst>
      <p:ext uri="{BB962C8B-B14F-4D97-AF65-F5344CB8AC3E}">
        <p14:creationId xmlns:p14="http://schemas.microsoft.com/office/powerpoint/2010/main" val="8381802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7BD4A2C-8F32-7990-7F5E-DEBEA1A69B9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0466061-FA74-BFDC-41FE-594A367D427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1FF9B60-3571-EED6-7404-5B7A9A43B27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FE1C341-444E-49DC-8FD9-3A56DA6D1B79}" type="datetimeFigureOut">
              <a:rPr lang="en-US" smtClean="0"/>
              <a:t>5/20/2025</a:t>
            </a:fld>
            <a:endParaRPr lang="en-US"/>
          </a:p>
        </p:txBody>
      </p:sp>
      <p:sp>
        <p:nvSpPr>
          <p:cNvPr id="5" name="Footer Placeholder 4">
            <a:extLst>
              <a:ext uri="{FF2B5EF4-FFF2-40B4-BE49-F238E27FC236}">
                <a16:creationId xmlns:a16="http://schemas.microsoft.com/office/drawing/2014/main" id="{7ECE9DC1-4A66-A476-555B-B79112F89F3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16065D48-F2AA-9E56-C887-62BBD4420D7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B85FFC7-AFA2-4582-A483-AD43FF120B38}" type="slidenum">
              <a:rPr lang="en-US" smtClean="0"/>
              <a:t>‹#›</a:t>
            </a:fld>
            <a:endParaRPr lang="en-US"/>
          </a:p>
        </p:txBody>
      </p:sp>
    </p:spTree>
    <p:extLst>
      <p:ext uri="{BB962C8B-B14F-4D97-AF65-F5344CB8AC3E}">
        <p14:creationId xmlns:p14="http://schemas.microsoft.com/office/powerpoint/2010/main" val="280194042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3.xml"/><Relationship Id="rId1" Type="http://schemas.openxmlformats.org/officeDocument/2006/relationships/slideLayout" Target="../slideLayouts/slideLayout5.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24.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AD76F3E-3A97-486B-B402-44400A8B91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92889E0-8281-F2E4-66DD-5A9FEA0C917C}"/>
              </a:ext>
            </a:extLst>
          </p:cNvPr>
          <p:cNvSpPr>
            <a:spLocks noGrp="1"/>
          </p:cNvSpPr>
          <p:nvPr>
            <p:ph type="ctrTitle"/>
          </p:nvPr>
        </p:nvSpPr>
        <p:spPr>
          <a:xfrm>
            <a:off x="838199" y="1093788"/>
            <a:ext cx="10506455" cy="2967208"/>
          </a:xfrm>
        </p:spPr>
        <p:txBody>
          <a:bodyPr>
            <a:normAutofit/>
          </a:bodyPr>
          <a:lstStyle/>
          <a:p>
            <a:pPr algn="l"/>
            <a:r>
              <a:rPr lang="en-US" sz="7400"/>
              <a:t>Developing a Django Web Application for IoT Data</a:t>
            </a:r>
          </a:p>
        </p:txBody>
      </p:sp>
      <p:sp>
        <p:nvSpPr>
          <p:cNvPr id="3" name="Subtitle 2">
            <a:extLst>
              <a:ext uri="{FF2B5EF4-FFF2-40B4-BE49-F238E27FC236}">
                <a16:creationId xmlns:a16="http://schemas.microsoft.com/office/drawing/2014/main" id="{6746E2E2-1A59-1BEE-FE01-9E1B55BA4AA7}"/>
              </a:ext>
            </a:extLst>
          </p:cNvPr>
          <p:cNvSpPr>
            <a:spLocks noGrp="1"/>
          </p:cNvSpPr>
          <p:nvPr>
            <p:ph type="subTitle" idx="1"/>
          </p:nvPr>
        </p:nvSpPr>
        <p:spPr>
          <a:xfrm>
            <a:off x="5067656" y="4619624"/>
            <a:ext cx="6280047" cy="1323976"/>
          </a:xfrm>
        </p:spPr>
        <p:txBody>
          <a:bodyPr>
            <a:normAutofit/>
          </a:bodyPr>
          <a:lstStyle/>
          <a:p>
            <a:pPr algn="r"/>
            <a:r>
              <a:rPr lang="en-US" sz="1600"/>
              <a:t>Developing a Simple Django Web Application in a Local Server</a:t>
            </a:r>
            <a:br>
              <a:rPr lang="en-US" sz="1600"/>
            </a:br>
            <a:endParaRPr lang="en-US" sz="1600"/>
          </a:p>
          <a:p>
            <a:pPr algn="r"/>
            <a:endParaRPr lang="en-US" sz="1500"/>
          </a:p>
          <a:p>
            <a:pPr algn="r"/>
            <a:r>
              <a:rPr lang="en-US" sz="1500"/>
              <a:t>Jong-Dae Park</a:t>
            </a:r>
          </a:p>
        </p:txBody>
      </p:sp>
      <p:sp>
        <p:nvSpPr>
          <p:cNvPr id="10" name="Rectangle 9">
            <a:extLst>
              <a:ext uri="{FF2B5EF4-FFF2-40B4-BE49-F238E27FC236}">
                <a16:creationId xmlns:a16="http://schemas.microsoft.com/office/drawing/2014/main" id="{391F6B52-91F4-4AEB-B6DB-29FEBCF28C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1248" y="4331166"/>
            <a:ext cx="10506456"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2" name="Rectangle 11">
            <a:extLst>
              <a:ext uri="{FF2B5EF4-FFF2-40B4-BE49-F238E27FC236}">
                <a16:creationId xmlns:a16="http://schemas.microsoft.com/office/drawing/2014/main" id="{2CD6F061-7C53-44F4-9794-953DB70A45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9346882" y="2348839"/>
            <a:ext cx="54864" cy="394677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901190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4D7704-00B5-86B2-88ED-F4C4EA5EF5E8}"/>
              </a:ext>
            </a:extLst>
          </p:cNvPr>
          <p:cNvSpPr>
            <a:spLocks noGrp="1"/>
          </p:cNvSpPr>
          <p:nvPr>
            <p:ph type="title"/>
          </p:nvPr>
        </p:nvSpPr>
        <p:spPr/>
        <p:txBody>
          <a:bodyPr/>
          <a:lstStyle/>
          <a:p>
            <a:r>
              <a:rPr lang="en-US"/>
              <a:t>Learning Objectives</a:t>
            </a:r>
          </a:p>
        </p:txBody>
      </p:sp>
      <p:graphicFrame>
        <p:nvGraphicFramePr>
          <p:cNvPr id="5" name="Content Placeholder 2">
            <a:extLst>
              <a:ext uri="{FF2B5EF4-FFF2-40B4-BE49-F238E27FC236}">
                <a16:creationId xmlns:a16="http://schemas.microsoft.com/office/drawing/2014/main" id="{1CB7B558-188D-847C-EE9A-34C9449A36FE}"/>
              </a:ext>
            </a:extLst>
          </p:cNvPr>
          <p:cNvGraphicFramePr>
            <a:graphicFrameLocks noGrp="1"/>
          </p:cNvGraphicFramePr>
          <p:nvPr>
            <p:ph idx="1"/>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2403586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8FAB9C-A195-4D8F-D69E-F4E1ABFD7C4B}"/>
              </a:ext>
            </a:extLst>
          </p:cNvPr>
          <p:cNvSpPr>
            <a:spLocks noGrp="1"/>
          </p:cNvSpPr>
          <p:nvPr>
            <p:ph type="title"/>
          </p:nvPr>
        </p:nvSpPr>
        <p:spPr/>
        <p:txBody>
          <a:bodyPr vert="horz" lIns="91440" tIns="45720" rIns="91440" bIns="45720" rtlCol="0" anchor="b">
            <a:normAutofit/>
          </a:bodyPr>
          <a:lstStyle/>
          <a:p>
            <a:r>
              <a:rPr lang="en-US" sz="8000" kern="1200">
                <a:solidFill>
                  <a:schemeClr val="tx1"/>
                </a:solidFill>
                <a:latin typeface="+mj-lt"/>
                <a:ea typeface="+mj-ea"/>
                <a:cs typeface="+mj-cs"/>
              </a:rPr>
              <a:t>Web Development</a:t>
            </a:r>
          </a:p>
        </p:txBody>
      </p:sp>
      <p:sp>
        <p:nvSpPr>
          <p:cNvPr id="10" name="Text Placeholder 9">
            <a:extLst>
              <a:ext uri="{FF2B5EF4-FFF2-40B4-BE49-F238E27FC236}">
                <a16:creationId xmlns:a16="http://schemas.microsoft.com/office/drawing/2014/main" id="{95DE0358-7D6B-A938-08AE-B92A43448467}"/>
              </a:ext>
            </a:extLst>
          </p:cNvPr>
          <p:cNvSpPr>
            <a:spLocks noGrp="1"/>
          </p:cNvSpPr>
          <p:nvPr>
            <p:ph type="body" idx="1"/>
          </p:nvPr>
        </p:nvSpPr>
        <p:spPr>
          <a:xfrm>
            <a:off x="839788" y="1681163"/>
            <a:ext cx="5157787" cy="463831"/>
          </a:xfrm>
          <a:solidFill>
            <a:schemeClr val="accent1">
              <a:lumMod val="20000"/>
              <a:lumOff val="80000"/>
            </a:schemeClr>
          </a:solidFill>
          <a:ln>
            <a:solidFill>
              <a:schemeClr val="accent1"/>
            </a:solidFill>
          </a:ln>
        </p:spPr>
        <p:txBody>
          <a:bodyPr/>
          <a:lstStyle/>
          <a:p>
            <a:r>
              <a:rPr lang="en-US"/>
              <a:t>Front End Language</a:t>
            </a:r>
          </a:p>
        </p:txBody>
      </p:sp>
      <p:sp>
        <p:nvSpPr>
          <p:cNvPr id="11" name="Content Placeholder 10">
            <a:extLst>
              <a:ext uri="{FF2B5EF4-FFF2-40B4-BE49-F238E27FC236}">
                <a16:creationId xmlns:a16="http://schemas.microsoft.com/office/drawing/2014/main" id="{D63128DA-665A-A377-8E8E-87DDCF87D645}"/>
              </a:ext>
            </a:extLst>
          </p:cNvPr>
          <p:cNvSpPr>
            <a:spLocks noGrp="1"/>
          </p:cNvSpPr>
          <p:nvPr>
            <p:ph sz="half" idx="2"/>
          </p:nvPr>
        </p:nvSpPr>
        <p:spPr>
          <a:xfrm>
            <a:off x="839788" y="2240156"/>
            <a:ext cx="5157787" cy="1246588"/>
          </a:xfrm>
          <a:ln>
            <a:solidFill>
              <a:schemeClr val="accent1"/>
            </a:solidFill>
          </a:ln>
        </p:spPr>
        <p:txBody>
          <a:bodyPr>
            <a:normAutofit/>
          </a:bodyPr>
          <a:lstStyle/>
          <a:p>
            <a:r>
              <a:rPr lang="en-US" sz="2400"/>
              <a:t>HTML/CSS</a:t>
            </a:r>
          </a:p>
          <a:p>
            <a:r>
              <a:rPr lang="en-US" sz="2400"/>
              <a:t>Javascript</a:t>
            </a:r>
          </a:p>
          <a:p>
            <a:r>
              <a:rPr lang="en-US" sz="2400"/>
              <a:t>TypeScript</a:t>
            </a:r>
          </a:p>
        </p:txBody>
      </p:sp>
      <p:sp>
        <p:nvSpPr>
          <p:cNvPr id="12" name="Text Placeholder 11">
            <a:extLst>
              <a:ext uri="{FF2B5EF4-FFF2-40B4-BE49-F238E27FC236}">
                <a16:creationId xmlns:a16="http://schemas.microsoft.com/office/drawing/2014/main" id="{F4D32077-A017-AB79-36CE-B3A951D3B26A}"/>
              </a:ext>
            </a:extLst>
          </p:cNvPr>
          <p:cNvSpPr>
            <a:spLocks noGrp="1"/>
          </p:cNvSpPr>
          <p:nvPr>
            <p:ph type="body" sz="quarter" idx="3"/>
          </p:nvPr>
        </p:nvSpPr>
        <p:spPr>
          <a:xfrm>
            <a:off x="6172200" y="1681163"/>
            <a:ext cx="5183188" cy="463831"/>
          </a:xfrm>
          <a:solidFill>
            <a:schemeClr val="accent1">
              <a:lumMod val="20000"/>
              <a:lumOff val="80000"/>
            </a:schemeClr>
          </a:solidFill>
          <a:ln>
            <a:solidFill>
              <a:schemeClr val="accent1"/>
            </a:solidFill>
          </a:ln>
        </p:spPr>
        <p:txBody>
          <a:bodyPr/>
          <a:lstStyle/>
          <a:p>
            <a:r>
              <a:rPr lang="en-US"/>
              <a:t>Back End Programming Languages</a:t>
            </a:r>
          </a:p>
        </p:txBody>
      </p:sp>
      <p:sp>
        <p:nvSpPr>
          <p:cNvPr id="13" name="Content Placeholder 12">
            <a:extLst>
              <a:ext uri="{FF2B5EF4-FFF2-40B4-BE49-F238E27FC236}">
                <a16:creationId xmlns:a16="http://schemas.microsoft.com/office/drawing/2014/main" id="{688125F3-C010-829E-9607-38DB314F1FF0}"/>
              </a:ext>
            </a:extLst>
          </p:cNvPr>
          <p:cNvSpPr>
            <a:spLocks noGrp="1"/>
          </p:cNvSpPr>
          <p:nvPr>
            <p:ph sz="quarter" idx="4"/>
          </p:nvPr>
        </p:nvSpPr>
        <p:spPr>
          <a:xfrm>
            <a:off x="6172200" y="2240157"/>
            <a:ext cx="5183188" cy="2169474"/>
          </a:xfrm>
          <a:ln>
            <a:solidFill>
              <a:schemeClr val="accent1"/>
            </a:solidFill>
          </a:ln>
        </p:spPr>
        <p:txBody>
          <a:bodyPr>
            <a:noAutofit/>
          </a:bodyPr>
          <a:lstStyle/>
          <a:p>
            <a:r>
              <a:rPr lang="en-US" sz="2400"/>
              <a:t>PHP</a:t>
            </a:r>
          </a:p>
          <a:p>
            <a:r>
              <a:rPr lang="en-US" sz="2400"/>
              <a:t>Java</a:t>
            </a:r>
          </a:p>
          <a:p>
            <a:r>
              <a:rPr lang="en-US" sz="2400"/>
              <a:t>Python</a:t>
            </a:r>
          </a:p>
          <a:p>
            <a:r>
              <a:rPr lang="en-US" sz="2400"/>
              <a:t>Node.js</a:t>
            </a:r>
          </a:p>
          <a:p>
            <a:r>
              <a:rPr lang="en-US" sz="2400"/>
              <a:t>Ruby</a:t>
            </a:r>
          </a:p>
        </p:txBody>
      </p:sp>
      <p:graphicFrame>
        <p:nvGraphicFramePr>
          <p:cNvPr id="15" name="Content Placeholder 4">
            <a:extLst>
              <a:ext uri="{FF2B5EF4-FFF2-40B4-BE49-F238E27FC236}">
                <a16:creationId xmlns:a16="http://schemas.microsoft.com/office/drawing/2014/main" id="{25228ABD-8EA0-8E1B-D80B-6B1F54E63205}"/>
              </a:ext>
            </a:extLst>
          </p:cNvPr>
          <p:cNvGraphicFramePr>
            <a:graphicFrameLocks/>
          </p:cNvGraphicFramePr>
          <p:nvPr>
            <p:extLst>
              <p:ext uri="{D42A27DB-BD31-4B8C-83A1-F6EECF244321}">
                <p14:modId xmlns:p14="http://schemas.microsoft.com/office/powerpoint/2010/main" val="1709582733"/>
              </p:ext>
            </p:extLst>
          </p:nvPr>
        </p:nvGraphicFramePr>
        <p:xfrm>
          <a:off x="393107" y="3581907"/>
          <a:ext cx="6551064" cy="258772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9" name="TextBox 18">
            <a:extLst>
              <a:ext uri="{FF2B5EF4-FFF2-40B4-BE49-F238E27FC236}">
                <a16:creationId xmlns:a16="http://schemas.microsoft.com/office/drawing/2014/main" id="{6BDA402D-BB22-1B11-C715-EBEEB06C5BD9}"/>
              </a:ext>
            </a:extLst>
          </p:cNvPr>
          <p:cNvSpPr txBox="1"/>
          <p:nvPr/>
        </p:nvSpPr>
        <p:spPr>
          <a:xfrm>
            <a:off x="3134883" y="5142653"/>
            <a:ext cx="1464891" cy="923330"/>
          </a:xfrm>
          <a:prstGeom prst="rect">
            <a:avLst/>
          </a:prstGeom>
          <a:noFill/>
        </p:spPr>
        <p:txBody>
          <a:bodyPr wrap="square">
            <a:spAutoFit/>
          </a:bodyPr>
          <a:lstStyle/>
          <a:p>
            <a:r>
              <a:rPr lang="en-US" sz="1800">
                <a:solidFill>
                  <a:schemeClr val="bg1"/>
                </a:solidFill>
              </a:rPr>
              <a:t>Javascrip</a:t>
            </a:r>
            <a:r>
              <a:rPr lang="en-US" sz="1800" b="1"/>
              <a:t>t</a:t>
            </a:r>
          </a:p>
          <a:p>
            <a:endParaRPr lang="en-US" sz="1800">
              <a:solidFill>
                <a:schemeClr val="bg1"/>
              </a:solidFill>
            </a:endParaRPr>
          </a:p>
          <a:p>
            <a:r>
              <a:rPr lang="en-US">
                <a:solidFill>
                  <a:schemeClr val="bg1"/>
                </a:solidFill>
              </a:rPr>
              <a:t>     css</a:t>
            </a:r>
            <a:endParaRPr lang="en-US" sz="1800">
              <a:solidFill>
                <a:schemeClr val="bg1"/>
              </a:solidFill>
            </a:endParaRPr>
          </a:p>
        </p:txBody>
      </p:sp>
    </p:spTree>
    <p:extLst>
      <p:ext uri="{BB962C8B-B14F-4D97-AF65-F5344CB8AC3E}">
        <p14:creationId xmlns:p14="http://schemas.microsoft.com/office/powerpoint/2010/main" val="3423691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9F7D5CDA-D291-4307-BF55-1381FED296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44BA6DE-0F33-BA85-5158-9362C59F8165}"/>
              </a:ext>
            </a:extLst>
          </p:cNvPr>
          <p:cNvSpPr>
            <a:spLocks noGrp="1"/>
          </p:cNvSpPr>
          <p:nvPr>
            <p:ph type="title"/>
          </p:nvPr>
        </p:nvSpPr>
        <p:spPr>
          <a:xfrm>
            <a:off x="761800" y="265633"/>
            <a:ext cx="5334197" cy="1708242"/>
          </a:xfrm>
        </p:spPr>
        <p:txBody>
          <a:bodyPr anchor="ctr">
            <a:normAutofit/>
          </a:bodyPr>
          <a:lstStyle/>
          <a:p>
            <a:r>
              <a:rPr lang="en-US" sz="4000"/>
              <a:t>What is Djanogo?</a:t>
            </a:r>
          </a:p>
        </p:txBody>
      </p:sp>
      <p:sp>
        <p:nvSpPr>
          <p:cNvPr id="3" name="Content Placeholder 2">
            <a:extLst>
              <a:ext uri="{FF2B5EF4-FFF2-40B4-BE49-F238E27FC236}">
                <a16:creationId xmlns:a16="http://schemas.microsoft.com/office/drawing/2014/main" id="{786A7D8E-2DA5-1756-EB3C-26429DAC5271}"/>
              </a:ext>
            </a:extLst>
          </p:cNvPr>
          <p:cNvSpPr>
            <a:spLocks noGrp="1"/>
          </p:cNvSpPr>
          <p:nvPr>
            <p:ph idx="1"/>
          </p:nvPr>
        </p:nvSpPr>
        <p:spPr>
          <a:xfrm>
            <a:off x="761799" y="1973875"/>
            <a:ext cx="5334197" cy="3769835"/>
          </a:xfrm>
        </p:spPr>
        <p:txBody>
          <a:bodyPr anchor="ctr">
            <a:normAutofit/>
          </a:bodyPr>
          <a:lstStyle/>
          <a:p>
            <a:r>
              <a:rPr lang="en-US" sz="2000"/>
              <a:t>Django is a high-level Python web framework that enables rapid development of secure and maintainable websites.</a:t>
            </a:r>
          </a:p>
          <a:p>
            <a:r>
              <a:rPr lang="en-US" sz="2000"/>
              <a:t>Django was initially developed between 2003 and 2005 by a web team who were responsible for creating and maintaining newspaper websites.</a:t>
            </a:r>
          </a:p>
          <a:p>
            <a:r>
              <a:rPr lang="en-US" sz="2000"/>
              <a:t> It was designed to simplify the development process by providing a set of tools and features that handle many of the common tasks in web development.</a:t>
            </a:r>
          </a:p>
        </p:txBody>
      </p:sp>
      <p:pic>
        <p:nvPicPr>
          <p:cNvPr id="5" name="Picture 4" descr="Office items on a table">
            <a:extLst>
              <a:ext uri="{FF2B5EF4-FFF2-40B4-BE49-F238E27FC236}">
                <a16:creationId xmlns:a16="http://schemas.microsoft.com/office/drawing/2014/main" id="{DEBA1C2E-98E3-5D7E-0CA8-8FB920EC5504}"/>
              </a:ext>
            </a:extLst>
          </p:cNvPr>
          <p:cNvPicPr>
            <a:picLocks noChangeAspect="1"/>
          </p:cNvPicPr>
          <p:nvPr/>
        </p:nvPicPr>
        <p:blipFill>
          <a:blip r:embed="rId3"/>
          <a:srcRect l="25314" r="16056" b="2"/>
          <a:stretch>
            <a:fillRect/>
          </a:stretch>
        </p:blipFill>
        <p:spPr>
          <a:xfrm>
            <a:off x="8088748" y="1350235"/>
            <a:ext cx="3341452" cy="4302807"/>
          </a:xfrm>
          <a:prstGeom prst="rect">
            <a:avLst/>
          </a:prstGeom>
          <a:effectLst>
            <a:outerShdw blurRad="127000" dist="50800" dir="10800000" sx="99000" sy="99000" algn="r" rotWithShape="0">
              <a:prstClr val="black">
                <a:alpha val="40000"/>
              </a:prstClr>
            </a:outerShdw>
          </a:effectLst>
        </p:spPr>
      </p:pic>
    </p:spTree>
    <p:extLst>
      <p:ext uri="{BB962C8B-B14F-4D97-AF65-F5344CB8AC3E}">
        <p14:creationId xmlns:p14="http://schemas.microsoft.com/office/powerpoint/2010/main" val="39851613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D6A5F2-D4DE-D412-8CCC-A9F7E1EED4DF}"/>
              </a:ext>
            </a:extLst>
          </p:cNvPr>
          <p:cNvSpPr>
            <a:spLocks noGrp="1"/>
          </p:cNvSpPr>
          <p:nvPr>
            <p:ph type="title"/>
          </p:nvPr>
        </p:nvSpPr>
        <p:spPr/>
        <p:txBody>
          <a:bodyPr/>
          <a:lstStyle/>
          <a:p>
            <a:r>
              <a:rPr lang="en-US"/>
              <a:t>Key Features of Django</a:t>
            </a:r>
          </a:p>
        </p:txBody>
      </p:sp>
      <p:sp>
        <p:nvSpPr>
          <p:cNvPr id="3" name="Content Placeholder 2">
            <a:extLst>
              <a:ext uri="{FF2B5EF4-FFF2-40B4-BE49-F238E27FC236}">
                <a16:creationId xmlns:a16="http://schemas.microsoft.com/office/drawing/2014/main" id="{0161E9C9-A0F8-A887-3D2E-FEAFA5E4B506}"/>
              </a:ext>
            </a:extLst>
          </p:cNvPr>
          <p:cNvSpPr>
            <a:spLocks noGrp="1"/>
          </p:cNvSpPr>
          <p:nvPr>
            <p:ph idx="1"/>
          </p:nvPr>
        </p:nvSpPr>
        <p:spPr/>
        <p:txBody>
          <a:bodyPr/>
          <a:lstStyle/>
          <a:p>
            <a:r>
              <a:rPr lang="en-US"/>
              <a:t>MTV Architecture: </a:t>
            </a:r>
          </a:p>
          <a:p>
            <a:pPr lvl="1">
              <a:buFont typeface="Wingdings" panose="05000000000000000000" pitchFamily="2" charset="2"/>
              <a:buChar char="§"/>
            </a:pPr>
            <a:r>
              <a:rPr lang="en-US"/>
              <a:t>Model: Defines the data structure (e.g., database tables).</a:t>
            </a:r>
          </a:p>
          <a:p>
            <a:pPr lvl="1">
              <a:buFont typeface="Wingdings" panose="05000000000000000000" pitchFamily="2" charset="2"/>
              <a:buChar char="§"/>
            </a:pPr>
            <a:r>
              <a:rPr lang="en-US"/>
              <a:t>Template: Controls how the data is presented (HTML output).</a:t>
            </a:r>
          </a:p>
          <a:p>
            <a:pPr lvl="1">
              <a:buFont typeface="Wingdings" panose="05000000000000000000" pitchFamily="2" charset="2"/>
              <a:buChar char="§"/>
            </a:pPr>
            <a:r>
              <a:rPr lang="en-US"/>
              <a:t>View: Contains the logic that connects the model and template.</a:t>
            </a:r>
          </a:p>
          <a:p>
            <a:r>
              <a:rPr lang="en-US"/>
              <a:t>Admin Interface</a:t>
            </a:r>
          </a:p>
          <a:p>
            <a:r>
              <a:rPr lang="en-US"/>
              <a:t>ORM (Object-Relational Mapping)</a:t>
            </a:r>
          </a:p>
          <a:p>
            <a:r>
              <a:rPr lang="en-US"/>
              <a:t>URL Routing</a:t>
            </a:r>
          </a:p>
          <a:p>
            <a:r>
              <a:rPr lang="en-US"/>
              <a:t>Security</a:t>
            </a:r>
          </a:p>
          <a:p>
            <a:r>
              <a:rPr lang="en-US"/>
              <a:t>Scalability</a:t>
            </a:r>
          </a:p>
        </p:txBody>
      </p:sp>
    </p:spTree>
    <p:extLst>
      <p:ext uri="{BB962C8B-B14F-4D97-AF65-F5344CB8AC3E}">
        <p14:creationId xmlns:p14="http://schemas.microsoft.com/office/powerpoint/2010/main" val="18942789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 name="Rectangle 29">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32" name="Rectangle 31">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34" name="Rectangle 33">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8D521290-B5B3-E363-C160-F39F5067CD02}"/>
              </a:ext>
            </a:extLst>
          </p:cNvPr>
          <p:cNvSpPr>
            <a:spLocks noGrp="1"/>
          </p:cNvSpPr>
          <p:nvPr>
            <p:ph type="title"/>
          </p:nvPr>
        </p:nvSpPr>
        <p:spPr>
          <a:xfrm>
            <a:off x="1115568" y="548640"/>
            <a:ext cx="10168128" cy="1179576"/>
          </a:xfrm>
        </p:spPr>
        <p:txBody>
          <a:bodyPr>
            <a:normAutofit/>
          </a:bodyPr>
          <a:lstStyle/>
          <a:p>
            <a:r>
              <a:rPr lang="en-US" sz="4000" b="0" i="0">
                <a:effectLst/>
                <a:latin typeface="Roboto" panose="02000000000000000000" pitchFamily="2" charset="0"/>
              </a:rPr>
              <a:t>How to </a:t>
            </a:r>
            <a:r>
              <a:rPr lang="en-US" sz="4000">
                <a:latin typeface="Roboto" panose="02000000000000000000" pitchFamily="2" charset="0"/>
              </a:rPr>
              <a:t>start</a:t>
            </a:r>
            <a:r>
              <a:rPr lang="en-US" sz="4000" b="0" i="0">
                <a:effectLst/>
                <a:latin typeface="Roboto" panose="02000000000000000000" pitchFamily="2" charset="0"/>
              </a:rPr>
              <a:t> a Django-project?</a:t>
            </a:r>
            <a:endParaRPr lang="en-US" sz="4000"/>
          </a:p>
        </p:txBody>
      </p:sp>
      <p:sp>
        <p:nvSpPr>
          <p:cNvPr id="36" name="Rectangle 35">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6" name="Content Placeholder 5">
            <a:extLst>
              <a:ext uri="{FF2B5EF4-FFF2-40B4-BE49-F238E27FC236}">
                <a16:creationId xmlns:a16="http://schemas.microsoft.com/office/drawing/2014/main" id="{FE3F2987-5B2F-968A-FF8E-6758C8858E6A}"/>
              </a:ext>
            </a:extLst>
          </p:cNvPr>
          <p:cNvSpPr>
            <a:spLocks noGrp="1"/>
          </p:cNvSpPr>
          <p:nvPr>
            <p:ph idx="1"/>
          </p:nvPr>
        </p:nvSpPr>
        <p:spPr>
          <a:xfrm>
            <a:off x="1115568" y="2481943"/>
            <a:ext cx="10168128" cy="3695020"/>
          </a:xfrm>
        </p:spPr>
        <p:txBody>
          <a:bodyPr>
            <a:normAutofit/>
          </a:bodyPr>
          <a:lstStyle/>
          <a:p>
            <a:pPr marL="0" indent="0">
              <a:buNone/>
            </a:pPr>
            <a:r>
              <a:rPr lang="fr-FR" sz="2200"/>
              <a:t>C:\Users\your-folder&gt; </a:t>
            </a:r>
            <a:r>
              <a:rPr lang="en-US" sz="2200"/>
              <a:t> python -m pip install Django</a:t>
            </a:r>
          </a:p>
          <a:p>
            <a:pPr marL="0" indent="0">
              <a:buNone/>
            </a:pPr>
            <a:r>
              <a:rPr lang="fr-FR" sz="2200"/>
              <a:t>C:\Users\your-folder&gt; </a:t>
            </a:r>
            <a:r>
              <a:rPr lang="en-US" sz="2200"/>
              <a:t> python -m django version</a:t>
            </a:r>
          </a:p>
          <a:p>
            <a:pPr marL="0" indent="0">
              <a:buNone/>
            </a:pPr>
            <a:r>
              <a:rPr lang="fr-FR" sz="2200"/>
              <a:t>C:\Users\your-folder&gt;</a:t>
            </a:r>
            <a:r>
              <a:rPr lang="en-US" sz="2200"/>
              <a:t>  md django-iot</a:t>
            </a:r>
          </a:p>
          <a:p>
            <a:pPr marL="0" indent="0">
              <a:buNone/>
            </a:pPr>
            <a:r>
              <a:rPr lang="fr-FR" sz="2200"/>
              <a:t>C:\Users\your-folder&gt;</a:t>
            </a:r>
            <a:r>
              <a:rPr lang="en-US" sz="2200"/>
              <a:t>   django-admin startproject myproject django-iot</a:t>
            </a:r>
          </a:p>
          <a:p>
            <a:pPr marL="0" indent="0">
              <a:buNone/>
            </a:pPr>
            <a:r>
              <a:rPr lang="fr-FR" sz="2200"/>
              <a:t>C:\Users\your-folder&gt;</a:t>
            </a:r>
            <a:r>
              <a:rPr lang="en-US" sz="2200"/>
              <a:t>  cd django-iot</a:t>
            </a:r>
          </a:p>
          <a:p>
            <a:pPr marL="0" indent="0">
              <a:buNone/>
            </a:pPr>
            <a:r>
              <a:rPr lang="fr-FR" sz="2200"/>
              <a:t>C:\Users\your-folder\</a:t>
            </a:r>
            <a:r>
              <a:rPr lang="en-US" sz="2200"/>
              <a:t>django-iot </a:t>
            </a:r>
            <a:r>
              <a:rPr lang="fr-FR" sz="2200"/>
              <a:t>&gt; dir</a:t>
            </a:r>
            <a:endParaRPr lang="en-US" sz="2200"/>
          </a:p>
        </p:txBody>
      </p:sp>
    </p:spTree>
    <p:extLst>
      <p:ext uri="{BB962C8B-B14F-4D97-AF65-F5344CB8AC3E}">
        <p14:creationId xmlns:p14="http://schemas.microsoft.com/office/powerpoint/2010/main" val="34869884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994E72-37DB-1502-972B-45C34F881456}"/>
              </a:ext>
            </a:extLst>
          </p:cNvPr>
          <p:cNvSpPr>
            <a:spLocks noGrp="1"/>
          </p:cNvSpPr>
          <p:nvPr>
            <p:ph type="title"/>
          </p:nvPr>
        </p:nvSpPr>
        <p:spPr/>
        <p:txBody>
          <a:bodyPr>
            <a:normAutofit/>
          </a:bodyPr>
          <a:lstStyle/>
          <a:p>
            <a:r>
              <a:rPr lang="en-US" sz="4000"/>
              <a:t>django-admin startproject myproject django-iot</a:t>
            </a:r>
          </a:p>
        </p:txBody>
      </p:sp>
      <p:sp>
        <p:nvSpPr>
          <p:cNvPr id="11" name="TextBox 10">
            <a:extLst>
              <a:ext uri="{FF2B5EF4-FFF2-40B4-BE49-F238E27FC236}">
                <a16:creationId xmlns:a16="http://schemas.microsoft.com/office/drawing/2014/main" id="{D0F37594-EB5B-B962-ED65-4D5F3FDB3506}"/>
              </a:ext>
            </a:extLst>
          </p:cNvPr>
          <p:cNvSpPr txBox="1"/>
          <p:nvPr/>
        </p:nvSpPr>
        <p:spPr>
          <a:xfrm>
            <a:off x="3557801" y="1833494"/>
            <a:ext cx="7606385" cy="3693319"/>
          </a:xfrm>
          <a:prstGeom prst="rect">
            <a:avLst/>
          </a:prstGeom>
          <a:noFill/>
        </p:spPr>
        <p:txBody>
          <a:bodyPr wrap="square" rtlCol="0">
            <a:spAutoFit/>
          </a:bodyPr>
          <a:lstStyle/>
          <a:p>
            <a:r>
              <a:rPr lang="en-US">
                <a:solidFill>
                  <a:schemeClr val="accent5"/>
                </a:solidFill>
              </a:rPr>
              <a:t>manage.py</a:t>
            </a:r>
            <a:r>
              <a:rPr lang="en-US"/>
              <a:t>: A command-line utility that lets you interact with this Django project in various ways. </a:t>
            </a:r>
          </a:p>
          <a:p>
            <a:endParaRPr lang="en-US"/>
          </a:p>
          <a:p>
            <a:r>
              <a:rPr lang="en-US">
                <a:solidFill>
                  <a:schemeClr val="accent5"/>
                </a:solidFill>
              </a:rPr>
              <a:t>myproject/: </a:t>
            </a:r>
            <a:r>
              <a:rPr lang="en-US"/>
              <a:t>A directory that is the actual Python package for your project. </a:t>
            </a:r>
          </a:p>
          <a:p>
            <a:r>
              <a:rPr lang="en-US">
                <a:solidFill>
                  <a:schemeClr val="accent5"/>
                </a:solidFill>
              </a:rPr>
              <a:t>myproject /__init__.py</a:t>
            </a:r>
            <a:r>
              <a:rPr lang="en-US"/>
              <a:t>: An empty file that tells Python that this directory should be considered a Python package. </a:t>
            </a:r>
          </a:p>
          <a:p>
            <a:r>
              <a:rPr lang="en-US">
                <a:solidFill>
                  <a:schemeClr val="accent5"/>
                </a:solidFill>
              </a:rPr>
              <a:t>myproject /settings.py</a:t>
            </a:r>
            <a:r>
              <a:rPr lang="en-US"/>
              <a:t>: Settings/configuration for this Django project. </a:t>
            </a:r>
          </a:p>
          <a:p>
            <a:r>
              <a:rPr lang="en-US">
                <a:solidFill>
                  <a:schemeClr val="accent5"/>
                </a:solidFill>
              </a:rPr>
              <a:t>myproject /urls.py</a:t>
            </a:r>
            <a:r>
              <a:rPr lang="en-US"/>
              <a:t>: The URL declarations for this Django project; a “table of contents” of your Django-powered site. </a:t>
            </a:r>
          </a:p>
          <a:p>
            <a:r>
              <a:rPr lang="en-US">
                <a:solidFill>
                  <a:schemeClr val="accent5"/>
                </a:solidFill>
              </a:rPr>
              <a:t>myproject /asgi.py</a:t>
            </a:r>
            <a:r>
              <a:rPr lang="en-US"/>
              <a:t>: An entry-point for ASGI-compatible web servers to serve your project. </a:t>
            </a:r>
          </a:p>
          <a:p>
            <a:r>
              <a:rPr lang="en-US">
                <a:solidFill>
                  <a:schemeClr val="accent5"/>
                </a:solidFill>
              </a:rPr>
              <a:t>myproject /wsgi.py</a:t>
            </a:r>
            <a:r>
              <a:rPr lang="en-US"/>
              <a:t>: An entry-point for WSGI-compatible web servers to serve your project.</a:t>
            </a:r>
          </a:p>
        </p:txBody>
      </p:sp>
      <p:pic>
        <p:nvPicPr>
          <p:cNvPr id="16" name="Picture 15">
            <a:extLst>
              <a:ext uri="{FF2B5EF4-FFF2-40B4-BE49-F238E27FC236}">
                <a16:creationId xmlns:a16="http://schemas.microsoft.com/office/drawing/2014/main" id="{82913383-A7CC-16DE-018D-1632B1B8232A}"/>
              </a:ext>
            </a:extLst>
          </p:cNvPr>
          <p:cNvPicPr>
            <a:picLocks noChangeAspect="1"/>
          </p:cNvPicPr>
          <p:nvPr/>
        </p:nvPicPr>
        <p:blipFill>
          <a:blip r:embed="rId3"/>
          <a:stretch>
            <a:fillRect/>
          </a:stretch>
        </p:blipFill>
        <p:spPr>
          <a:xfrm>
            <a:off x="1027814" y="1933393"/>
            <a:ext cx="2147186" cy="3845288"/>
          </a:xfrm>
          <a:prstGeom prst="rect">
            <a:avLst/>
          </a:prstGeom>
        </p:spPr>
      </p:pic>
    </p:spTree>
    <p:extLst>
      <p:ext uri="{BB962C8B-B14F-4D97-AF65-F5344CB8AC3E}">
        <p14:creationId xmlns:p14="http://schemas.microsoft.com/office/powerpoint/2010/main" val="20750181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04C1EE8-EF34-BE87-F7D5-0DA542573599}"/>
              </a:ext>
            </a:extLst>
          </p:cNvPr>
          <p:cNvSpPr>
            <a:spLocks noGrp="1"/>
          </p:cNvSpPr>
          <p:nvPr>
            <p:ph type="title"/>
          </p:nvPr>
        </p:nvSpPr>
        <p:spPr/>
        <p:txBody>
          <a:bodyPr/>
          <a:lstStyle/>
          <a:p>
            <a:r>
              <a:rPr lang="fr-FR" sz="4400"/>
              <a:t>In CMD, type python manage.py runserver</a:t>
            </a:r>
            <a:br>
              <a:rPr lang="en-US" sz="4400"/>
            </a:br>
            <a:r>
              <a:rPr lang="en-US" sz="4400"/>
              <a:t>Then v</a:t>
            </a:r>
            <a:r>
              <a:rPr lang="en-US"/>
              <a:t>isit http://localhost:8000</a:t>
            </a:r>
          </a:p>
        </p:txBody>
      </p:sp>
      <p:pic>
        <p:nvPicPr>
          <p:cNvPr id="6" name="Picture 5">
            <a:extLst>
              <a:ext uri="{FF2B5EF4-FFF2-40B4-BE49-F238E27FC236}">
                <a16:creationId xmlns:a16="http://schemas.microsoft.com/office/drawing/2014/main" id="{5DE6900D-80C0-6FFC-F9D2-0AB71184F4E4}"/>
              </a:ext>
            </a:extLst>
          </p:cNvPr>
          <p:cNvPicPr>
            <a:picLocks noChangeAspect="1"/>
          </p:cNvPicPr>
          <p:nvPr/>
        </p:nvPicPr>
        <p:blipFill>
          <a:blip r:embed="rId3"/>
          <a:stretch>
            <a:fillRect/>
          </a:stretch>
        </p:blipFill>
        <p:spPr>
          <a:xfrm>
            <a:off x="3490549" y="1923174"/>
            <a:ext cx="5210902" cy="4267796"/>
          </a:xfrm>
          <a:prstGeom prst="rect">
            <a:avLst/>
          </a:prstGeom>
        </p:spPr>
      </p:pic>
    </p:spTree>
    <p:extLst>
      <p:ext uri="{BB962C8B-B14F-4D97-AF65-F5344CB8AC3E}">
        <p14:creationId xmlns:p14="http://schemas.microsoft.com/office/powerpoint/2010/main" val="20676056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F590F0-88D2-2E41-4DEB-D4D1220D9717}"/>
              </a:ext>
            </a:extLst>
          </p:cNvPr>
          <p:cNvSpPr>
            <a:spLocks noGrp="1"/>
          </p:cNvSpPr>
          <p:nvPr>
            <p:ph type="title"/>
          </p:nvPr>
        </p:nvSpPr>
        <p:spPr/>
        <p:txBody>
          <a:bodyPr/>
          <a:lstStyle/>
          <a:p>
            <a:r>
              <a:rPr lang="en-US"/>
              <a:t>Structure of Django Web Applications</a:t>
            </a:r>
          </a:p>
        </p:txBody>
      </p:sp>
      <p:pic>
        <p:nvPicPr>
          <p:cNvPr id="3" name="Picture 2">
            <a:extLst>
              <a:ext uri="{FF2B5EF4-FFF2-40B4-BE49-F238E27FC236}">
                <a16:creationId xmlns:a16="http://schemas.microsoft.com/office/drawing/2014/main" id="{574B5DC8-1B80-2F58-65B9-FB0521507AAB}"/>
              </a:ext>
            </a:extLst>
          </p:cNvPr>
          <p:cNvPicPr>
            <a:picLocks noChangeAspect="1"/>
          </p:cNvPicPr>
          <p:nvPr/>
        </p:nvPicPr>
        <p:blipFill>
          <a:blip r:embed="rId3"/>
          <a:stretch>
            <a:fillRect/>
          </a:stretch>
        </p:blipFill>
        <p:spPr>
          <a:xfrm>
            <a:off x="2587602" y="1797550"/>
            <a:ext cx="6791325" cy="4791075"/>
          </a:xfrm>
          <a:prstGeom prst="rect">
            <a:avLst/>
          </a:prstGeom>
        </p:spPr>
      </p:pic>
    </p:spTree>
    <p:extLst>
      <p:ext uri="{BB962C8B-B14F-4D97-AF65-F5344CB8AC3E}">
        <p14:creationId xmlns:p14="http://schemas.microsoft.com/office/powerpoint/2010/main" val="31563021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891CBF-ABF1-A1B2-2316-E56DDFB4B334}"/>
              </a:ext>
            </a:extLst>
          </p:cNvPr>
          <p:cNvSpPr>
            <a:spLocks noGrp="1"/>
          </p:cNvSpPr>
          <p:nvPr>
            <p:ph type="title"/>
          </p:nvPr>
        </p:nvSpPr>
        <p:spPr/>
        <p:txBody>
          <a:bodyPr/>
          <a:lstStyle/>
          <a:p>
            <a:r>
              <a:rPr lang="en-US"/>
              <a:t>Create iot app in </a:t>
            </a:r>
            <a:r>
              <a:rPr lang="en-US" sz="4400"/>
              <a:t>django-iot project folder</a:t>
            </a:r>
            <a:endParaRPr lang="en-US"/>
          </a:p>
        </p:txBody>
      </p:sp>
      <p:sp>
        <p:nvSpPr>
          <p:cNvPr id="4" name="Content Placeholder 3">
            <a:extLst>
              <a:ext uri="{FF2B5EF4-FFF2-40B4-BE49-F238E27FC236}">
                <a16:creationId xmlns:a16="http://schemas.microsoft.com/office/drawing/2014/main" id="{DEA30AEE-9AE7-CBEC-43C5-BCB66691D9AF}"/>
              </a:ext>
            </a:extLst>
          </p:cNvPr>
          <p:cNvSpPr>
            <a:spLocks noGrp="1"/>
          </p:cNvSpPr>
          <p:nvPr>
            <p:ph idx="1"/>
          </p:nvPr>
        </p:nvSpPr>
        <p:spPr>
          <a:xfrm>
            <a:off x="838200" y="1825625"/>
            <a:ext cx="10515600" cy="782896"/>
          </a:xfrm>
          <a:ln>
            <a:solidFill>
              <a:schemeClr val="accent1"/>
            </a:solidFill>
          </a:ln>
        </p:spPr>
        <p:txBody>
          <a:bodyPr/>
          <a:lstStyle/>
          <a:p>
            <a:pPr marL="0" indent="0">
              <a:buNone/>
            </a:pPr>
            <a:r>
              <a:rPr lang="fr-FR" sz="2800"/>
              <a:t>C:\Users\your-folder\</a:t>
            </a:r>
            <a:r>
              <a:rPr lang="en-US" sz="2800"/>
              <a:t>django-iot </a:t>
            </a:r>
            <a:r>
              <a:rPr lang="fr-FR" sz="2800"/>
              <a:t>&gt; </a:t>
            </a:r>
            <a:r>
              <a:rPr lang="en-US"/>
              <a:t>python manage.py startapp iot</a:t>
            </a:r>
          </a:p>
          <a:p>
            <a:pPr marL="0" indent="0">
              <a:buNone/>
            </a:pPr>
            <a:endParaRPr lang="en-US"/>
          </a:p>
        </p:txBody>
      </p:sp>
      <p:sp>
        <p:nvSpPr>
          <p:cNvPr id="8" name="TextBox 7">
            <a:extLst>
              <a:ext uri="{FF2B5EF4-FFF2-40B4-BE49-F238E27FC236}">
                <a16:creationId xmlns:a16="http://schemas.microsoft.com/office/drawing/2014/main" id="{0BBDFD39-6A99-403C-0D48-9CAD3F19A65E}"/>
              </a:ext>
            </a:extLst>
          </p:cNvPr>
          <p:cNvSpPr txBox="1"/>
          <p:nvPr/>
        </p:nvSpPr>
        <p:spPr>
          <a:xfrm>
            <a:off x="838200" y="3037552"/>
            <a:ext cx="1928038" cy="2585323"/>
          </a:xfrm>
          <a:prstGeom prst="rect">
            <a:avLst/>
          </a:prstGeom>
          <a:solidFill>
            <a:schemeClr val="accent1">
              <a:lumMod val="20000"/>
              <a:lumOff val="80000"/>
            </a:schemeClr>
          </a:solidFill>
          <a:ln>
            <a:solidFill>
              <a:schemeClr val="accent1"/>
            </a:solidFill>
          </a:ln>
        </p:spPr>
        <p:txBody>
          <a:bodyPr wrap="square">
            <a:spAutoFit/>
          </a:bodyPr>
          <a:lstStyle/>
          <a:p>
            <a:pPr marL="0" indent="0">
              <a:buNone/>
            </a:pPr>
            <a:r>
              <a:rPr lang="en-US"/>
              <a:t>iot/</a:t>
            </a:r>
          </a:p>
          <a:p>
            <a:pPr marL="0" indent="0">
              <a:buNone/>
            </a:pPr>
            <a:r>
              <a:rPr lang="en-US"/>
              <a:t>    __init__.py</a:t>
            </a:r>
          </a:p>
          <a:p>
            <a:pPr marL="0" indent="0">
              <a:buNone/>
            </a:pPr>
            <a:r>
              <a:rPr lang="en-US"/>
              <a:t>    admin.py</a:t>
            </a:r>
          </a:p>
          <a:p>
            <a:pPr marL="0" indent="0">
              <a:buNone/>
            </a:pPr>
            <a:r>
              <a:rPr lang="en-US"/>
              <a:t>    apps.py</a:t>
            </a:r>
          </a:p>
          <a:p>
            <a:pPr marL="0" indent="0">
              <a:buNone/>
            </a:pPr>
            <a:r>
              <a:rPr lang="en-US"/>
              <a:t>    migrations/</a:t>
            </a:r>
          </a:p>
          <a:p>
            <a:pPr marL="0" indent="0">
              <a:buNone/>
            </a:pPr>
            <a:r>
              <a:rPr lang="en-US"/>
              <a:t>        __init__.py</a:t>
            </a:r>
          </a:p>
          <a:p>
            <a:pPr marL="0" indent="0">
              <a:buNone/>
            </a:pPr>
            <a:r>
              <a:rPr lang="en-US"/>
              <a:t>    models.py</a:t>
            </a:r>
          </a:p>
          <a:p>
            <a:pPr marL="0" indent="0">
              <a:buNone/>
            </a:pPr>
            <a:r>
              <a:rPr lang="en-US"/>
              <a:t>    tests.py</a:t>
            </a:r>
          </a:p>
          <a:p>
            <a:pPr marL="0" indent="0">
              <a:buNone/>
            </a:pPr>
            <a:r>
              <a:rPr lang="en-US"/>
              <a:t>    views.py</a:t>
            </a:r>
          </a:p>
        </p:txBody>
      </p:sp>
      <p:sp>
        <p:nvSpPr>
          <p:cNvPr id="9" name="Content Placeholder 3">
            <a:extLst>
              <a:ext uri="{FF2B5EF4-FFF2-40B4-BE49-F238E27FC236}">
                <a16:creationId xmlns:a16="http://schemas.microsoft.com/office/drawing/2014/main" id="{A4034E4C-FFFC-6FC2-CC46-56583772D41A}"/>
              </a:ext>
            </a:extLst>
          </p:cNvPr>
          <p:cNvSpPr txBox="1">
            <a:spLocks/>
          </p:cNvSpPr>
          <p:nvPr/>
        </p:nvSpPr>
        <p:spPr>
          <a:xfrm>
            <a:off x="3074582" y="2850740"/>
            <a:ext cx="8210106" cy="523220"/>
          </a:xfrm>
          <a:prstGeom prst="rect">
            <a:avLst/>
          </a:prstGeom>
          <a:ln>
            <a:solidFill>
              <a:schemeClr val="accent1"/>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fr-FR"/>
              <a:t>C:\Users\your-folder\</a:t>
            </a:r>
            <a:r>
              <a:rPr lang="en-US"/>
              <a:t>django-iot </a:t>
            </a:r>
            <a:r>
              <a:rPr lang="fr-FR"/>
              <a:t>&gt; code .</a:t>
            </a:r>
            <a:endParaRPr lang="en-US"/>
          </a:p>
        </p:txBody>
      </p:sp>
      <p:sp>
        <p:nvSpPr>
          <p:cNvPr id="10" name="TextBox 9">
            <a:extLst>
              <a:ext uri="{FF2B5EF4-FFF2-40B4-BE49-F238E27FC236}">
                <a16:creationId xmlns:a16="http://schemas.microsoft.com/office/drawing/2014/main" id="{7594D09D-6297-FB17-66D1-B211C2E386A7}"/>
              </a:ext>
            </a:extLst>
          </p:cNvPr>
          <p:cNvSpPr txBox="1"/>
          <p:nvPr/>
        </p:nvSpPr>
        <p:spPr>
          <a:xfrm>
            <a:off x="3074582" y="4780667"/>
            <a:ext cx="7539052" cy="830997"/>
          </a:xfrm>
          <a:prstGeom prst="rect">
            <a:avLst/>
          </a:prstGeom>
          <a:noFill/>
          <a:ln>
            <a:solidFill>
              <a:schemeClr val="accent1"/>
            </a:solidFill>
          </a:ln>
        </p:spPr>
        <p:txBody>
          <a:bodyPr wrap="none" rtlCol="0">
            <a:spAutoFit/>
          </a:bodyPr>
          <a:lstStyle/>
          <a:p>
            <a:r>
              <a:rPr lang="en-US" sz="2400"/>
              <a:t>You may refer sample codes at</a:t>
            </a:r>
          </a:p>
          <a:p>
            <a:r>
              <a:rPr lang="en-US" sz="2400"/>
              <a:t>https://github.com/jdpark7/unsia-iot/tree/main/week10</a:t>
            </a:r>
          </a:p>
        </p:txBody>
      </p:sp>
      <p:sp>
        <p:nvSpPr>
          <p:cNvPr id="3" name="TextBox 2">
            <a:extLst>
              <a:ext uri="{FF2B5EF4-FFF2-40B4-BE49-F238E27FC236}">
                <a16:creationId xmlns:a16="http://schemas.microsoft.com/office/drawing/2014/main" id="{C648BFBB-402D-B74D-9E70-681F306A6329}"/>
              </a:ext>
            </a:extLst>
          </p:cNvPr>
          <p:cNvSpPr txBox="1"/>
          <p:nvPr/>
        </p:nvSpPr>
        <p:spPr>
          <a:xfrm>
            <a:off x="3074582" y="3826627"/>
            <a:ext cx="4278544" cy="523220"/>
          </a:xfrm>
          <a:prstGeom prst="rect">
            <a:avLst/>
          </a:prstGeom>
          <a:noFill/>
          <a:ln>
            <a:solidFill>
              <a:schemeClr val="accent1"/>
            </a:solidFill>
          </a:ln>
        </p:spPr>
        <p:txBody>
          <a:bodyPr wrap="none" rtlCol="0">
            <a:spAutoFit/>
          </a:bodyPr>
          <a:lstStyle/>
          <a:p>
            <a:r>
              <a:rPr lang="en-US" sz="2800"/>
              <a:t>Inspect the files in vscode.</a:t>
            </a:r>
          </a:p>
        </p:txBody>
      </p:sp>
    </p:spTree>
    <p:extLst>
      <p:ext uri="{BB962C8B-B14F-4D97-AF65-F5344CB8AC3E}">
        <p14:creationId xmlns:p14="http://schemas.microsoft.com/office/powerpoint/2010/main" val="11721938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DBA871-DB50-27B1-21A6-F149A20B46BC}"/>
              </a:ext>
            </a:extLst>
          </p:cNvPr>
          <p:cNvSpPr>
            <a:spLocks noGrp="1"/>
          </p:cNvSpPr>
          <p:nvPr>
            <p:ph type="title"/>
          </p:nvPr>
        </p:nvSpPr>
        <p:spPr/>
        <p:txBody>
          <a:bodyPr>
            <a:normAutofit/>
          </a:bodyPr>
          <a:lstStyle/>
          <a:p>
            <a:r>
              <a:rPr lang="en-US" sz="4000"/>
              <a:t>Use ChatGPT to create your Django Applicaions</a:t>
            </a:r>
          </a:p>
        </p:txBody>
      </p:sp>
      <p:sp>
        <p:nvSpPr>
          <p:cNvPr id="3" name="Content Placeholder 2">
            <a:extLst>
              <a:ext uri="{FF2B5EF4-FFF2-40B4-BE49-F238E27FC236}">
                <a16:creationId xmlns:a16="http://schemas.microsoft.com/office/drawing/2014/main" id="{855FD536-E5B9-9A0E-B413-FB384E474658}"/>
              </a:ext>
            </a:extLst>
          </p:cNvPr>
          <p:cNvSpPr>
            <a:spLocks noGrp="1"/>
          </p:cNvSpPr>
          <p:nvPr>
            <p:ph idx="1"/>
          </p:nvPr>
        </p:nvSpPr>
        <p:spPr>
          <a:solidFill>
            <a:schemeClr val="accent1">
              <a:lumMod val="20000"/>
              <a:lumOff val="80000"/>
            </a:schemeClr>
          </a:solidFill>
        </p:spPr>
        <p:txBody>
          <a:bodyPr/>
          <a:lstStyle/>
          <a:p>
            <a:pPr marL="0" indent="0">
              <a:buNone/>
            </a:pPr>
            <a:r>
              <a:rPr lang="en-US"/>
              <a:t>Ask ChatGPT:</a:t>
            </a:r>
            <a:br>
              <a:rPr lang="en-US"/>
            </a:br>
            <a:br>
              <a:rPr lang="en-US"/>
            </a:br>
            <a:r>
              <a:rPr lang="en-US"/>
              <a:t>“I would like to build a Django app using the following database table name : sensor_data and fields of the table: apikey, device_id, temperature, humidity, timestamp. </a:t>
            </a:r>
            <a:br>
              <a:rPr lang="en-US"/>
            </a:br>
            <a:r>
              <a:rPr lang="en-US"/>
              <a:t>I want to use a REST API. A Wemos Mini board will send temperature and humidity data to the server, and the server will store the data in the database.</a:t>
            </a:r>
            <a:br>
              <a:rPr lang="en-US"/>
            </a:br>
            <a:r>
              <a:rPr lang="en-US"/>
              <a:t>When a user visits the webpage with a specific device ID, the page should display the data sent from that device.”</a:t>
            </a:r>
          </a:p>
        </p:txBody>
      </p:sp>
    </p:spTree>
    <p:extLst>
      <p:ext uri="{BB962C8B-B14F-4D97-AF65-F5344CB8AC3E}">
        <p14:creationId xmlns:p14="http://schemas.microsoft.com/office/powerpoint/2010/main" val="21619367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DDE4B5-C246-30F7-76CE-94020DD69B02}"/>
              </a:ext>
            </a:extLst>
          </p:cNvPr>
          <p:cNvSpPr>
            <a:spLocks noGrp="1"/>
          </p:cNvSpPr>
          <p:nvPr>
            <p:ph type="title"/>
          </p:nvPr>
        </p:nvSpPr>
        <p:spPr/>
        <p:txBody>
          <a:bodyPr/>
          <a:lstStyle/>
          <a:p>
            <a:r>
              <a:rPr lang="en-US"/>
              <a:t>Installed Apps in settings.py</a:t>
            </a:r>
          </a:p>
        </p:txBody>
      </p:sp>
      <p:sp>
        <p:nvSpPr>
          <p:cNvPr id="3" name="Content Placeholder 2">
            <a:extLst>
              <a:ext uri="{FF2B5EF4-FFF2-40B4-BE49-F238E27FC236}">
                <a16:creationId xmlns:a16="http://schemas.microsoft.com/office/drawing/2014/main" id="{465C7CE0-14E9-76F3-6169-8D5E73498B61}"/>
              </a:ext>
            </a:extLst>
          </p:cNvPr>
          <p:cNvSpPr>
            <a:spLocks noGrp="1"/>
          </p:cNvSpPr>
          <p:nvPr>
            <p:ph idx="1"/>
          </p:nvPr>
        </p:nvSpPr>
        <p:spPr/>
        <p:txBody>
          <a:bodyPr/>
          <a:lstStyle/>
          <a:p>
            <a:pPr marL="0" indent="0">
              <a:lnSpc>
                <a:spcPct val="150000"/>
              </a:lnSpc>
              <a:spcBef>
                <a:spcPts val="0"/>
              </a:spcBef>
            </a:pPr>
            <a:r>
              <a:rPr lang="en-US"/>
              <a:t>django.contrib.admin – The admin site. You’ll use it shortly.</a:t>
            </a:r>
          </a:p>
          <a:p>
            <a:pPr marL="0" indent="0">
              <a:lnSpc>
                <a:spcPct val="150000"/>
              </a:lnSpc>
              <a:spcBef>
                <a:spcPts val="0"/>
              </a:spcBef>
            </a:pPr>
            <a:r>
              <a:rPr lang="en-US"/>
              <a:t>django.contrib.auth – An authentication system.</a:t>
            </a:r>
          </a:p>
          <a:p>
            <a:pPr marL="0" indent="0">
              <a:lnSpc>
                <a:spcPct val="150000"/>
              </a:lnSpc>
              <a:spcBef>
                <a:spcPts val="0"/>
              </a:spcBef>
            </a:pPr>
            <a:r>
              <a:rPr lang="en-US"/>
              <a:t>django.contrib.contenttypes – A framework for content types.</a:t>
            </a:r>
          </a:p>
          <a:p>
            <a:pPr marL="0" indent="0">
              <a:lnSpc>
                <a:spcPct val="150000"/>
              </a:lnSpc>
              <a:spcBef>
                <a:spcPts val="0"/>
              </a:spcBef>
            </a:pPr>
            <a:r>
              <a:rPr lang="en-US"/>
              <a:t>django.contrib.sessions – A session framework.</a:t>
            </a:r>
          </a:p>
          <a:p>
            <a:pPr marL="0" indent="0">
              <a:lnSpc>
                <a:spcPct val="150000"/>
              </a:lnSpc>
              <a:spcBef>
                <a:spcPts val="0"/>
              </a:spcBef>
            </a:pPr>
            <a:r>
              <a:rPr lang="en-US"/>
              <a:t>django.contrib.messages – A messaging framework.</a:t>
            </a:r>
          </a:p>
          <a:p>
            <a:pPr marL="0" indent="0">
              <a:lnSpc>
                <a:spcPct val="150000"/>
              </a:lnSpc>
              <a:spcBef>
                <a:spcPts val="0"/>
              </a:spcBef>
            </a:pPr>
            <a:r>
              <a:rPr lang="en-US"/>
              <a:t>django.contrib.staticfiles – A framework for managing static files.</a:t>
            </a:r>
          </a:p>
        </p:txBody>
      </p:sp>
    </p:spTree>
    <p:extLst>
      <p:ext uri="{BB962C8B-B14F-4D97-AF65-F5344CB8AC3E}">
        <p14:creationId xmlns:p14="http://schemas.microsoft.com/office/powerpoint/2010/main" val="40205709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94A175-8EAA-D541-6DAA-6015500EA60E}"/>
              </a:ext>
            </a:extLst>
          </p:cNvPr>
          <p:cNvSpPr>
            <a:spLocks noGrp="1"/>
          </p:cNvSpPr>
          <p:nvPr>
            <p:ph type="title"/>
          </p:nvPr>
        </p:nvSpPr>
        <p:spPr/>
        <p:txBody>
          <a:bodyPr/>
          <a:lstStyle/>
          <a:p>
            <a:r>
              <a:rPr lang="en-US"/>
              <a:t>Edit settings.py</a:t>
            </a:r>
          </a:p>
        </p:txBody>
      </p:sp>
      <p:sp>
        <p:nvSpPr>
          <p:cNvPr id="4" name="Content Placeholder 3">
            <a:extLst>
              <a:ext uri="{FF2B5EF4-FFF2-40B4-BE49-F238E27FC236}">
                <a16:creationId xmlns:a16="http://schemas.microsoft.com/office/drawing/2014/main" id="{BB9F8586-429F-BA3B-2BDD-A1DD8AB583BB}"/>
              </a:ext>
            </a:extLst>
          </p:cNvPr>
          <p:cNvSpPr>
            <a:spLocks noGrp="1"/>
          </p:cNvSpPr>
          <p:nvPr>
            <p:ph idx="1"/>
          </p:nvPr>
        </p:nvSpPr>
        <p:spPr>
          <a:ln>
            <a:solidFill>
              <a:schemeClr val="accent1"/>
            </a:solidFill>
          </a:ln>
        </p:spPr>
        <p:txBody>
          <a:bodyPr>
            <a:noAutofit/>
          </a:bodyPr>
          <a:lstStyle/>
          <a:p>
            <a:pPr marL="0" indent="0">
              <a:buNone/>
            </a:pPr>
            <a:r>
              <a:rPr lang="en-US" sz="2000"/>
              <a:t>INSTALLED_APPS = [</a:t>
            </a:r>
          </a:p>
          <a:p>
            <a:pPr marL="0" indent="0">
              <a:buNone/>
            </a:pPr>
            <a:r>
              <a:rPr lang="en-US" sz="2000"/>
              <a:t>    'django.contrib.admin',</a:t>
            </a:r>
          </a:p>
          <a:p>
            <a:pPr marL="0" indent="0">
              <a:buNone/>
            </a:pPr>
            <a:r>
              <a:rPr lang="en-US" sz="2000"/>
              <a:t>    'django.contrib.auth',</a:t>
            </a:r>
          </a:p>
          <a:p>
            <a:pPr marL="0" indent="0">
              <a:buNone/>
            </a:pPr>
            <a:r>
              <a:rPr lang="en-US" sz="2000"/>
              <a:t>    'django.contrib.contenttypes',</a:t>
            </a:r>
          </a:p>
          <a:p>
            <a:pPr marL="0" indent="0">
              <a:buNone/>
            </a:pPr>
            <a:r>
              <a:rPr lang="en-US" sz="2000"/>
              <a:t>    'django.contrib.sessions',</a:t>
            </a:r>
          </a:p>
          <a:p>
            <a:pPr marL="0" indent="0">
              <a:buNone/>
            </a:pPr>
            <a:r>
              <a:rPr lang="en-US" sz="2000"/>
              <a:t>    'django.contrib.messages',</a:t>
            </a:r>
          </a:p>
          <a:p>
            <a:pPr marL="0" indent="0">
              <a:buNone/>
            </a:pPr>
            <a:r>
              <a:rPr lang="en-US" sz="2000"/>
              <a:t>    'django.contrib.staticfiles',</a:t>
            </a:r>
          </a:p>
          <a:p>
            <a:pPr marL="0" indent="0">
              <a:buNone/>
            </a:pPr>
            <a:r>
              <a:rPr lang="en-US" sz="2000">
                <a:solidFill>
                  <a:srgbClr val="FF0000"/>
                </a:solidFill>
              </a:rPr>
              <a:t>    'rest_framework',</a:t>
            </a:r>
          </a:p>
          <a:p>
            <a:pPr marL="0" indent="0">
              <a:buNone/>
            </a:pPr>
            <a:r>
              <a:rPr lang="en-US" sz="2000">
                <a:solidFill>
                  <a:srgbClr val="FF0000"/>
                </a:solidFill>
              </a:rPr>
              <a:t>    'iot',  # Your app name</a:t>
            </a:r>
          </a:p>
          <a:p>
            <a:pPr marL="0" indent="0">
              <a:buNone/>
            </a:pPr>
            <a:r>
              <a:rPr lang="en-US" sz="2000">
                <a:solidFill>
                  <a:srgbClr val="FF0000"/>
                </a:solidFill>
              </a:rPr>
              <a:t>    </a:t>
            </a:r>
            <a:r>
              <a:rPr lang="en-US" sz="2000"/>
              <a:t>]</a:t>
            </a:r>
          </a:p>
        </p:txBody>
      </p:sp>
    </p:spTree>
    <p:extLst>
      <p:ext uri="{BB962C8B-B14F-4D97-AF65-F5344CB8AC3E}">
        <p14:creationId xmlns:p14="http://schemas.microsoft.com/office/powerpoint/2010/main" val="161026054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7D06C6-49DD-B644-6C82-EEF30CCA059F}"/>
              </a:ext>
            </a:extLst>
          </p:cNvPr>
          <p:cNvSpPr>
            <a:spLocks noGrp="1"/>
          </p:cNvSpPr>
          <p:nvPr>
            <p:ph type="title"/>
          </p:nvPr>
        </p:nvSpPr>
        <p:spPr/>
        <p:txBody>
          <a:bodyPr/>
          <a:lstStyle/>
          <a:p>
            <a:r>
              <a:rPr lang="en-US" b="0" i="0">
                <a:effectLst/>
                <a:latin typeface="Roboto" panose="02000000000000000000" pitchFamily="2" charset="0"/>
              </a:rPr>
              <a:t>model.py</a:t>
            </a:r>
            <a:endParaRPr lang="en-US"/>
          </a:p>
        </p:txBody>
      </p:sp>
      <p:sp>
        <p:nvSpPr>
          <p:cNvPr id="3" name="Content Placeholder 2">
            <a:extLst>
              <a:ext uri="{FF2B5EF4-FFF2-40B4-BE49-F238E27FC236}">
                <a16:creationId xmlns:a16="http://schemas.microsoft.com/office/drawing/2014/main" id="{2C743CC3-7BDE-035F-2E08-CAE1D115BBBD}"/>
              </a:ext>
            </a:extLst>
          </p:cNvPr>
          <p:cNvSpPr>
            <a:spLocks noGrp="1"/>
          </p:cNvSpPr>
          <p:nvPr>
            <p:ph idx="1"/>
          </p:nvPr>
        </p:nvSpPr>
        <p:spPr>
          <a:xfrm>
            <a:off x="838200" y="1825625"/>
            <a:ext cx="10515600" cy="4615516"/>
          </a:xfrm>
          <a:ln>
            <a:solidFill>
              <a:srgbClr val="0070C0"/>
            </a:solidFill>
          </a:ln>
        </p:spPr>
        <p:txBody>
          <a:bodyPr>
            <a:noAutofit/>
          </a:bodyPr>
          <a:lstStyle/>
          <a:p>
            <a:pPr marL="0" indent="0">
              <a:buNone/>
            </a:pPr>
            <a:r>
              <a:rPr lang="en-US" sz="2000">
                <a:solidFill>
                  <a:schemeClr val="accent5">
                    <a:lumMod val="75000"/>
                  </a:schemeClr>
                </a:solidFill>
              </a:rPr>
              <a:t>from</a:t>
            </a:r>
            <a:r>
              <a:rPr lang="en-US" sz="2000"/>
              <a:t> </a:t>
            </a:r>
            <a:r>
              <a:rPr lang="en-US" sz="2000">
                <a:solidFill>
                  <a:srgbClr val="1F914D"/>
                </a:solidFill>
              </a:rPr>
              <a:t>django.db </a:t>
            </a:r>
            <a:r>
              <a:rPr lang="en-US" sz="2000">
                <a:solidFill>
                  <a:schemeClr val="accent5">
                    <a:lumMod val="75000"/>
                  </a:schemeClr>
                </a:solidFill>
              </a:rPr>
              <a:t>import</a:t>
            </a:r>
            <a:r>
              <a:rPr lang="en-US" sz="2000"/>
              <a:t> </a:t>
            </a:r>
            <a:r>
              <a:rPr lang="en-US" sz="2000">
                <a:solidFill>
                  <a:srgbClr val="1F914D"/>
                </a:solidFill>
              </a:rPr>
              <a:t>models</a:t>
            </a:r>
          </a:p>
          <a:p>
            <a:pPr marL="0" indent="0">
              <a:buNone/>
            </a:pPr>
            <a:endParaRPr lang="en-US" sz="2000"/>
          </a:p>
          <a:p>
            <a:pPr marL="0" indent="0">
              <a:buNone/>
            </a:pPr>
            <a:r>
              <a:rPr lang="en-US" sz="2000">
                <a:solidFill>
                  <a:srgbClr val="0070C0"/>
                </a:solidFill>
              </a:rPr>
              <a:t>class</a:t>
            </a:r>
            <a:r>
              <a:rPr lang="en-US" sz="2000"/>
              <a:t> </a:t>
            </a:r>
            <a:r>
              <a:rPr lang="en-US" sz="2000">
                <a:solidFill>
                  <a:srgbClr val="1F914D"/>
                </a:solidFill>
              </a:rPr>
              <a:t>SensorData</a:t>
            </a:r>
            <a:r>
              <a:rPr lang="en-US" sz="2000"/>
              <a:t>(models.Model):</a:t>
            </a:r>
          </a:p>
          <a:p>
            <a:pPr marL="0" indent="0">
              <a:buNone/>
            </a:pPr>
            <a:r>
              <a:rPr lang="en-US" sz="2000"/>
              <a:t>    apikey = </a:t>
            </a:r>
            <a:r>
              <a:rPr lang="en-US" sz="2000">
                <a:solidFill>
                  <a:srgbClr val="1F914D"/>
                </a:solidFill>
              </a:rPr>
              <a:t>models.CharField</a:t>
            </a:r>
            <a:r>
              <a:rPr lang="en-US" sz="2000"/>
              <a:t>(max_length=50)</a:t>
            </a:r>
          </a:p>
          <a:p>
            <a:pPr marL="0" indent="0">
              <a:buNone/>
            </a:pPr>
            <a:r>
              <a:rPr lang="en-US" sz="2000"/>
              <a:t>    device_id = </a:t>
            </a:r>
            <a:r>
              <a:rPr lang="en-US" sz="2000">
                <a:solidFill>
                  <a:srgbClr val="00B050"/>
                </a:solidFill>
              </a:rPr>
              <a:t>models.CharField</a:t>
            </a:r>
            <a:r>
              <a:rPr lang="en-US" sz="2000"/>
              <a:t>(max_length=50)</a:t>
            </a:r>
          </a:p>
          <a:p>
            <a:pPr marL="0" indent="0">
              <a:buNone/>
            </a:pPr>
            <a:r>
              <a:rPr lang="en-US" sz="2000"/>
              <a:t>    temperature = </a:t>
            </a:r>
            <a:r>
              <a:rPr lang="en-US" sz="2000">
                <a:solidFill>
                  <a:srgbClr val="00B050"/>
                </a:solidFill>
              </a:rPr>
              <a:t>models.FloatField</a:t>
            </a:r>
            <a:r>
              <a:rPr lang="en-US" sz="2000"/>
              <a:t>()</a:t>
            </a:r>
          </a:p>
          <a:p>
            <a:pPr marL="0" indent="0">
              <a:buNone/>
            </a:pPr>
            <a:r>
              <a:rPr lang="en-US" sz="2000"/>
              <a:t>    humidity = </a:t>
            </a:r>
            <a:r>
              <a:rPr lang="en-US" sz="2000">
                <a:solidFill>
                  <a:srgbClr val="00B050"/>
                </a:solidFill>
              </a:rPr>
              <a:t>models.FloatField</a:t>
            </a:r>
            <a:r>
              <a:rPr lang="en-US" sz="2000"/>
              <a:t>()</a:t>
            </a:r>
          </a:p>
          <a:p>
            <a:pPr marL="0" indent="0">
              <a:buNone/>
            </a:pPr>
            <a:r>
              <a:rPr lang="en-US" sz="2000"/>
              <a:t>    timestamp = </a:t>
            </a:r>
            <a:r>
              <a:rPr lang="en-US" sz="2000">
                <a:solidFill>
                  <a:srgbClr val="00B050"/>
                </a:solidFill>
              </a:rPr>
              <a:t>models.DateTimeField</a:t>
            </a:r>
            <a:r>
              <a:rPr lang="en-US" sz="2000"/>
              <a:t>(auto_now_add=True)</a:t>
            </a:r>
          </a:p>
          <a:p>
            <a:pPr marL="0" indent="0">
              <a:buNone/>
            </a:pPr>
            <a:endParaRPr lang="en-US" sz="2000"/>
          </a:p>
          <a:p>
            <a:pPr marL="0" indent="0">
              <a:buNone/>
            </a:pPr>
            <a:r>
              <a:rPr lang="en-US" sz="2000">
                <a:solidFill>
                  <a:srgbClr val="0070C0"/>
                </a:solidFill>
              </a:rPr>
              <a:t>    def </a:t>
            </a:r>
            <a:r>
              <a:rPr lang="en-US" sz="2000"/>
              <a:t>__str__(self):</a:t>
            </a:r>
          </a:p>
          <a:p>
            <a:pPr marL="0" indent="0">
              <a:buNone/>
            </a:pPr>
            <a:r>
              <a:rPr lang="en-US" sz="2000"/>
              <a:t>        </a:t>
            </a:r>
            <a:r>
              <a:rPr lang="en-US" sz="2000">
                <a:solidFill>
                  <a:schemeClr val="accent5">
                    <a:lumMod val="75000"/>
                  </a:schemeClr>
                </a:solidFill>
              </a:rPr>
              <a:t>return</a:t>
            </a:r>
            <a:r>
              <a:rPr lang="en-US" sz="2000"/>
              <a:t> f"{</a:t>
            </a:r>
            <a:r>
              <a:rPr lang="en-US" sz="2000">
                <a:solidFill>
                  <a:srgbClr val="0070C0"/>
                </a:solidFill>
              </a:rPr>
              <a:t>self.device_id</a:t>
            </a:r>
            <a:r>
              <a:rPr lang="en-US" sz="2000"/>
              <a:t>} at {</a:t>
            </a:r>
            <a:r>
              <a:rPr lang="en-US" sz="2000">
                <a:solidFill>
                  <a:srgbClr val="0070C0"/>
                </a:solidFill>
              </a:rPr>
              <a:t>self.timestamp</a:t>
            </a:r>
            <a:r>
              <a:rPr lang="en-US" sz="2000"/>
              <a:t>}"</a:t>
            </a:r>
          </a:p>
        </p:txBody>
      </p:sp>
    </p:spTree>
    <p:extLst>
      <p:ext uri="{BB962C8B-B14F-4D97-AF65-F5344CB8AC3E}">
        <p14:creationId xmlns:p14="http://schemas.microsoft.com/office/powerpoint/2010/main" val="165888153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ECF68A-CC3D-676E-8739-84F5FE89D1D4}"/>
              </a:ext>
            </a:extLst>
          </p:cNvPr>
          <p:cNvSpPr>
            <a:spLocks noGrp="1"/>
          </p:cNvSpPr>
          <p:nvPr>
            <p:ph type="title"/>
          </p:nvPr>
        </p:nvSpPr>
        <p:spPr/>
        <p:txBody>
          <a:bodyPr/>
          <a:lstStyle/>
          <a:p>
            <a:r>
              <a:rPr lang="en-US"/>
              <a:t>Create database table (sqlite3)</a:t>
            </a:r>
          </a:p>
        </p:txBody>
      </p:sp>
      <p:sp>
        <p:nvSpPr>
          <p:cNvPr id="6" name="Content Placeholder 3">
            <a:extLst>
              <a:ext uri="{FF2B5EF4-FFF2-40B4-BE49-F238E27FC236}">
                <a16:creationId xmlns:a16="http://schemas.microsoft.com/office/drawing/2014/main" id="{D25846A5-13D2-C556-8FB6-9C4975D8E612}"/>
              </a:ext>
            </a:extLst>
          </p:cNvPr>
          <p:cNvSpPr txBox="1">
            <a:spLocks/>
          </p:cNvSpPr>
          <p:nvPr/>
        </p:nvSpPr>
        <p:spPr>
          <a:xfrm>
            <a:off x="918706" y="4183086"/>
            <a:ext cx="10515600" cy="646331"/>
          </a:xfrm>
          <a:prstGeom prst="rect">
            <a:avLst/>
          </a:prstGeom>
          <a:ln>
            <a:solidFill>
              <a:schemeClr val="accent1"/>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2600"/>
              <a:t>C:\Users\your-folder\</a:t>
            </a:r>
            <a:r>
              <a:rPr lang="en-US" sz="2600"/>
              <a:t>django-iot </a:t>
            </a:r>
            <a:r>
              <a:rPr lang="fr-FR" sz="2600"/>
              <a:t>&gt; </a:t>
            </a:r>
            <a:r>
              <a:rPr lang="en-US" sz="2600"/>
              <a:t>python manage.py migrate</a:t>
            </a:r>
          </a:p>
          <a:p>
            <a:pPr marL="0" indent="0">
              <a:buFont typeface="Arial" panose="020B0604020202020204" pitchFamily="34" charset="0"/>
              <a:buNone/>
            </a:pPr>
            <a:endParaRPr lang="en-US" sz="2600"/>
          </a:p>
        </p:txBody>
      </p:sp>
      <p:sp>
        <p:nvSpPr>
          <p:cNvPr id="9" name="TextBox 8">
            <a:extLst>
              <a:ext uri="{FF2B5EF4-FFF2-40B4-BE49-F238E27FC236}">
                <a16:creationId xmlns:a16="http://schemas.microsoft.com/office/drawing/2014/main" id="{E789A2EA-04DE-CEB8-10F8-294ABF0A22EC}"/>
              </a:ext>
            </a:extLst>
          </p:cNvPr>
          <p:cNvSpPr txBox="1"/>
          <p:nvPr/>
        </p:nvSpPr>
        <p:spPr>
          <a:xfrm>
            <a:off x="918706" y="2623905"/>
            <a:ext cx="10515600" cy="492443"/>
          </a:xfrm>
          <a:prstGeom prst="rect">
            <a:avLst/>
          </a:prstGeom>
          <a:noFill/>
          <a:ln>
            <a:solidFill>
              <a:schemeClr val="accent1"/>
            </a:solidFill>
          </a:ln>
        </p:spPr>
        <p:txBody>
          <a:bodyPr wrap="square">
            <a:spAutoFit/>
          </a:bodyPr>
          <a:lstStyle/>
          <a:p>
            <a:pPr marL="0" indent="0">
              <a:buNone/>
            </a:pPr>
            <a:r>
              <a:rPr lang="fr-FR" sz="2600"/>
              <a:t>C:\Users\your-folder\</a:t>
            </a:r>
            <a:r>
              <a:rPr lang="en-US" sz="2600"/>
              <a:t>django-iot </a:t>
            </a:r>
            <a:r>
              <a:rPr lang="fr-FR" sz="2600"/>
              <a:t>&gt;  </a:t>
            </a:r>
            <a:r>
              <a:rPr lang="en-US" sz="2600"/>
              <a:t>python manage.py makemigrations iot</a:t>
            </a:r>
          </a:p>
        </p:txBody>
      </p:sp>
    </p:spTree>
    <p:extLst>
      <p:ext uri="{BB962C8B-B14F-4D97-AF65-F5344CB8AC3E}">
        <p14:creationId xmlns:p14="http://schemas.microsoft.com/office/powerpoint/2010/main" val="4049818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299F35-B34B-7A99-FBC0-EC6FD7E74C99}"/>
              </a:ext>
            </a:extLst>
          </p:cNvPr>
          <p:cNvSpPr>
            <a:spLocks noGrp="1"/>
          </p:cNvSpPr>
          <p:nvPr>
            <p:ph type="title"/>
          </p:nvPr>
        </p:nvSpPr>
        <p:spPr>
          <a:xfrm>
            <a:off x="838200" y="365126"/>
            <a:ext cx="10515600" cy="992620"/>
          </a:xfrm>
        </p:spPr>
        <p:txBody>
          <a:bodyPr/>
          <a:lstStyle/>
          <a:p>
            <a:r>
              <a:rPr lang="en-US"/>
              <a:t>urls.py of </a:t>
            </a:r>
            <a:r>
              <a:rPr lang="en-US" sz="4400"/>
              <a:t>myproject  </a:t>
            </a:r>
            <a:endParaRPr lang="en-US"/>
          </a:p>
        </p:txBody>
      </p:sp>
      <p:sp>
        <p:nvSpPr>
          <p:cNvPr id="3" name="Content Placeholder 2">
            <a:extLst>
              <a:ext uri="{FF2B5EF4-FFF2-40B4-BE49-F238E27FC236}">
                <a16:creationId xmlns:a16="http://schemas.microsoft.com/office/drawing/2014/main" id="{DCDF8E26-C662-2535-6D9E-E9BF3DC4D567}"/>
              </a:ext>
            </a:extLst>
          </p:cNvPr>
          <p:cNvSpPr>
            <a:spLocks noGrp="1"/>
          </p:cNvSpPr>
          <p:nvPr>
            <p:ph idx="1"/>
          </p:nvPr>
        </p:nvSpPr>
        <p:spPr>
          <a:xfrm>
            <a:off x="838200" y="4227236"/>
            <a:ext cx="10515600" cy="2255424"/>
          </a:xfrm>
          <a:ln>
            <a:solidFill>
              <a:srgbClr val="0070C0"/>
            </a:solidFill>
          </a:ln>
        </p:spPr>
        <p:txBody>
          <a:bodyPr>
            <a:noAutofit/>
          </a:bodyPr>
          <a:lstStyle/>
          <a:p>
            <a:pPr marL="0" indent="0">
              <a:lnSpc>
                <a:spcPct val="100000"/>
              </a:lnSpc>
              <a:spcBef>
                <a:spcPts val="0"/>
              </a:spcBef>
              <a:buNone/>
            </a:pPr>
            <a:r>
              <a:rPr lang="en-US" sz="1800"/>
              <a:t>from django.urls import path</a:t>
            </a:r>
          </a:p>
          <a:p>
            <a:pPr marL="0" indent="0">
              <a:lnSpc>
                <a:spcPct val="100000"/>
              </a:lnSpc>
              <a:spcBef>
                <a:spcPts val="0"/>
              </a:spcBef>
              <a:buNone/>
            </a:pPr>
            <a:r>
              <a:rPr lang="en-US" sz="1800"/>
              <a:t>from . import views</a:t>
            </a:r>
          </a:p>
          <a:p>
            <a:pPr marL="0" indent="0">
              <a:lnSpc>
                <a:spcPct val="100000"/>
              </a:lnSpc>
              <a:spcBef>
                <a:spcPts val="0"/>
              </a:spcBef>
              <a:buNone/>
            </a:pPr>
            <a:r>
              <a:rPr lang="en-US" sz="1800"/>
              <a:t>urlpatterns = [</a:t>
            </a:r>
          </a:p>
          <a:p>
            <a:pPr marL="0" indent="0">
              <a:lnSpc>
                <a:spcPct val="100000"/>
              </a:lnSpc>
              <a:spcBef>
                <a:spcPts val="0"/>
              </a:spcBef>
              <a:buNone/>
            </a:pPr>
            <a:r>
              <a:rPr lang="en-US" sz="1800"/>
              <a:t>    path('api/sensor/', views.</a:t>
            </a:r>
            <a:r>
              <a:rPr lang="en-US" sz="1800">
                <a:solidFill>
                  <a:srgbClr val="1F914D"/>
                </a:solidFill>
              </a:rPr>
              <a:t>receive_sensor_data</a:t>
            </a:r>
            <a:r>
              <a:rPr lang="en-US" sz="1800"/>
              <a:t>, name='receive_sensor_data'),</a:t>
            </a:r>
          </a:p>
          <a:p>
            <a:pPr marL="0" indent="0">
              <a:lnSpc>
                <a:spcPct val="100000"/>
              </a:lnSpc>
              <a:spcBef>
                <a:spcPts val="0"/>
              </a:spcBef>
              <a:buNone/>
            </a:pPr>
            <a:r>
              <a:rPr lang="en-US" sz="1800"/>
              <a:t>    path('api/sensor/&lt;str:device_id&gt;/', views.</a:t>
            </a:r>
            <a:r>
              <a:rPr lang="en-US" sz="1800">
                <a:solidFill>
                  <a:srgbClr val="1F914D"/>
                </a:solidFill>
              </a:rPr>
              <a:t>get_device_data_api</a:t>
            </a:r>
            <a:r>
              <a:rPr lang="en-US" sz="1800"/>
              <a:t>, name='get_device_data_api'),</a:t>
            </a:r>
          </a:p>
          <a:p>
            <a:pPr marL="0" indent="0">
              <a:lnSpc>
                <a:spcPct val="100000"/>
              </a:lnSpc>
              <a:spcBef>
                <a:spcPts val="0"/>
              </a:spcBef>
              <a:buNone/>
            </a:pPr>
            <a:r>
              <a:rPr lang="en-US" sz="1800"/>
              <a:t>    path('device/&lt;str:device_id&gt;/', views.</a:t>
            </a:r>
            <a:r>
              <a:rPr lang="en-US" sz="1800">
                <a:solidFill>
                  <a:srgbClr val="1F914D"/>
                </a:solidFill>
              </a:rPr>
              <a:t>device_data_view</a:t>
            </a:r>
            <a:r>
              <a:rPr lang="en-US" sz="1800"/>
              <a:t>, name='device_data_view'),</a:t>
            </a:r>
          </a:p>
          <a:p>
            <a:pPr marL="0" indent="0">
              <a:lnSpc>
                <a:spcPct val="100000"/>
              </a:lnSpc>
              <a:spcBef>
                <a:spcPts val="0"/>
              </a:spcBef>
              <a:buNone/>
            </a:pPr>
            <a:r>
              <a:rPr lang="en-US" sz="1800"/>
              <a:t>    path('device/&lt;str:device_id&gt;/gauge/', views.</a:t>
            </a:r>
            <a:r>
              <a:rPr lang="en-US" sz="1800">
                <a:solidFill>
                  <a:srgbClr val="1F914D"/>
                </a:solidFill>
              </a:rPr>
              <a:t>sensor_gauge_view</a:t>
            </a:r>
            <a:r>
              <a:rPr lang="en-US" sz="1800"/>
              <a:t>, name='sensor_gauge_view’),</a:t>
            </a:r>
          </a:p>
          <a:p>
            <a:pPr marL="0" indent="0">
              <a:lnSpc>
                <a:spcPct val="100000"/>
              </a:lnSpc>
              <a:spcBef>
                <a:spcPts val="0"/>
              </a:spcBef>
              <a:buNone/>
            </a:pPr>
            <a:r>
              <a:rPr lang="en-US" sz="1800"/>
              <a:t>]</a:t>
            </a:r>
          </a:p>
        </p:txBody>
      </p:sp>
      <p:sp>
        <p:nvSpPr>
          <p:cNvPr id="7" name="TextBox 6">
            <a:extLst>
              <a:ext uri="{FF2B5EF4-FFF2-40B4-BE49-F238E27FC236}">
                <a16:creationId xmlns:a16="http://schemas.microsoft.com/office/drawing/2014/main" id="{5964E866-34B9-E7CF-D478-70716C4441E7}"/>
              </a:ext>
            </a:extLst>
          </p:cNvPr>
          <p:cNvSpPr txBox="1"/>
          <p:nvPr/>
        </p:nvSpPr>
        <p:spPr>
          <a:xfrm>
            <a:off x="838200" y="1397675"/>
            <a:ext cx="10515600" cy="2031325"/>
          </a:xfrm>
          <a:prstGeom prst="rect">
            <a:avLst/>
          </a:prstGeom>
          <a:noFill/>
          <a:ln>
            <a:solidFill>
              <a:srgbClr val="0070C0"/>
            </a:solidFill>
          </a:ln>
        </p:spPr>
        <p:txBody>
          <a:bodyPr wrap="square">
            <a:spAutoFit/>
          </a:bodyPr>
          <a:lstStyle/>
          <a:p>
            <a:r>
              <a:rPr lang="en-US"/>
              <a:t>from django.contrib import admin</a:t>
            </a:r>
          </a:p>
          <a:p>
            <a:r>
              <a:rPr lang="en-US"/>
              <a:t>from django.urls import path, include</a:t>
            </a:r>
          </a:p>
          <a:p>
            <a:endParaRPr lang="en-US"/>
          </a:p>
          <a:p>
            <a:r>
              <a:rPr lang="en-US"/>
              <a:t>urlpatterns = [</a:t>
            </a:r>
          </a:p>
          <a:p>
            <a:r>
              <a:rPr lang="en-US"/>
              <a:t>    path('admin/', admin.site.urls),</a:t>
            </a:r>
          </a:p>
          <a:p>
            <a:r>
              <a:rPr lang="en-US"/>
              <a:t>    path('', include('iot.urls')),</a:t>
            </a:r>
          </a:p>
          <a:p>
            <a:r>
              <a:rPr lang="en-US"/>
              <a:t>]</a:t>
            </a:r>
          </a:p>
        </p:txBody>
      </p:sp>
      <p:sp>
        <p:nvSpPr>
          <p:cNvPr id="6" name="TextBox 5">
            <a:extLst>
              <a:ext uri="{FF2B5EF4-FFF2-40B4-BE49-F238E27FC236}">
                <a16:creationId xmlns:a16="http://schemas.microsoft.com/office/drawing/2014/main" id="{4F336C7A-9D44-8388-A802-586CAF5EA692}"/>
              </a:ext>
            </a:extLst>
          </p:cNvPr>
          <p:cNvSpPr txBox="1"/>
          <p:nvPr/>
        </p:nvSpPr>
        <p:spPr>
          <a:xfrm>
            <a:off x="838200" y="3429000"/>
            <a:ext cx="6096000" cy="769441"/>
          </a:xfrm>
          <a:prstGeom prst="rect">
            <a:avLst/>
          </a:prstGeom>
          <a:noFill/>
        </p:spPr>
        <p:txBody>
          <a:bodyPr wrap="square">
            <a:spAutoFit/>
          </a:bodyPr>
          <a:lstStyle/>
          <a:p>
            <a:r>
              <a:rPr lang="en-US" sz="4400"/>
              <a:t>urls.py of iot app </a:t>
            </a:r>
          </a:p>
        </p:txBody>
      </p:sp>
    </p:spTree>
    <p:extLst>
      <p:ext uri="{BB962C8B-B14F-4D97-AF65-F5344CB8AC3E}">
        <p14:creationId xmlns:p14="http://schemas.microsoft.com/office/powerpoint/2010/main" val="141268508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4501D7-9892-3A61-30AF-DC2C94E6B21C}"/>
              </a:ext>
            </a:extLst>
          </p:cNvPr>
          <p:cNvSpPr>
            <a:spLocks noGrp="1"/>
          </p:cNvSpPr>
          <p:nvPr>
            <p:ph type="title"/>
          </p:nvPr>
        </p:nvSpPr>
        <p:spPr/>
        <p:txBody>
          <a:bodyPr/>
          <a:lstStyle/>
          <a:p>
            <a:r>
              <a:rPr lang="en-US"/>
              <a:t>Templates (templates/sensor_data.html)</a:t>
            </a:r>
          </a:p>
        </p:txBody>
      </p:sp>
      <p:sp>
        <p:nvSpPr>
          <p:cNvPr id="3" name="Content Placeholder 2">
            <a:extLst>
              <a:ext uri="{FF2B5EF4-FFF2-40B4-BE49-F238E27FC236}">
                <a16:creationId xmlns:a16="http://schemas.microsoft.com/office/drawing/2014/main" id="{7A7B6614-E39E-9759-9BD2-B516D6306954}"/>
              </a:ext>
            </a:extLst>
          </p:cNvPr>
          <p:cNvSpPr>
            <a:spLocks noGrp="1"/>
          </p:cNvSpPr>
          <p:nvPr>
            <p:ph sz="half" idx="1"/>
          </p:nvPr>
        </p:nvSpPr>
        <p:spPr>
          <a:ln>
            <a:solidFill>
              <a:srgbClr val="0070C0"/>
            </a:solidFill>
          </a:ln>
        </p:spPr>
        <p:txBody>
          <a:bodyPr>
            <a:noAutofit/>
          </a:bodyPr>
          <a:lstStyle/>
          <a:p>
            <a:pPr marL="0" indent="0">
              <a:lnSpc>
                <a:spcPct val="100000"/>
              </a:lnSpc>
              <a:spcBef>
                <a:spcPts val="0"/>
              </a:spcBef>
              <a:buNone/>
            </a:pPr>
            <a:r>
              <a:rPr lang="en-US" sz="2000"/>
              <a:t>&lt;!</a:t>
            </a:r>
            <a:r>
              <a:rPr lang="en-US" sz="2000">
                <a:solidFill>
                  <a:srgbClr val="0070C0"/>
                </a:solidFill>
              </a:rPr>
              <a:t>DOCTYPE</a:t>
            </a:r>
            <a:r>
              <a:rPr lang="en-US" sz="2000"/>
              <a:t> html&gt;</a:t>
            </a:r>
          </a:p>
          <a:p>
            <a:pPr marL="0" indent="0">
              <a:lnSpc>
                <a:spcPct val="100000"/>
              </a:lnSpc>
              <a:spcBef>
                <a:spcPts val="0"/>
              </a:spcBef>
              <a:buNone/>
            </a:pPr>
            <a:r>
              <a:rPr lang="en-US" sz="2000"/>
              <a:t>&lt;</a:t>
            </a:r>
            <a:r>
              <a:rPr lang="en-US" sz="2000">
                <a:solidFill>
                  <a:srgbClr val="0070C0"/>
                </a:solidFill>
              </a:rPr>
              <a:t>html</a:t>
            </a:r>
            <a:r>
              <a:rPr lang="en-US" sz="2000"/>
              <a:t>&gt;</a:t>
            </a:r>
          </a:p>
          <a:p>
            <a:pPr marL="0" indent="0">
              <a:lnSpc>
                <a:spcPct val="100000"/>
              </a:lnSpc>
              <a:spcBef>
                <a:spcPts val="0"/>
              </a:spcBef>
              <a:buNone/>
            </a:pPr>
            <a:r>
              <a:rPr lang="en-US" sz="2000"/>
              <a:t>&lt;head&gt; </a:t>
            </a:r>
          </a:p>
          <a:p>
            <a:pPr marL="0" indent="0">
              <a:lnSpc>
                <a:spcPct val="100000"/>
              </a:lnSpc>
              <a:spcBef>
                <a:spcPts val="0"/>
              </a:spcBef>
              <a:buNone/>
            </a:pPr>
            <a:r>
              <a:rPr lang="en-US" sz="2000"/>
              <a:t>    &lt;title&gt;Sensor Data - {{ </a:t>
            </a:r>
            <a:r>
              <a:rPr lang="en-US" sz="2000">
                <a:solidFill>
                  <a:srgbClr val="1F914D"/>
                </a:solidFill>
              </a:rPr>
              <a:t>device_id </a:t>
            </a:r>
            <a:r>
              <a:rPr lang="en-US" sz="2000"/>
              <a:t>}}&lt;/title&gt;</a:t>
            </a:r>
          </a:p>
          <a:p>
            <a:pPr marL="0" indent="0">
              <a:lnSpc>
                <a:spcPct val="100000"/>
              </a:lnSpc>
              <a:spcBef>
                <a:spcPts val="0"/>
              </a:spcBef>
              <a:buNone/>
            </a:pPr>
            <a:r>
              <a:rPr lang="en-US" sz="2000"/>
              <a:t>&lt;/head&gt;</a:t>
            </a:r>
          </a:p>
          <a:p>
            <a:pPr marL="0" indent="0">
              <a:lnSpc>
                <a:spcPct val="100000"/>
              </a:lnSpc>
              <a:spcBef>
                <a:spcPts val="0"/>
              </a:spcBef>
              <a:buNone/>
            </a:pPr>
            <a:r>
              <a:rPr lang="en-US" sz="2000"/>
              <a:t>&lt;body&gt;</a:t>
            </a:r>
          </a:p>
          <a:p>
            <a:pPr marL="0" indent="0">
              <a:lnSpc>
                <a:spcPct val="100000"/>
              </a:lnSpc>
              <a:spcBef>
                <a:spcPts val="0"/>
              </a:spcBef>
              <a:buNone/>
            </a:pPr>
            <a:r>
              <a:rPr lang="en-US" sz="2000"/>
              <a:t>    &lt;h2&gt;Sensor Data for {{ </a:t>
            </a:r>
            <a:r>
              <a:rPr lang="en-US" sz="2000">
                <a:solidFill>
                  <a:srgbClr val="1F914D"/>
                </a:solidFill>
              </a:rPr>
              <a:t>device_id </a:t>
            </a:r>
            <a:r>
              <a:rPr lang="en-US" sz="2000"/>
              <a:t>}}&lt;/h2&gt;</a:t>
            </a:r>
          </a:p>
          <a:p>
            <a:pPr marL="0" indent="0">
              <a:lnSpc>
                <a:spcPct val="100000"/>
              </a:lnSpc>
              <a:spcBef>
                <a:spcPts val="0"/>
              </a:spcBef>
              <a:buNone/>
            </a:pPr>
            <a:r>
              <a:rPr lang="en-US" sz="2000"/>
              <a:t>    &lt;table border="1"&gt;</a:t>
            </a:r>
          </a:p>
          <a:p>
            <a:pPr marL="0" indent="0">
              <a:lnSpc>
                <a:spcPct val="100000"/>
              </a:lnSpc>
              <a:spcBef>
                <a:spcPts val="0"/>
              </a:spcBef>
              <a:buNone/>
            </a:pPr>
            <a:r>
              <a:rPr lang="en-US" sz="2000"/>
              <a:t>        &lt;tr&gt;</a:t>
            </a:r>
          </a:p>
          <a:p>
            <a:pPr marL="0" indent="0">
              <a:lnSpc>
                <a:spcPct val="100000"/>
              </a:lnSpc>
              <a:spcBef>
                <a:spcPts val="0"/>
              </a:spcBef>
              <a:buNone/>
            </a:pPr>
            <a:r>
              <a:rPr lang="en-US" sz="2000"/>
              <a:t>            &lt;th&gt;Timestamp&lt;/th&gt;</a:t>
            </a:r>
          </a:p>
          <a:p>
            <a:pPr marL="0" indent="0">
              <a:lnSpc>
                <a:spcPct val="100000"/>
              </a:lnSpc>
              <a:spcBef>
                <a:spcPts val="0"/>
              </a:spcBef>
              <a:buNone/>
            </a:pPr>
            <a:r>
              <a:rPr lang="en-US" sz="2000"/>
              <a:t>            &lt;th&gt;Temperature (°C)&lt;/th&gt;</a:t>
            </a:r>
          </a:p>
          <a:p>
            <a:pPr marL="0" indent="0">
              <a:lnSpc>
                <a:spcPct val="100000"/>
              </a:lnSpc>
              <a:spcBef>
                <a:spcPts val="0"/>
              </a:spcBef>
              <a:buNone/>
            </a:pPr>
            <a:r>
              <a:rPr lang="en-US" sz="2000"/>
              <a:t>            &lt;th&gt;Humidity (%)&lt;/th&gt;</a:t>
            </a:r>
          </a:p>
          <a:p>
            <a:pPr marL="0" indent="0">
              <a:lnSpc>
                <a:spcPct val="100000"/>
              </a:lnSpc>
              <a:spcBef>
                <a:spcPts val="0"/>
              </a:spcBef>
              <a:buNone/>
            </a:pPr>
            <a:r>
              <a:rPr lang="en-US" sz="2000"/>
              <a:t>        &lt;/tr&gt;</a:t>
            </a:r>
          </a:p>
        </p:txBody>
      </p:sp>
      <p:sp>
        <p:nvSpPr>
          <p:cNvPr id="4" name="Content Placeholder 3">
            <a:extLst>
              <a:ext uri="{FF2B5EF4-FFF2-40B4-BE49-F238E27FC236}">
                <a16:creationId xmlns:a16="http://schemas.microsoft.com/office/drawing/2014/main" id="{501F6862-3194-A498-CF04-E9A7240EF151}"/>
              </a:ext>
            </a:extLst>
          </p:cNvPr>
          <p:cNvSpPr>
            <a:spLocks noGrp="1"/>
          </p:cNvSpPr>
          <p:nvPr>
            <p:ph sz="half" idx="2"/>
          </p:nvPr>
        </p:nvSpPr>
        <p:spPr>
          <a:ln>
            <a:solidFill>
              <a:schemeClr val="accent1"/>
            </a:solidFill>
          </a:ln>
        </p:spPr>
        <p:txBody>
          <a:bodyPr>
            <a:noAutofit/>
          </a:bodyPr>
          <a:lstStyle/>
          <a:p>
            <a:pPr marL="0" indent="0">
              <a:lnSpc>
                <a:spcPct val="100000"/>
              </a:lnSpc>
              <a:spcBef>
                <a:spcPts val="0"/>
              </a:spcBef>
              <a:buNone/>
            </a:pPr>
            <a:r>
              <a:rPr lang="en-US" sz="2000"/>
              <a:t> {% </a:t>
            </a:r>
            <a:r>
              <a:rPr lang="en-US" sz="2000">
                <a:solidFill>
                  <a:srgbClr val="1F914D"/>
                </a:solidFill>
              </a:rPr>
              <a:t>for entry in data </a:t>
            </a:r>
            <a:r>
              <a:rPr lang="en-US" sz="2000"/>
              <a:t>%}</a:t>
            </a:r>
          </a:p>
          <a:p>
            <a:pPr marL="0" indent="0">
              <a:lnSpc>
                <a:spcPct val="100000"/>
              </a:lnSpc>
              <a:spcBef>
                <a:spcPts val="0"/>
              </a:spcBef>
              <a:buNone/>
            </a:pPr>
            <a:r>
              <a:rPr lang="en-US" sz="2000"/>
              <a:t>        &lt;tr&gt;</a:t>
            </a:r>
          </a:p>
          <a:p>
            <a:pPr marL="0" indent="0">
              <a:lnSpc>
                <a:spcPct val="100000"/>
              </a:lnSpc>
              <a:spcBef>
                <a:spcPts val="0"/>
              </a:spcBef>
              <a:buNone/>
            </a:pPr>
            <a:r>
              <a:rPr lang="en-US" sz="2000"/>
              <a:t>            &lt;td&gt;{{ </a:t>
            </a:r>
            <a:r>
              <a:rPr lang="en-US" sz="2000">
                <a:solidFill>
                  <a:srgbClr val="FF0000"/>
                </a:solidFill>
              </a:rPr>
              <a:t>entry.timestamp </a:t>
            </a:r>
            <a:r>
              <a:rPr lang="en-US" sz="2000"/>
              <a:t>}}&lt;/td&gt;</a:t>
            </a:r>
          </a:p>
          <a:p>
            <a:pPr marL="0" indent="0">
              <a:lnSpc>
                <a:spcPct val="100000"/>
              </a:lnSpc>
              <a:spcBef>
                <a:spcPts val="0"/>
              </a:spcBef>
              <a:buNone/>
            </a:pPr>
            <a:r>
              <a:rPr lang="en-US" sz="2000"/>
              <a:t>            &lt;td&gt;{{ </a:t>
            </a:r>
            <a:r>
              <a:rPr lang="en-US" sz="2000">
                <a:solidFill>
                  <a:srgbClr val="FF0000"/>
                </a:solidFill>
              </a:rPr>
              <a:t>entry.temperature </a:t>
            </a:r>
            <a:r>
              <a:rPr lang="en-US" sz="2000"/>
              <a:t>}}&lt;/td&gt;</a:t>
            </a:r>
          </a:p>
          <a:p>
            <a:pPr marL="0" indent="0">
              <a:lnSpc>
                <a:spcPct val="100000"/>
              </a:lnSpc>
              <a:spcBef>
                <a:spcPts val="0"/>
              </a:spcBef>
              <a:buNone/>
            </a:pPr>
            <a:r>
              <a:rPr lang="en-US" sz="2000"/>
              <a:t>            &lt;td&gt;{{ </a:t>
            </a:r>
            <a:r>
              <a:rPr lang="en-US" sz="2000">
                <a:solidFill>
                  <a:srgbClr val="FF0000"/>
                </a:solidFill>
              </a:rPr>
              <a:t>entry.humidity </a:t>
            </a:r>
            <a:r>
              <a:rPr lang="en-US" sz="2000"/>
              <a:t>}}&lt;/td&gt;</a:t>
            </a:r>
          </a:p>
          <a:p>
            <a:pPr marL="0" indent="0">
              <a:lnSpc>
                <a:spcPct val="100000"/>
              </a:lnSpc>
              <a:spcBef>
                <a:spcPts val="0"/>
              </a:spcBef>
              <a:buNone/>
            </a:pPr>
            <a:r>
              <a:rPr lang="en-US" sz="2000"/>
              <a:t>        &lt;/tr&gt;</a:t>
            </a:r>
          </a:p>
          <a:p>
            <a:pPr marL="0" indent="0">
              <a:lnSpc>
                <a:spcPct val="100000"/>
              </a:lnSpc>
              <a:spcBef>
                <a:spcPts val="0"/>
              </a:spcBef>
              <a:buNone/>
            </a:pPr>
            <a:r>
              <a:rPr lang="en-US" sz="2000"/>
              <a:t>        {% </a:t>
            </a:r>
            <a:r>
              <a:rPr lang="en-US" sz="2000">
                <a:solidFill>
                  <a:srgbClr val="1F914D"/>
                </a:solidFill>
              </a:rPr>
              <a:t>endfor</a:t>
            </a:r>
            <a:r>
              <a:rPr lang="en-US" sz="2000"/>
              <a:t> %}</a:t>
            </a:r>
          </a:p>
          <a:p>
            <a:pPr marL="0" indent="0">
              <a:lnSpc>
                <a:spcPct val="100000"/>
              </a:lnSpc>
              <a:spcBef>
                <a:spcPts val="0"/>
              </a:spcBef>
              <a:buNone/>
            </a:pPr>
            <a:r>
              <a:rPr lang="en-US" sz="2000"/>
              <a:t>    &lt;/table&gt;</a:t>
            </a:r>
          </a:p>
          <a:p>
            <a:pPr marL="0" indent="0">
              <a:lnSpc>
                <a:spcPct val="100000"/>
              </a:lnSpc>
              <a:spcBef>
                <a:spcPts val="0"/>
              </a:spcBef>
              <a:buNone/>
            </a:pPr>
            <a:r>
              <a:rPr lang="en-US" sz="2000"/>
              <a:t>&lt;/body&gt;</a:t>
            </a:r>
          </a:p>
          <a:p>
            <a:pPr marL="0" indent="0">
              <a:lnSpc>
                <a:spcPct val="100000"/>
              </a:lnSpc>
              <a:spcBef>
                <a:spcPts val="0"/>
              </a:spcBef>
              <a:buNone/>
            </a:pPr>
            <a:r>
              <a:rPr lang="en-US" sz="2000"/>
              <a:t>&lt;/</a:t>
            </a:r>
            <a:r>
              <a:rPr lang="en-US" sz="2000">
                <a:solidFill>
                  <a:srgbClr val="0070C0"/>
                </a:solidFill>
              </a:rPr>
              <a:t>html</a:t>
            </a:r>
            <a:r>
              <a:rPr lang="en-US" sz="2000"/>
              <a:t>&gt;</a:t>
            </a:r>
          </a:p>
        </p:txBody>
      </p:sp>
    </p:spTree>
    <p:extLst>
      <p:ext uri="{BB962C8B-B14F-4D97-AF65-F5344CB8AC3E}">
        <p14:creationId xmlns:p14="http://schemas.microsoft.com/office/powerpoint/2010/main" val="222805062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C03509-CC19-5327-6A6B-1E9A6C202D4B}"/>
              </a:ext>
            </a:extLst>
          </p:cNvPr>
          <p:cNvSpPr>
            <a:spLocks noGrp="1"/>
          </p:cNvSpPr>
          <p:nvPr>
            <p:ph type="title"/>
          </p:nvPr>
        </p:nvSpPr>
        <p:spPr/>
        <p:txBody>
          <a:bodyPr anchor="t">
            <a:noAutofit/>
          </a:bodyPr>
          <a:lstStyle/>
          <a:p>
            <a:r>
              <a:rPr lang="en-US" sz="4800"/>
              <a:t>views.py</a:t>
            </a:r>
          </a:p>
        </p:txBody>
      </p:sp>
      <p:sp>
        <p:nvSpPr>
          <p:cNvPr id="3" name="Content Placeholder 2">
            <a:extLst>
              <a:ext uri="{FF2B5EF4-FFF2-40B4-BE49-F238E27FC236}">
                <a16:creationId xmlns:a16="http://schemas.microsoft.com/office/drawing/2014/main" id="{CA0E1266-8932-E540-2CE6-5F0492DF47AA}"/>
              </a:ext>
            </a:extLst>
          </p:cNvPr>
          <p:cNvSpPr>
            <a:spLocks noGrp="1"/>
          </p:cNvSpPr>
          <p:nvPr>
            <p:ph idx="1"/>
          </p:nvPr>
        </p:nvSpPr>
        <p:spPr>
          <a:xfrm>
            <a:off x="838200" y="1331689"/>
            <a:ext cx="10515600" cy="4553726"/>
          </a:xfrm>
          <a:ln>
            <a:solidFill>
              <a:srgbClr val="0070C0"/>
            </a:solidFill>
          </a:ln>
        </p:spPr>
        <p:txBody>
          <a:bodyPr>
            <a:normAutofit/>
          </a:bodyPr>
          <a:lstStyle/>
          <a:p>
            <a:pPr marL="0" indent="0">
              <a:spcBef>
                <a:spcPts val="0"/>
              </a:spcBef>
              <a:buNone/>
            </a:pPr>
            <a:r>
              <a:rPr lang="en-US" sz="2000">
                <a:solidFill>
                  <a:schemeClr val="accent5"/>
                </a:solidFill>
              </a:rPr>
              <a:t>from</a:t>
            </a:r>
            <a:r>
              <a:rPr lang="en-US" sz="2000"/>
              <a:t> rest_framework.decorators </a:t>
            </a:r>
            <a:r>
              <a:rPr lang="en-US" sz="2000">
                <a:solidFill>
                  <a:schemeClr val="accent5"/>
                </a:solidFill>
              </a:rPr>
              <a:t>import</a:t>
            </a:r>
            <a:r>
              <a:rPr lang="en-US" sz="2000"/>
              <a:t> api_view</a:t>
            </a:r>
          </a:p>
          <a:p>
            <a:pPr marL="0" indent="0">
              <a:spcBef>
                <a:spcPts val="0"/>
              </a:spcBef>
              <a:buNone/>
            </a:pPr>
            <a:r>
              <a:rPr lang="en-US" sz="2000">
                <a:solidFill>
                  <a:schemeClr val="accent5"/>
                </a:solidFill>
              </a:rPr>
              <a:t>from</a:t>
            </a:r>
            <a:r>
              <a:rPr lang="en-US" sz="2000"/>
              <a:t> rest_framework.response import Response</a:t>
            </a:r>
          </a:p>
          <a:p>
            <a:pPr marL="0" indent="0">
              <a:spcBef>
                <a:spcPts val="0"/>
              </a:spcBef>
              <a:buNone/>
            </a:pPr>
            <a:r>
              <a:rPr lang="en-US" sz="2000">
                <a:solidFill>
                  <a:schemeClr val="accent5"/>
                </a:solidFill>
              </a:rPr>
              <a:t>from</a:t>
            </a:r>
            <a:r>
              <a:rPr lang="en-US" sz="2000"/>
              <a:t> rest_framework import status</a:t>
            </a:r>
          </a:p>
          <a:p>
            <a:pPr marL="0" indent="0">
              <a:spcBef>
                <a:spcPts val="0"/>
              </a:spcBef>
              <a:buNone/>
            </a:pPr>
            <a:r>
              <a:rPr lang="en-US" sz="2000">
                <a:solidFill>
                  <a:schemeClr val="accent5"/>
                </a:solidFill>
              </a:rPr>
              <a:t>from</a:t>
            </a:r>
            <a:r>
              <a:rPr lang="en-US" sz="2000"/>
              <a:t> .models import SensorData</a:t>
            </a:r>
          </a:p>
          <a:p>
            <a:pPr marL="0" indent="0">
              <a:spcBef>
                <a:spcPts val="0"/>
              </a:spcBef>
              <a:buNone/>
            </a:pPr>
            <a:r>
              <a:rPr lang="en-US" sz="2000">
                <a:solidFill>
                  <a:schemeClr val="accent5"/>
                </a:solidFill>
              </a:rPr>
              <a:t>from</a:t>
            </a:r>
            <a:r>
              <a:rPr lang="en-US" sz="2000"/>
              <a:t> .serializers import SensorDataSerializer</a:t>
            </a:r>
          </a:p>
          <a:p>
            <a:pPr marL="0" indent="0">
              <a:spcBef>
                <a:spcPts val="0"/>
              </a:spcBef>
              <a:buNone/>
            </a:pPr>
            <a:r>
              <a:rPr lang="en-US" sz="2000">
                <a:solidFill>
                  <a:schemeClr val="accent5"/>
                </a:solidFill>
              </a:rPr>
              <a:t>from</a:t>
            </a:r>
            <a:r>
              <a:rPr lang="en-US" sz="2000"/>
              <a:t> django.shortcuts import render</a:t>
            </a:r>
          </a:p>
          <a:p>
            <a:pPr marL="0" indent="0">
              <a:spcBef>
                <a:spcPts val="0"/>
              </a:spcBef>
              <a:buNone/>
            </a:pPr>
            <a:r>
              <a:rPr lang="en-US" sz="2000">
                <a:solidFill>
                  <a:srgbClr val="0070C0"/>
                </a:solidFill>
              </a:rPr>
              <a:t>@api_view</a:t>
            </a:r>
            <a:r>
              <a:rPr lang="en-US" sz="2000"/>
              <a:t>(['POST'])</a:t>
            </a:r>
          </a:p>
          <a:p>
            <a:pPr marL="0" indent="0">
              <a:spcBef>
                <a:spcPts val="0"/>
              </a:spcBef>
              <a:buNone/>
            </a:pPr>
            <a:r>
              <a:rPr lang="en-US" sz="2000">
                <a:solidFill>
                  <a:schemeClr val="accent5"/>
                </a:solidFill>
              </a:rPr>
              <a:t>def</a:t>
            </a:r>
            <a:r>
              <a:rPr lang="en-US" sz="2000"/>
              <a:t> </a:t>
            </a:r>
            <a:r>
              <a:rPr lang="en-US" sz="2000">
                <a:solidFill>
                  <a:srgbClr val="0070C0"/>
                </a:solidFill>
              </a:rPr>
              <a:t>receive_sensor_data</a:t>
            </a:r>
            <a:r>
              <a:rPr lang="en-US" sz="2000"/>
              <a:t>(request):</a:t>
            </a:r>
          </a:p>
          <a:p>
            <a:pPr marL="0" indent="0">
              <a:spcBef>
                <a:spcPts val="0"/>
              </a:spcBef>
              <a:buNone/>
            </a:pPr>
            <a:r>
              <a:rPr lang="en-US" sz="2000"/>
              <a:t>    serializer = SensorDataSerializer(data=request.data)</a:t>
            </a:r>
          </a:p>
          <a:p>
            <a:pPr marL="0" indent="0">
              <a:spcBef>
                <a:spcPts val="0"/>
              </a:spcBef>
              <a:buNone/>
            </a:pPr>
            <a:r>
              <a:rPr lang="en-US" sz="2000"/>
              <a:t>    if serializer.is_valid():</a:t>
            </a:r>
          </a:p>
          <a:p>
            <a:pPr marL="0" indent="0">
              <a:spcBef>
                <a:spcPts val="0"/>
              </a:spcBef>
              <a:buNone/>
            </a:pPr>
            <a:r>
              <a:rPr lang="en-US" sz="2000"/>
              <a:t>        serializer.save()</a:t>
            </a:r>
          </a:p>
          <a:p>
            <a:pPr marL="0" indent="0">
              <a:spcBef>
                <a:spcPts val="0"/>
              </a:spcBef>
              <a:buNone/>
            </a:pPr>
            <a:r>
              <a:rPr lang="en-US" sz="2000"/>
              <a:t>        return Response({"message": "Data saved"}, status=status.HTTP_201_CREATED)</a:t>
            </a:r>
          </a:p>
          <a:p>
            <a:pPr marL="0" indent="0">
              <a:spcBef>
                <a:spcPts val="0"/>
              </a:spcBef>
              <a:buNone/>
            </a:pPr>
            <a:r>
              <a:rPr lang="en-US" sz="2000"/>
              <a:t>    return Response(serializer.errors, status=status.HTTP_400_BAD_REQUEST)</a:t>
            </a:r>
          </a:p>
          <a:p>
            <a:pPr marL="0" indent="0">
              <a:spcBef>
                <a:spcPts val="0"/>
              </a:spcBef>
              <a:buNone/>
            </a:pPr>
            <a:r>
              <a:rPr lang="en-US" sz="2000">
                <a:solidFill>
                  <a:schemeClr val="accent5"/>
                </a:solidFill>
              </a:rPr>
              <a:t>def</a:t>
            </a:r>
            <a:r>
              <a:rPr lang="en-US" sz="2000"/>
              <a:t> </a:t>
            </a:r>
            <a:r>
              <a:rPr lang="en-US" sz="2000">
                <a:solidFill>
                  <a:srgbClr val="0070C0"/>
                </a:solidFill>
              </a:rPr>
              <a:t>device_data_view</a:t>
            </a:r>
            <a:r>
              <a:rPr lang="en-US" sz="2000"/>
              <a:t>(request, device_id):</a:t>
            </a:r>
          </a:p>
          <a:p>
            <a:pPr marL="0" indent="0">
              <a:spcBef>
                <a:spcPts val="0"/>
              </a:spcBef>
              <a:buNone/>
            </a:pPr>
            <a:r>
              <a:rPr lang="en-US" sz="2000"/>
              <a:t>    data = SensorData.objects.filter(device_id=device_id).order_by('-timestamp')[:50]</a:t>
            </a:r>
          </a:p>
          <a:p>
            <a:pPr marL="0" indent="0">
              <a:spcBef>
                <a:spcPts val="0"/>
              </a:spcBef>
              <a:buNone/>
            </a:pPr>
            <a:r>
              <a:rPr lang="en-US" sz="2000"/>
              <a:t>    return render(request, </a:t>
            </a:r>
            <a:r>
              <a:rPr lang="en-US" sz="2000">
                <a:solidFill>
                  <a:srgbClr val="FF5050"/>
                </a:solidFill>
              </a:rPr>
              <a:t>'sensor_data.html</a:t>
            </a:r>
            <a:r>
              <a:rPr lang="en-US" sz="2000"/>
              <a:t>', {'device_id': device_id, 'data': data})</a:t>
            </a:r>
          </a:p>
        </p:txBody>
      </p:sp>
      <p:sp>
        <p:nvSpPr>
          <p:cNvPr id="5" name="TextBox 4">
            <a:extLst>
              <a:ext uri="{FF2B5EF4-FFF2-40B4-BE49-F238E27FC236}">
                <a16:creationId xmlns:a16="http://schemas.microsoft.com/office/drawing/2014/main" id="{802D17B2-4937-8A1A-58CB-FFFEEB4F06F5}"/>
              </a:ext>
            </a:extLst>
          </p:cNvPr>
          <p:cNvSpPr txBox="1"/>
          <p:nvPr/>
        </p:nvSpPr>
        <p:spPr>
          <a:xfrm>
            <a:off x="723899" y="5969655"/>
            <a:ext cx="10744202" cy="523220"/>
          </a:xfrm>
          <a:prstGeom prst="rect">
            <a:avLst/>
          </a:prstGeom>
          <a:noFill/>
        </p:spPr>
        <p:txBody>
          <a:bodyPr wrap="square">
            <a:spAutoFit/>
          </a:bodyPr>
          <a:lstStyle/>
          <a:p>
            <a:pPr algn="ctr"/>
            <a:r>
              <a:rPr lang="en-US" sz="2800">
                <a:solidFill>
                  <a:srgbClr val="FF0000"/>
                </a:solidFill>
              </a:rPr>
              <a:t>(</a:t>
            </a:r>
            <a:r>
              <a:rPr lang="en-US" sz="2400">
                <a:solidFill>
                  <a:srgbClr val="FF0000"/>
                </a:solidFill>
              </a:rPr>
              <a:t>refer views.py at https://github.com/jdpark7/unsia-iot/tree/main/week10/iot</a:t>
            </a:r>
            <a:r>
              <a:rPr lang="en-US" sz="2800">
                <a:solidFill>
                  <a:srgbClr val="FF0000"/>
                </a:solidFill>
              </a:rPr>
              <a:t>)</a:t>
            </a:r>
            <a:endParaRPr lang="en-US" sz="2400">
              <a:solidFill>
                <a:srgbClr val="FF0000"/>
              </a:solidFill>
            </a:endParaRPr>
          </a:p>
        </p:txBody>
      </p:sp>
    </p:spTree>
    <p:extLst>
      <p:ext uri="{BB962C8B-B14F-4D97-AF65-F5344CB8AC3E}">
        <p14:creationId xmlns:p14="http://schemas.microsoft.com/office/powerpoint/2010/main" val="424006800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55238A-C151-C1B7-A751-7E00789A42CB}"/>
              </a:ext>
            </a:extLst>
          </p:cNvPr>
          <p:cNvSpPr>
            <a:spLocks noGrp="1"/>
          </p:cNvSpPr>
          <p:nvPr>
            <p:ph type="title"/>
          </p:nvPr>
        </p:nvSpPr>
        <p:spPr/>
        <p:txBody>
          <a:bodyPr/>
          <a:lstStyle/>
          <a:p>
            <a:r>
              <a:rPr lang="en-US"/>
              <a:t>utils.py</a:t>
            </a:r>
          </a:p>
        </p:txBody>
      </p:sp>
      <p:sp>
        <p:nvSpPr>
          <p:cNvPr id="3" name="Content Placeholder 2">
            <a:extLst>
              <a:ext uri="{FF2B5EF4-FFF2-40B4-BE49-F238E27FC236}">
                <a16:creationId xmlns:a16="http://schemas.microsoft.com/office/drawing/2014/main" id="{1FC126FC-FB9A-02ED-BC68-0A05D11EDA38}"/>
              </a:ext>
            </a:extLst>
          </p:cNvPr>
          <p:cNvSpPr>
            <a:spLocks noGrp="1"/>
          </p:cNvSpPr>
          <p:nvPr>
            <p:ph idx="1"/>
          </p:nvPr>
        </p:nvSpPr>
        <p:spPr>
          <a:ln>
            <a:solidFill>
              <a:schemeClr val="accent1"/>
            </a:solidFill>
          </a:ln>
        </p:spPr>
        <p:txBody>
          <a:bodyPr/>
          <a:lstStyle/>
          <a:p>
            <a:pPr marL="0" indent="0">
              <a:buNone/>
            </a:pPr>
            <a:r>
              <a:rPr lang="en-US"/>
              <a:t># iot/utils.py</a:t>
            </a:r>
          </a:p>
          <a:p>
            <a:pPr marL="0" indent="0">
              <a:buNone/>
            </a:pPr>
            <a:r>
              <a:rPr lang="en-US"/>
              <a:t>VALID_API_KEYS = {</a:t>
            </a:r>
          </a:p>
          <a:p>
            <a:pPr marL="0" indent="0">
              <a:buNone/>
            </a:pPr>
            <a:r>
              <a:rPr lang="en-US"/>
              <a:t>    "abc123": "device01",</a:t>
            </a:r>
          </a:p>
          <a:p>
            <a:pPr marL="0" indent="0">
              <a:buNone/>
            </a:pPr>
            <a:r>
              <a:rPr lang="en-US"/>
              <a:t>    "xyz789": "device02",</a:t>
            </a:r>
          </a:p>
          <a:p>
            <a:pPr marL="0" indent="0">
              <a:buNone/>
            </a:pPr>
            <a:r>
              <a:rPr lang="en-US"/>
              <a:t>}</a:t>
            </a:r>
          </a:p>
          <a:p>
            <a:pPr marL="0" indent="0">
              <a:buNone/>
            </a:pPr>
            <a:endParaRPr lang="en-US"/>
          </a:p>
          <a:p>
            <a:pPr marL="0" indent="0">
              <a:buNone/>
            </a:pPr>
            <a:r>
              <a:rPr lang="en-US"/>
              <a:t>def is_valid_apikey(apikey, device_id):</a:t>
            </a:r>
          </a:p>
          <a:p>
            <a:pPr marL="0" indent="0">
              <a:buNone/>
            </a:pPr>
            <a:r>
              <a:rPr lang="en-US"/>
              <a:t>    return VALID_API_KEYS.get(apikey) == device_id</a:t>
            </a:r>
          </a:p>
        </p:txBody>
      </p:sp>
    </p:spTree>
    <p:extLst>
      <p:ext uri="{BB962C8B-B14F-4D97-AF65-F5344CB8AC3E}">
        <p14:creationId xmlns:p14="http://schemas.microsoft.com/office/powerpoint/2010/main" val="189237127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C4083F-1AF4-84AD-3044-CA771DFA110E}"/>
              </a:ext>
            </a:extLst>
          </p:cNvPr>
          <p:cNvSpPr>
            <a:spLocks noGrp="1"/>
          </p:cNvSpPr>
          <p:nvPr>
            <p:ph type="title"/>
          </p:nvPr>
        </p:nvSpPr>
        <p:spPr/>
        <p:txBody>
          <a:bodyPr/>
          <a:lstStyle/>
          <a:p>
            <a:r>
              <a:rPr lang="en-US"/>
              <a:t>serializers.py</a:t>
            </a:r>
          </a:p>
        </p:txBody>
      </p:sp>
      <p:sp>
        <p:nvSpPr>
          <p:cNvPr id="3" name="Content Placeholder 2">
            <a:extLst>
              <a:ext uri="{FF2B5EF4-FFF2-40B4-BE49-F238E27FC236}">
                <a16:creationId xmlns:a16="http://schemas.microsoft.com/office/drawing/2014/main" id="{B38641EB-2548-6F9C-A4FC-F29898B3B940}"/>
              </a:ext>
            </a:extLst>
          </p:cNvPr>
          <p:cNvSpPr>
            <a:spLocks noGrp="1"/>
          </p:cNvSpPr>
          <p:nvPr>
            <p:ph idx="1"/>
          </p:nvPr>
        </p:nvSpPr>
        <p:spPr>
          <a:ln>
            <a:solidFill>
              <a:schemeClr val="accent1"/>
            </a:solidFill>
          </a:ln>
        </p:spPr>
        <p:txBody>
          <a:bodyPr/>
          <a:lstStyle/>
          <a:p>
            <a:pPr marL="0" indent="0">
              <a:buNone/>
            </a:pPr>
            <a:r>
              <a:rPr lang="en-US"/>
              <a:t>from rest_framework import serializers</a:t>
            </a:r>
          </a:p>
          <a:p>
            <a:pPr marL="0" indent="0">
              <a:buNone/>
            </a:pPr>
            <a:r>
              <a:rPr lang="en-US"/>
              <a:t>from .models import SensorData</a:t>
            </a:r>
          </a:p>
          <a:p>
            <a:pPr marL="0" indent="0">
              <a:buNone/>
            </a:pPr>
            <a:endParaRPr lang="en-US"/>
          </a:p>
          <a:p>
            <a:pPr marL="0" indent="0">
              <a:buNone/>
            </a:pPr>
            <a:r>
              <a:rPr lang="en-US"/>
              <a:t>class SensorDataSerializer(serializers.ModelSerializer):</a:t>
            </a:r>
          </a:p>
          <a:p>
            <a:pPr marL="0" indent="0">
              <a:buNone/>
            </a:pPr>
            <a:r>
              <a:rPr lang="en-US"/>
              <a:t>    class Meta:</a:t>
            </a:r>
          </a:p>
          <a:p>
            <a:pPr marL="0" indent="0">
              <a:buNone/>
            </a:pPr>
            <a:r>
              <a:rPr lang="en-US"/>
              <a:t>        model = SensorData</a:t>
            </a:r>
          </a:p>
          <a:p>
            <a:pPr marL="0" indent="0">
              <a:buNone/>
            </a:pPr>
            <a:r>
              <a:rPr lang="en-US"/>
              <a:t>        fields = '__all__'</a:t>
            </a:r>
          </a:p>
        </p:txBody>
      </p:sp>
    </p:spTree>
    <p:extLst>
      <p:ext uri="{BB962C8B-B14F-4D97-AF65-F5344CB8AC3E}">
        <p14:creationId xmlns:p14="http://schemas.microsoft.com/office/powerpoint/2010/main" val="212666074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0DFC902-7D23-471A-B557-B6B6917D7A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 y="-5705"/>
            <a:ext cx="12191990" cy="1694346"/>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2">
            <a:extLst>
              <a:ext uri="{FF2B5EF4-FFF2-40B4-BE49-F238E27FC236}">
                <a16:creationId xmlns:a16="http://schemas.microsoft.com/office/drawing/2014/main" id="{BC928CBC-9885-7487-86AF-FDDB119774A1}"/>
              </a:ext>
            </a:extLst>
          </p:cNvPr>
          <p:cNvSpPr>
            <a:spLocks noGrp="1"/>
          </p:cNvSpPr>
          <p:nvPr>
            <p:ph type="title"/>
          </p:nvPr>
        </p:nvSpPr>
        <p:spPr>
          <a:xfrm>
            <a:off x="1156851" y="637762"/>
            <a:ext cx="9888496" cy="900131"/>
          </a:xfrm>
        </p:spPr>
        <p:txBody>
          <a:bodyPr anchor="t">
            <a:normAutofit/>
          </a:bodyPr>
          <a:lstStyle/>
          <a:p>
            <a:r>
              <a:rPr lang="en-US" sz="4000">
                <a:solidFill>
                  <a:schemeClr val="bg1"/>
                </a:solidFill>
              </a:rPr>
              <a:t>Send data using curl command</a:t>
            </a:r>
          </a:p>
        </p:txBody>
      </p:sp>
      <p:sp>
        <p:nvSpPr>
          <p:cNvPr id="11" name="Rectangle 10">
            <a:extLst>
              <a:ext uri="{FF2B5EF4-FFF2-40B4-BE49-F238E27FC236}">
                <a16:creationId xmlns:a16="http://schemas.microsoft.com/office/drawing/2014/main" id="{A55D5633-D557-4DCA-982C-FF36EB7A1C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688641"/>
            <a:ext cx="12191990" cy="516935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450D3AD2-FA80-415F-A9CE-54D884561C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6851" y="2010758"/>
            <a:ext cx="457190" cy="4571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Content Placeholder 3">
            <a:extLst>
              <a:ext uri="{FF2B5EF4-FFF2-40B4-BE49-F238E27FC236}">
                <a16:creationId xmlns:a16="http://schemas.microsoft.com/office/drawing/2014/main" id="{C41FBCDD-E1DD-DD15-A72D-2A9C6E2B1578}"/>
              </a:ext>
            </a:extLst>
          </p:cNvPr>
          <p:cNvSpPr>
            <a:spLocks noGrp="1"/>
          </p:cNvSpPr>
          <p:nvPr>
            <p:ph idx="1"/>
          </p:nvPr>
        </p:nvSpPr>
        <p:spPr>
          <a:xfrm>
            <a:off x="1155548" y="3061663"/>
            <a:ext cx="9880893" cy="2926181"/>
          </a:xfrm>
          <a:ln>
            <a:solidFill>
              <a:schemeClr val="accent1"/>
            </a:solidFill>
          </a:ln>
        </p:spPr>
        <p:txBody>
          <a:bodyPr>
            <a:normAutofit/>
          </a:bodyPr>
          <a:lstStyle/>
          <a:p>
            <a:pPr marL="0" indent="0">
              <a:buNone/>
            </a:pPr>
            <a:r>
              <a:rPr lang="en-US" sz="2400"/>
              <a:t>C:\Users\your-folder\django-iot &gt; python manage.py runserver</a:t>
            </a:r>
          </a:p>
          <a:p>
            <a:pPr marL="0" indent="0">
              <a:buNone/>
            </a:pPr>
            <a:endParaRPr lang="en-US" sz="2400"/>
          </a:p>
          <a:p>
            <a:pPr marL="0" indent="0">
              <a:buNone/>
            </a:pPr>
            <a:r>
              <a:rPr lang="en-US" sz="2400"/>
              <a:t>C:\Users\your-folder\django-iot &gt; curl -X POST http://127.0.0.1:8000/api/sensor/ -H "Content-Type: application/json" -d "{\"apikey\":\"abc123\", \"device_id\":\"device01\", \"temperature\":25.3, \"humidity\":56.7}"</a:t>
            </a:r>
          </a:p>
          <a:p>
            <a:pPr marL="0" indent="0">
              <a:buNone/>
            </a:pPr>
            <a:endParaRPr lang="en-US" sz="2400"/>
          </a:p>
        </p:txBody>
      </p:sp>
    </p:spTree>
    <p:extLst>
      <p:ext uri="{BB962C8B-B14F-4D97-AF65-F5344CB8AC3E}">
        <p14:creationId xmlns:p14="http://schemas.microsoft.com/office/powerpoint/2010/main" val="60516228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9DB35479-D22F-0AB1-4779-8C5199F22CD2}"/>
              </a:ext>
            </a:extLst>
          </p:cNvPr>
          <p:cNvSpPr>
            <a:spLocks noGrp="1"/>
          </p:cNvSpPr>
          <p:nvPr>
            <p:ph type="title"/>
          </p:nvPr>
        </p:nvSpPr>
        <p:spPr>
          <a:xfrm>
            <a:off x="556532" y="643467"/>
            <a:ext cx="11210925" cy="744836"/>
          </a:xfrm>
        </p:spPr>
        <p:txBody>
          <a:bodyPr>
            <a:normAutofit/>
          </a:bodyPr>
          <a:lstStyle/>
          <a:p>
            <a:pPr algn="ctr"/>
            <a:r>
              <a:rPr lang="en-US" sz="3200">
                <a:solidFill>
                  <a:schemeClr val="bg1"/>
                </a:solidFill>
              </a:rPr>
              <a:t>Visit http://localhost:8000/device/device01</a:t>
            </a:r>
          </a:p>
        </p:txBody>
      </p:sp>
      <p:pic>
        <p:nvPicPr>
          <p:cNvPr id="6" name="Picture 5">
            <a:extLst>
              <a:ext uri="{FF2B5EF4-FFF2-40B4-BE49-F238E27FC236}">
                <a16:creationId xmlns:a16="http://schemas.microsoft.com/office/drawing/2014/main" id="{1EE882BD-9242-262C-E0AB-90331B8759CD}"/>
              </a:ext>
            </a:extLst>
          </p:cNvPr>
          <p:cNvPicPr>
            <a:picLocks noChangeAspect="1"/>
          </p:cNvPicPr>
          <p:nvPr/>
        </p:nvPicPr>
        <p:blipFill>
          <a:blip r:embed="rId3"/>
          <a:srcRect l="-7112" t="28113" r="1" b="10220"/>
          <a:stretch/>
        </p:blipFill>
        <p:spPr>
          <a:xfrm>
            <a:off x="643467" y="1980967"/>
            <a:ext cx="10905066" cy="3782719"/>
          </a:xfrm>
          <a:prstGeom prst="rect">
            <a:avLst/>
          </a:prstGeom>
        </p:spPr>
      </p:pic>
    </p:spTree>
    <p:extLst>
      <p:ext uri="{BB962C8B-B14F-4D97-AF65-F5344CB8AC3E}">
        <p14:creationId xmlns:p14="http://schemas.microsoft.com/office/powerpoint/2010/main" val="228313456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10F1CCF5-8D13-601C-413A-0C362EDA6E3E}"/>
              </a:ext>
            </a:extLst>
          </p:cNvPr>
          <p:cNvSpPr>
            <a:spLocks noGrp="1"/>
          </p:cNvSpPr>
          <p:nvPr>
            <p:ph type="title"/>
          </p:nvPr>
        </p:nvSpPr>
        <p:spPr>
          <a:xfrm>
            <a:off x="556532" y="643467"/>
            <a:ext cx="11210925" cy="744836"/>
          </a:xfrm>
        </p:spPr>
        <p:txBody>
          <a:bodyPr>
            <a:normAutofit/>
          </a:bodyPr>
          <a:lstStyle/>
          <a:p>
            <a:pPr algn="ctr"/>
            <a:r>
              <a:rPr lang="en-US" sz="3200">
                <a:solidFill>
                  <a:schemeClr val="bg1"/>
                </a:solidFill>
              </a:rPr>
              <a:t>Visit http://localhost:8000/device/device01/gauge/</a:t>
            </a:r>
          </a:p>
        </p:txBody>
      </p:sp>
      <p:pic>
        <p:nvPicPr>
          <p:cNvPr id="6" name="Picture 5">
            <a:extLst>
              <a:ext uri="{FF2B5EF4-FFF2-40B4-BE49-F238E27FC236}">
                <a16:creationId xmlns:a16="http://schemas.microsoft.com/office/drawing/2014/main" id="{2A562A08-74FA-FF8F-9E9F-420424AB7099}"/>
              </a:ext>
            </a:extLst>
          </p:cNvPr>
          <p:cNvPicPr>
            <a:picLocks noChangeAspect="1"/>
          </p:cNvPicPr>
          <p:nvPr/>
        </p:nvPicPr>
        <p:blipFill>
          <a:blip r:embed="rId3"/>
          <a:stretch>
            <a:fillRect/>
          </a:stretch>
        </p:blipFill>
        <p:spPr>
          <a:xfrm>
            <a:off x="1723662" y="1675227"/>
            <a:ext cx="8744676" cy="4394199"/>
          </a:xfrm>
          <a:prstGeom prst="rect">
            <a:avLst/>
          </a:prstGeom>
        </p:spPr>
      </p:pic>
    </p:spTree>
    <p:extLst>
      <p:ext uri="{BB962C8B-B14F-4D97-AF65-F5344CB8AC3E}">
        <p14:creationId xmlns:p14="http://schemas.microsoft.com/office/powerpoint/2010/main" val="68787318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B2AD3A-9A40-7047-E5AC-4AEA88A382BD}"/>
              </a:ext>
            </a:extLst>
          </p:cNvPr>
          <p:cNvSpPr>
            <a:spLocks noGrp="1"/>
          </p:cNvSpPr>
          <p:nvPr>
            <p:ph type="title"/>
          </p:nvPr>
        </p:nvSpPr>
        <p:spPr/>
        <p:txBody>
          <a:bodyPr/>
          <a:lstStyle/>
          <a:p>
            <a:r>
              <a:rPr lang="en-US"/>
              <a:t>Summary</a:t>
            </a:r>
          </a:p>
        </p:txBody>
      </p:sp>
      <p:graphicFrame>
        <p:nvGraphicFramePr>
          <p:cNvPr id="5" name="Content Placeholder 2">
            <a:extLst>
              <a:ext uri="{FF2B5EF4-FFF2-40B4-BE49-F238E27FC236}">
                <a16:creationId xmlns:a16="http://schemas.microsoft.com/office/drawing/2014/main" id="{B71F1C96-D507-BFDC-AE6C-FCA00B269D47}"/>
              </a:ext>
            </a:extLst>
          </p:cNvPr>
          <p:cNvGraphicFramePr>
            <a:graphicFrameLocks noGrp="1"/>
          </p:cNvGraphicFramePr>
          <p:nvPr>
            <p:ph idx="1"/>
          </p:nvPr>
        </p:nvGraphicFramePr>
        <p:xfrm>
          <a:off x="838200" y="1825625"/>
          <a:ext cx="10515600" cy="384507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43013595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2343</TotalTime>
  <Words>5175</Words>
  <Application>Microsoft Office PowerPoint</Application>
  <PresentationFormat>Widescreen</PresentationFormat>
  <Paragraphs>457</Paragraphs>
  <Slides>24</Slides>
  <Notes>24</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24</vt:i4>
      </vt:variant>
    </vt:vector>
  </HeadingPairs>
  <TitlesOfParts>
    <vt:vector size="32" baseType="lpstr">
      <vt:lpstr>Inter</vt:lpstr>
      <vt:lpstr>Aptos</vt:lpstr>
      <vt:lpstr>Aptos Display</vt:lpstr>
      <vt:lpstr>Arial</vt:lpstr>
      <vt:lpstr>Calibri</vt:lpstr>
      <vt:lpstr>Roboto</vt:lpstr>
      <vt:lpstr>Wingdings</vt:lpstr>
      <vt:lpstr>Office Theme</vt:lpstr>
      <vt:lpstr>Developing a Django Web Application for IoT Data</vt:lpstr>
      <vt:lpstr>Learning Objectives</vt:lpstr>
      <vt:lpstr>Web Development</vt:lpstr>
      <vt:lpstr>What is Djanogo?</vt:lpstr>
      <vt:lpstr>Key Features of Django</vt:lpstr>
      <vt:lpstr>How to start a Django-project?</vt:lpstr>
      <vt:lpstr>django-admin startproject myproject django-iot</vt:lpstr>
      <vt:lpstr>In CMD, type python manage.py runserver Then visit http://localhost:8000</vt:lpstr>
      <vt:lpstr>Structure of Django Web Applications</vt:lpstr>
      <vt:lpstr>Create iot app in django-iot project folder</vt:lpstr>
      <vt:lpstr>Use ChatGPT to create your Django Applicaions</vt:lpstr>
      <vt:lpstr>Installed Apps in settings.py</vt:lpstr>
      <vt:lpstr>Edit settings.py</vt:lpstr>
      <vt:lpstr>model.py</vt:lpstr>
      <vt:lpstr>Create database table (sqlite3)</vt:lpstr>
      <vt:lpstr>urls.py of myproject  </vt:lpstr>
      <vt:lpstr>Templates (templates/sensor_data.html)</vt:lpstr>
      <vt:lpstr>views.py</vt:lpstr>
      <vt:lpstr>utils.py</vt:lpstr>
      <vt:lpstr>serializers.py</vt:lpstr>
      <vt:lpstr>Send data using curl command</vt:lpstr>
      <vt:lpstr>Visit http://localhost:8000/device/device01</vt:lpstr>
      <vt:lpstr>Visit http://localhost:8000/device/device01/gauge/</vt:lpstr>
      <vt:lpstr>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Jong-Dae Park</dc:creator>
  <cp:lastModifiedBy>Jong-Dae Park</cp:lastModifiedBy>
  <cp:revision>29</cp:revision>
  <dcterms:created xsi:type="dcterms:W3CDTF">2025-05-12T06:03:18Z</dcterms:created>
  <dcterms:modified xsi:type="dcterms:W3CDTF">2025-05-19T22:10:46Z</dcterms:modified>
</cp:coreProperties>
</file>