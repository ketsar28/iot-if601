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4.svg" ContentType="image/svg"/>
  <Override PartName="/ppt/media/image16.svg" ContentType="image/svg"/>
  <Override PartName="/ppt/media/image18.svg" ContentType="image/svg"/>
  <Override PartName="/ppt/media/image2.svg" ContentType="image/svg"/>
  <Override PartName="/ppt/media/image20.svg" ContentType="image/svg"/>
  <Override PartName="/ppt/media/image4.svg" ContentType="image/svg"/>
  <Override PartName="/ppt/media/image6.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p:sldMasterIdLst>
    <p:sldMasterId id="2147483662"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def="{5C22544A-7EE6-4342-B048-85BDC9FD1C3A}">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vertBarState="maximized">
    <p:restoredLeft sz="14995"/>
    <p:restoredTop sz="52834"/>
  </p:normalViewPr>
  <p:slideViewPr>
    <p:cSldViewPr snapToGrid="0">
      <p:cViewPr varScale="1">
        <p:scale>
          <a:sx n="50" d="100"/>
          <a:sy n="50" d="100"/>
        </p:scale>
        <p:origin x="2910" y="276"/>
      </p:cViewPr>
    </p:cSldViewPr>
  </p:slideViewPr>
  <p:notesTextViewPr>
    <p:cViewPr>
      <p:scale>
        <a:sx n="100" d="100"/>
        <a:sy n="100" d="100"/>
      </p:scale>
      <p:origin x="0" y="0"/>
    </p:cViewPr>
  </p:notesTextViewPr>
  <p:gridSpacing cx="36868100" cy="368681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presProps" Target="presProps.xml"  /><Relationship Id="rId28" Type="http://schemas.openxmlformats.org/officeDocument/2006/relationships/viewProps" Target="viewProps.xml"  /><Relationship Id="rId29" Type="http://schemas.openxmlformats.org/officeDocument/2006/relationships/theme" Target="theme/theme1.xml"  /><Relationship Id="rId3" Type="http://schemas.openxmlformats.org/officeDocument/2006/relationships/slide" Target="slides/slide1.xml"  /><Relationship Id="rId30"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diagrams/_rels/data1.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svg"  /><Relationship Id="rId3" Type="http://schemas.openxmlformats.org/officeDocument/2006/relationships/image" Target="../media/image3.png"  /><Relationship Id="rId4" Type="http://schemas.openxmlformats.org/officeDocument/2006/relationships/image" Target="../media/image4.svg"  /><Relationship Id="rId5" Type="http://schemas.openxmlformats.org/officeDocument/2006/relationships/image" Target="../media/image5.png"  /><Relationship Id="rId6" Type="http://schemas.openxmlformats.org/officeDocument/2006/relationships/image" Target="../media/image6.svg"  /></Relationships>
</file>

<file path=ppt/diagrams/_rels/data2.xml.rels><?xml version="1.0" encoding="UTF-8" standalone="yes" ?><Relationships xmlns="http://schemas.openxmlformats.org/package/2006/relationships"><Relationship Id="rId1" Type="http://schemas.openxmlformats.org/officeDocument/2006/relationships/image" Target="../media/image13.png"  /><Relationship Id="rId2" Type="http://schemas.openxmlformats.org/officeDocument/2006/relationships/image" Target="../media/image14.svg"  /><Relationship Id="rId3" Type="http://schemas.openxmlformats.org/officeDocument/2006/relationships/image" Target="../media/image15.png"  /><Relationship Id="rId4" Type="http://schemas.openxmlformats.org/officeDocument/2006/relationships/image" Target="../media/image16.svg"  /><Relationship Id="rId5" Type="http://schemas.openxmlformats.org/officeDocument/2006/relationships/image" Target="../media/image17.png"  /><Relationship Id="rId6" Type="http://schemas.openxmlformats.org/officeDocument/2006/relationships/image" Target="../media/image18.svg"  /><Relationship Id="rId7" Type="http://schemas.openxmlformats.org/officeDocument/2006/relationships/image" Target="../media/image19.png"  /><Relationship Id="rId8" Type="http://schemas.openxmlformats.org/officeDocument/2006/relationships/image" Target="../media/image20.svg"  /></Relationships>
</file>

<file path=ppt/diagrams/_rels/drawing1.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svg"  /><Relationship Id="rId3" Type="http://schemas.openxmlformats.org/officeDocument/2006/relationships/image" Target="../media/image3.png"  /><Relationship Id="rId4" Type="http://schemas.openxmlformats.org/officeDocument/2006/relationships/image" Target="../media/image4.svg"  /><Relationship Id="rId5" Type="http://schemas.openxmlformats.org/officeDocument/2006/relationships/image" Target="../media/image5.png"  /><Relationship Id="rId6" Type="http://schemas.openxmlformats.org/officeDocument/2006/relationships/image" Target="../media/image6.svg"  /></Relationships>
</file>

<file path=ppt/diagrams/_rels/drawing2.xml.rels><?xml version="1.0" encoding="UTF-8" standalone="yes" ?><Relationships xmlns="http://schemas.openxmlformats.org/package/2006/relationships"><Relationship Id="rId1" Type="http://schemas.openxmlformats.org/officeDocument/2006/relationships/image" Target="../media/image13.png"  /><Relationship Id="rId2" Type="http://schemas.openxmlformats.org/officeDocument/2006/relationships/image" Target="../media/image14.svg"  /><Relationship Id="rId3" Type="http://schemas.openxmlformats.org/officeDocument/2006/relationships/image" Target="../media/image15.png"  /><Relationship Id="rId4" Type="http://schemas.openxmlformats.org/officeDocument/2006/relationships/image" Target="../media/image16.svg"  /><Relationship Id="rId5" Type="http://schemas.openxmlformats.org/officeDocument/2006/relationships/image" Target="../media/image17.png"  /><Relationship Id="rId6" Type="http://schemas.openxmlformats.org/officeDocument/2006/relationships/image" Target="../media/image18.svg"  /><Relationship Id="rId7" Type="http://schemas.openxmlformats.org/officeDocument/2006/relationships/image" Target="../media/image19.png"  /><Relationship Id="rId8" Type="http://schemas.openxmlformats.org/officeDocument/2006/relationships/image" Target="../media/image20.sv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53FEF-A225-4570-AD83-6CB65DB17CA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36257F8-377A-496E-850F-5D5A5D8E7669}">
      <dgm:prSet/>
      <dgm:spPr/>
      <dgm:t>
        <a:bodyPr/>
        <a:lstStyle/>
        <a:p>
          <a:pPr>
            <a:lnSpc>
              <a:spcPct val="100000"/>
            </a:lnSpc>
          </a:pPr>
          <a:r>
            <a:rPr lang="en-US"/>
            <a:t>Get Experienced in Django Web Framework</a:t>
          </a:r>
        </a:p>
      </dgm:t>
    </dgm:pt>
    <dgm:pt modelId="{8F66037C-97AF-4782-A00B-B6D605C08FEF}" type="parTrans" cxnId="{BF54C8F6-8DCD-4EA4-8F2E-06CAA4411E39}">
      <dgm:prSet/>
      <dgm:spPr/>
      <dgm:t>
        <a:bodyPr/>
        <a:lstStyle/>
        <a:p>
          <a:endParaRPr lang="en-US"/>
        </a:p>
      </dgm:t>
    </dgm:pt>
    <dgm:pt modelId="{7228E6A1-14EF-4CE9-B59B-5C0471175984}" type="sibTrans" cxnId="{BF54C8F6-8DCD-4EA4-8F2E-06CAA4411E39}">
      <dgm:prSet/>
      <dgm:spPr/>
      <dgm:t>
        <a:bodyPr/>
        <a:lstStyle/>
        <a:p>
          <a:endParaRPr lang="en-US"/>
        </a:p>
      </dgm:t>
    </dgm:pt>
    <dgm:pt modelId="{00084F08-5E7E-4A63-ACEB-C5EA8BB088A4}">
      <dgm:prSet/>
      <dgm:spPr/>
      <dgm:t>
        <a:bodyPr/>
        <a:lstStyle/>
        <a:p>
          <a:pPr>
            <a:lnSpc>
              <a:spcPct val="100000"/>
            </a:lnSpc>
          </a:pPr>
          <a:r>
            <a:rPr lang="en-US"/>
            <a:t>Meet Customers Requirements for IoT App</a:t>
          </a:r>
        </a:p>
      </dgm:t>
    </dgm:pt>
    <dgm:pt modelId="{CBCD0547-3EAE-4943-837C-8AE0CFFE62E4}" type="parTrans" cxnId="{0B2D64A6-509E-4116-844F-C30239DCDB36}">
      <dgm:prSet/>
      <dgm:spPr/>
      <dgm:t>
        <a:bodyPr/>
        <a:lstStyle/>
        <a:p>
          <a:endParaRPr lang="en-US"/>
        </a:p>
      </dgm:t>
    </dgm:pt>
    <dgm:pt modelId="{F1DB31F2-3ED2-42D4-A7CD-BB5E3B067177}" type="sibTrans" cxnId="{0B2D64A6-509E-4116-844F-C30239DCDB36}">
      <dgm:prSet/>
      <dgm:spPr/>
      <dgm:t>
        <a:bodyPr/>
        <a:lstStyle/>
        <a:p>
          <a:endParaRPr lang="en-US"/>
        </a:p>
      </dgm:t>
    </dgm:pt>
    <dgm:pt modelId="{13EBE1BE-8902-48A6-B9D3-D982E176D032}">
      <dgm:prSet/>
      <dgm:spPr/>
      <dgm:t>
        <a:bodyPr/>
        <a:lstStyle/>
        <a:p>
          <a:pPr>
            <a:lnSpc>
              <a:spcPct val="100000"/>
            </a:lnSpc>
          </a:pPr>
          <a:r>
            <a:rPr lang="en-US"/>
            <a:t>Using AI tools such as ChatGPT to develop Web Applications</a:t>
          </a:r>
        </a:p>
      </dgm:t>
    </dgm:pt>
    <dgm:pt modelId="{ABE69161-ED44-4E2C-A42C-C0D9D00C3F42}" type="parTrans" cxnId="{E9B98BD8-104D-4613-939B-9A8B0067A979}">
      <dgm:prSet/>
      <dgm:spPr/>
      <dgm:t>
        <a:bodyPr/>
        <a:lstStyle/>
        <a:p>
          <a:endParaRPr lang="en-US"/>
        </a:p>
      </dgm:t>
    </dgm:pt>
    <dgm:pt modelId="{706CC931-A016-4A5B-BC5D-8CB548E88264}" type="sibTrans" cxnId="{E9B98BD8-104D-4613-939B-9A8B0067A979}">
      <dgm:prSet/>
      <dgm:spPr/>
      <dgm:t>
        <a:bodyPr/>
        <a:lstStyle/>
        <a:p>
          <a:endParaRPr lang="en-US"/>
        </a:p>
      </dgm:t>
    </dgm:pt>
    <dgm:pt modelId="{F4DFA45E-3464-491D-A2FC-F2DCE880AD5C}" type="pres">
      <dgm:prSet presAssocID="{1AF53FEF-A225-4570-AD83-6CB65DB17CA3}" presName="root" presStyleCnt="0">
        <dgm:presLayoutVars>
          <dgm:dir/>
          <dgm:resizeHandles val="exact"/>
        </dgm:presLayoutVars>
      </dgm:prSet>
      <dgm:spPr/>
    </dgm:pt>
    <dgm:pt modelId="{E234C99A-7A39-4DA5-BABD-F536AAE9B84A}" type="pres">
      <dgm:prSet presAssocID="{736257F8-377A-496E-850F-5D5A5D8E7669}" presName="compNode" presStyleCnt="0"/>
      <dgm:spPr/>
    </dgm:pt>
    <dgm:pt modelId="{8D77C7CD-8121-4C22-815B-C7E66F7ABC33}" type="pres">
      <dgm:prSet presAssocID="{736257F8-377A-496E-850F-5D5A5D8E7669}" presName="bgRect" presStyleLbl="bgShp" presStyleIdx="0" presStyleCnt="3"/>
      <dgm:spPr/>
    </dgm:pt>
    <dgm:pt modelId="{BD6D5F4F-62EF-4D56-A66B-A664962F36CE}" type="pres">
      <dgm:prSet presAssocID="{736257F8-377A-496E-850F-5D5A5D8E766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phones"/>
        </a:ext>
      </dgm:extLst>
    </dgm:pt>
    <dgm:pt modelId="{E7D28542-A93E-40C5-B4FA-C6D925498EE6}" type="pres">
      <dgm:prSet presAssocID="{736257F8-377A-496E-850F-5D5A5D8E7669}" presName="spaceRect" presStyleCnt="0"/>
      <dgm:spPr/>
    </dgm:pt>
    <dgm:pt modelId="{ECE36B61-6989-49E8-AB13-F4FB03C64B4F}" type="pres">
      <dgm:prSet presAssocID="{736257F8-377A-496E-850F-5D5A5D8E7669}" presName="parTx" presStyleLbl="revTx" presStyleIdx="0" presStyleCnt="3">
        <dgm:presLayoutVars>
          <dgm:chMax val="0"/>
          <dgm:chPref val="0"/>
        </dgm:presLayoutVars>
      </dgm:prSet>
      <dgm:spPr/>
    </dgm:pt>
    <dgm:pt modelId="{912A90CF-4299-4004-A438-A6402AB46F20}" type="pres">
      <dgm:prSet presAssocID="{7228E6A1-14EF-4CE9-B59B-5C0471175984}" presName="sibTrans" presStyleCnt="0"/>
      <dgm:spPr/>
    </dgm:pt>
    <dgm:pt modelId="{D87242DC-25B4-43FF-900F-BFEE2BF140E0}" type="pres">
      <dgm:prSet presAssocID="{00084F08-5E7E-4A63-ACEB-C5EA8BB088A4}" presName="compNode" presStyleCnt="0"/>
      <dgm:spPr/>
    </dgm:pt>
    <dgm:pt modelId="{694A8120-899E-432B-B519-F7A3B1330CB0}" type="pres">
      <dgm:prSet presAssocID="{00084F08-5E7E-4A63-ACEB-C5EA8BB088A4}" presName="bgRect" presStyleLbl="bgShp" presStyleIdx="1" presStyleCnt="3"/>
      <dgm:spPr/>
    </dgm:pt>
    <dgm:pt modelId="{9E704C10-C1B3-4AA7-9372-5BF8FDAF9AA4}" type="pres">
      <dgm:prSet presAssocID="{00084F08-5E7E-4A63-ACEB-C5EA8BB088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9331A75B-1F14-426F-ACE9-61E0757C2548}" type="pres">
      <dgm:prSet presAssocID="{00084F08-5E7E-4A63-ACEB-C5EA8BB088A4}" presName="spaceRect" presStyleCnt="0"/>
      <dgm:spPr/>
    </dgm:pt>
    <dgm:pt modelId="{D503019C-1000-429C-8066-67656DB92B50}" type="pres">
      <dgm:prSet presAssocID="{00084F08-5E7E-4A63-ACEB-C5EA8BB088A4}" presName="parTx" presStyleLbl="revTx" presStyleIdx="1" presStyleCnt="3">
        <dgm:presLayoutVars>
          <dgm:chMax val="0"/>
          <dgm:chPref val="0"/>
        </dgm:presLayoutVars>
      </dgm:prSet>
      <dgm:spPr/>
    </dgm:pt>
    <dgm:pt modelId="{14539989-206D-46FE-A14B-270331BFF313}" type="pres">
      <dgm:prSet presAssocID="{F1DB31F2-3ED2-42D4-A7CD-BB5E3B067177}" presName="sibTrans" presStyleCnt="0"/>
      <dgm:spPr/>
    </dgm:pt>
    <dgm:pt modelId="{7D5D804E-1B8D-4AD6-A86C-DF746691D882}" type="pres">
      <dgm:prSet presAssocID="{13EBE1BE-8902-48A6-B9D3-D982E176D032}" presName="compNode" presStyleCnt="0"/>
      <dgm:spPr/>
    </dgm:pt>
    <dgm:pt modelId="{FCC1BB4F-87CF-4AAF-BA94-C76BC0FF881B}" type="pres">
      <dgm:prSet presAssocID="{13EBE1BE-8902-48A6-B9D3-D982E176D032}" presName="bgRect" presStyleLbl="bgShp" presStyleIdx="2" presStyleCnt="3"/>
      <dgm:spPr/>
    </dgm:pt>
    <dgm:pt modelId="{C9148F37-F268-44FC-8806-6AAC61315BBD}" type="pres">
      <dgm:prSet presAssocID="{13EBE1BE-8902-48A6-B9D3-D982E176D0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7EC9D731-E6D2-41B0-A393-778699C88A17}" type="pres">
      <dgm:prSet presAssocID="{13EBE1BE-8902-48A6-B9D3-D982E176D032}" presName="spaceRect" presStyleCnt="0"/>
      <dgm:spPr/>
    </dgm:pt>
    <dgm:pt modelId="{E3F271A5-73AA-4E8A-A5F0-72BF565A5A2F}" type="pres">
      <dgm:prSet presAssocID="{13EBE1BE-8902-48A6-B9D3-D982E176D032}" presName="parTx" presStyleLbl="revTx" presStyleIdx="2" presStyleCnt="3">
        <dgm:presLayoutVars>
          <dgm:chMax val="0"/>
          <dgm:chPref val="0"/>
        </dgm:presLayoutVars>
      </dgm:prSet>
      <dgm:spPr/>
    </dgm:pt>
  </dgm:ptLst>
  <dgm:cxnLst>
    <dgm:cxn modelId="{BC481D15-779E-4C17-8EB3-BFC2D2A0442C}" type="presOf" srcId="{1AF53FEF-A225-4570-AD83-6CB65DB17CA3}" destId="{F4DFA45E-3464-491D-A2FC-F2DCE880AD5C}" srcOrd="0" destOrd="0" presId="urn:microsoft.com/office/officeart/2018/2/layout/IconVerticalSolidList"/>
    <dgm:cxn modelId="{2DE5D04C-FA23-4F78-8517-148E495CCD91}" type="presOf" srcId="{13EBE1BE-8902-48A6-B9D3-D982E176D032}" destId="{E3F271A5-73AA-4E8A-A5F0-72BF565A5A2F}" srcOrd="0" destOrd="0" presId="urn:microsoft.com/office/officeart/2018/2/layout/IconVerticalSolidList"/>
    <dgm:cxn modelId="{DDF13386-A08A-45A1-8017-CB36C704DA38}" type="presOf" srcId="{00084F08-5E7E-4A63-ACEB-C5EA8BB088A4}" destId="{D503019C-1000-429C-8066-67656DB92B50}" srcOrd="0" destOrd="0" presId="urn:microsoft.com/office/officeart/2018/2/layout/IconVerticalSolidList"/>
    <dgm:cxn modelId="{0B2D64A6-509E-4116-844F-C30239DCDB36}" srcId="{1AF53FEF-A225-4570-AD83-6CB65DB17CA3}" destId="{00084F08-5E7E-4A63-ACEB-C5EA8BB088A4}" srcOrd="1" destOrd="0" parTransId="{CBCD0547-3EAE-4943-837C-8AE0CFFE62E4}" sibTransId="{F1DB31F2-3ED2-42D4-A7CD-BB5E3B067177}"/>
    <dgm:cxn modelId="{E9B98BD8-104D-4613-939B-9A8B0067A979}" srcId="{1AF53FEF-A225-4570-AD83-6CB65DB17CA3}" destId="{13EBE1BE-8902-48A6-B9D3-D982E176D032}" srcOrd="2" destOrd="0" parTransId="{ABE69161-ED44-4E2C-A42C-C0D9D00C3F42}" sibTransId="{706CC931-A016-4A5B-BC5D-8CB548E88264}"/>
    <dgm:cxn modelId="{DA3FE4DF-B575-44AF-85FA-FD251CC9D860}" type="presOf" srcId="{736257F8-377A-496E-850F-5D5A5D8E7669}" destId="{ECE36B61-6989-49E8-AB13-F4FB03C64B4F}" srcOrd="0" destOrd="0" presId="urn:microsoft.com/office/officeart/2018/2/layout/IconVerticalSolidList"/>
    <dgm:cxn modelId="{BF54C8F6-8DCD-4EA4-8F2E-06CAA4411E39}" srcId="{1AF53FEF-A225-4570-AD83-6CB65DB17CA3}" destId="{736257F8-377A-496E-850F-5D5A5D8E7669}" srcOrd="0" destOrd="0" parTransId="{8F66037C-97AF-4782-A00B-B6D605C08FEF}" sibTransId="{7228E6A1-14EF-4CE9-B59B-5C0471175984}"/>
    <dgm:cxn modelId="{D713B27A-BE53-4816-AAE0-162D1AE4EF73}" type="presParOf" srcId="{F4DFA45E-3464-491D-A2FC-F2DCE880AD5C}" destId="{E234C99A-7A39-4DA5-BABD-F536AAE9B84A}" srcOrd="0" destOrd="0" presId="urn:microsoft.com/office/officeart/2018/2/layout/IconVerticalSolidList"/>
    <dgm:cxn modelId="{29C82680-F252-44AF-A68E-E11CC762C3C8}" type="presParOf" srcId="{E234C99A-7A39-4DA5-BABD-F536AAE9B84A}" destId="{8D77C7CD-8121-4C22-815B-C7E66F7ABC33}" srcOrd="0" destOrd="0" presId="urn:microsoft.com/office/officeart/2018/2/layout/IconVerticalSolidList"/>
    <dgm:cxn modelId="{4398E9EA-A0F8-4DC5-ADB3-22C5B4A44489}" type="presParOf" srcId="{E234C99A-7A39-4DA5-BABD-F536AAE9B84A}" destId="{BD6D5F4F-62EF-4D56-A66B-A664962F36CE}" srcOrd="1" destOrd="0" presId="urn:microsoft.com/office/officeart/2018/2/layout/IconVerticalSolidList"/>
    <dgm:cxn modelId="{818918C2-DDB1-473E-84BB-EA67FD013B1E}" type="presParOf" srcId="{E234C99A-7A39-4DA5-BABD-F536AAE9B84A}" destId="{E7D28542-A93E-40C5-B4FA-C6D925498EE6}" srcOrd="2" destOrd="0" presId="urn:microsoft.com/office/officeart/2018/2/layout/IconVerticalSolidList"/>
    <dgm:cxn modelId="{7930E559-6BDC-4F45-8664-870014E259C3}" type="presParOf" srcId="{E234C99A-7A39-4DA5-BABD-F536AAE9B84A}" destId="{ECE36B61-6989-49E8-AB13-F4FB03C64B4F}" srcOrd="3" destOrd="0" presId="urn:microsoft.com/office/officeart/2018/2/layout/IconVerticalSolidList"/>
    <dgm:cxn modelId="{6F1E1474-2525-4E32-A447-33BFDE6DA78B}" type="presParOf" srcId="{F4DFA45E-3464-491D-A2FC-F2DCE880AD5C}" destId="{912A90CF-4299-4004-A438-A6402AB46F20}" srcOrd="1" destOrd="0" presId="urn:microsoft.com/office/officeart/2018/2/layout/IconVerticalSolidList"/>
    <dgm:cxn modelId="{FDAD8552-9582-4456-A19A-6F3BAE622A04}" type="presParOf" srcId="{F4DFA45E-3464-491D-A2FC-F2DCE880AD5C}" destId="{D87242DC-25B4-43FF-900F-BFEE2BF140E0}" srcOrd="2" destOrd="0" presId="urn:microsoft.com/office/officeart/2018/2/layout/IconVerticalSolidList"/>
    <dgm:cxn modelId="{2EE89E84-8B81-4DFA-8F2C-3343999494FB}" type="presParOf" srcId="{D87242DC-25B4-43FF-900F-BFEE2BF140E0}" destId="{694A8120-899E-432B-B519-F7A3B1330CB0}" srcOrd="0" destOrd="0" presId="urn:microsoft.com/office/officeart/2018/2/layout/IconVerticalSolidList"/>
    <dgm:cxn modelId="{7494C559-AEFC-449D-B2E1-E9669BDD8946}" type="presParOf" srcId="{D87242DC-25B4-43FF-900F-BFEE2BF140E0}" destId="{9E704C10-C1B3-4AA7-9372-5BF8FDAF9AA4}" srcOrd="1" destOrd="0" presId="urn:microsoft.com/office/officeart/2018/2/layout/IconVerticalSolidList"/>
    <dgm:cxn modelId="{4820B828-99E7-4B98-9F6F-EBE7B488725A}" type="presParOf" srcId="{D87242DC-25B4-43FF-900F-BFEE2BF140E0}" destId="{9331A75B-1F14-426F-ACE9-61E0757C2548}" srcOrd="2" destOrd="0" presId="urn:microsoft.com/office/officeart/2018/2/layout/IconVerticalSolidList"/>
    <dgm:cxn modelId="{F1BE1725-93EE-4FD4-B7ED-249AACEFA984}" type="presParOf" srcId="{D87242DC-25B4-43FF-900F-BFEE2BF140E0}" destId="{D503019C-1000-429C-8066-67656DB92B50}" srcOrd="3" destOrd="0" presId="urn:microsoft.com/office/officeart/2018/2/layout/IconVerticalSolidList"/>
    <dgm:cxn modelId="{3078A22A-9162-4344-83DB-3826F56453B3}" type="presParOf" srcId="{F4DFA45E-3464-491D-A2FC-F2DCE880AD5C}" destId="{14539989-206D-46FE-A14B-270331BFF313}" srcOrd="3" destOrd="0" presId="urn:microsoft.com/office/officeart/2018/2/layout/IconVerticalSolidList"/>
    <dgm:cxn modelId="{632B44DB-18CB-4E06-AB79-BBBE9C940088}" type="presParOf" srcId="{F4DFA45E-3464-491D-A2FC-F2DCE880AD5C}" destId="{7D5D804E-1B8D-4AD6-A86C-DF746691D882}" srcOrd="4" destOrd="0" presId="urn:microsoft.com/office/officeart/2018/2/layout/IconVerticalSolidList"/>
    <dgm:cxn modelId="{639E001B-65B1-44B9-8300-4F51E2236CCA}" type="presParOf" srcId="{7D5D804E-1B8D-4AD6-A86C-DF746691D882}" destId="{FCC1BB4F-87CF-4AAF-BA94-C76BC0FF881B}" srcOrd="0" destOrd="0" presId="urn:microsoft.com/office/officeart/2018/2/layout/IconVerticalSolidList"/>
    <dgm:cxn modelId="{DB04C4A3-8AAE-4458-A082-7605FA08BB40}" type="presParOf" srcId="{7D5D804E-1B8D-4AD6-A86C-DF746691D882}" destId="{C9148F37-F268-44FC-8806-6AAC61315BBD}" srcOrd="1" destOrd="0" presId="urn:microsoft.com/office/officeart/2018/2/layout/IconVerticalSolidList"/>
    <dgm:cxn modelId="{AFE6E035-2753-4DF7-8D95-C7AADDD918D2}" type="presParOf" srcId="{7D5D804E-1B8D-4AD6-A86C-DF746691D882}" destId="{7EC9D731-E6D2-41B0-A393-778699C88A17}" srcOrd="2" destOrd="0" presId="urn:microsoft.com/office/officeart/2018/2/layout/IconVerticalSolidList"/>
    <dgm:cxn modelId="{4924D06F-0656-4108-B9B8-72527B8A6853}" type="presParOf" srcId="{7D5D804E-1B8D-4AD6-A86C-DF746691D882}" destId="{E3F271A5-73AA-4E8A-A5F0-72BF565A5A2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57945A-BD62-4BD1-97B5-BD47A80F36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B37FC65-49A3-4B1A-BB2E-032FFA4F4AA6}">
      <dgm:prSet/>
      <dgm:spPr/>
      <dgm:t>
        <a:bodyPr/>
        <a:lstStyle/>
        <a:p>
          <a:pPr>
            <a:lnSpc>
              <a:spcPct val="100000"/>
            </a:lnSpc>
          </a:pPr>
          <a:r>
            <a:rPr lang="en-US"/>
            <a:t>Add serializers.py</a:t>
          </a:r>
        </a:p>
      </dgm:t>
    </dgm:pt>
    <dgm:pt modelId="{389ADFAE-C419-47CD-AD9B-7CD2CA43B290}" type="parTrans" cxnId="{C8DDE472-D6A6-4BE5-ACAE-5A3ECBBA4FCF}">
      <dgm:prSet/>
      <dgm:spPr/>
      <dgm:t>
        <a:bodyPr/>
        <a:lstStyle/>
        <a:p>
          <a:endParaRPr lang="en-US"/>
        </a:p>
      </dgm:t>
    </dgm:pt>
    <dgm:pt modelId="{82D15988-E018-4E61-8CDE-5987FC2427D3}" type="sibTrans" cxnId="{C8DDE472-D6A6-4BE5-ACAE-5A3ECBBA4FCF}">
      <dgm:prSet/>
      <dgm:spPr/>
      <dgm:t>
        <a:bodyPr/>
        <a:lstStyle/>
        <a:p>
          <a:endParaRPr lang="en-US"/>
        </a:p>
      </dgm:t>
    </dgm:pt>
    <dgm:pt modelId="{197132FF-FF03-46DC-9B2F-A800FABB7E16}">
      <dgm:prSet/>
      <dgm:spPr/>
      <dgm:t>
        <a:bodyPr/>
        <a:lstStyle/>
        <a:p>
          <a:pPr>
            <a:lnSpc>
              <a:spcPct val="100000"/>
            </a:lnSpc>
          </a:pPr>
          <a:r>
            <a:rPr lang="en-US"/>
            <a:t>Add utils.py</a:t>
          </a:r>
        </a:p>
      </dgm:t>
    </dgm:pt>
    <dgm:pt modelId="{FF793074-CCEB-4631-A044-302FCDC23EED}" type="parTrans" cxnId="{A045DEB0-36F8-4131-98AA-43D71198173B}">
      <dgm:prSet/>
      <dgm:spPr/>
      <dgm:t>
        <a:bodyPr/>
        <a:lstStyle/>
        <a:p>
          <a:endParaRPr lang="en-US"/>
        </a:p>
      </dgm:t>
    </dgm:pt>
    <dgm:pt modelId="{8B148323-42F9-4DDA-BAA6-6178BD76725D}" type="sibTrans" cxnId="{A045DEB0-36F8-4131-98AA-43D71198173B}">
      <dgm:prSet/>
      <dgm:spPr/>
      <dgm:t>
        <a:bodyPr/>
        <a:lstStyle/>
        <a:p>
          <a:endParaRPr lang="en-US"/>
        </a:p>
      </dgm:t>
    </dgm:pt>
    <dgm:pt modelId="{68E68B6E-7360-40DD-9202-4FD417FABB2C}">
      <dgm:prSet/>
      <dgm:spPr/>
      <dgm:t>
        <a:bodyPr/>
        <a:lstStyle/>
        <a:p>
          <a:pPr>
            <a:lnSpc>
              <a:spcPct val="100000"/>
            </a:lnSpc>
          </a:pPr>
          <a:r>
            <a:rPr lang="en-US"/>
            <a:t>Add templates folder</a:t>
          </a:r>
        </a:p>
      </dgm:t>
    </dgm:pt>
    <dgm:pt modelId="{07B1BD99-D84A-46A3-AAC2-62ADC57900BB}" type="parTrans" cxnId="{0970882F-9D8F-4AAE-B14F-90659D547A98}">
      <dgm:prSet/>
      <dgm:spPr/>
      <dgm:t>
        <a:bodyPr/>
        <a:lstStyle/>
        <a:p>
          <a:endParaRPr lang="en-US"/>
        </a:p>
      </dgm:t>
    </dgm:pt>
    <dgm:pt modelId="{5FEE3CD3-F084-4B09-90BC-71FA18150B2D}" type="sibTrans" cxnId="{0970882F-9D8F-4AAE-B14F-90659D547A98}">
      <dgm:prSet/>
      <dgm:spPr/>
      <dgm:t>
        <a:bodyPr/>
        <a:lstStyle/>
        <a:p>
          <a:endParaRPr lang="en-US"/>
        </a:p>
      </dgm:t>
    </dgm:pt>
    <dgm:pt modelId="{74F3CD0C-89E6-48DC-892D-BF424BD2D382}">
      <dgm:prSet/>
      <dgm:spPr/>
      <dgm:t>
        <a:bodyPr/>
        <a:lstStyle/>
        <a:p>
          <a:pPr>
            <a:lnSpc>
              <a:spcPct val="100000"/>
            </a:lnSpc>
          </a:pPr>
          <a:r>
            <a:rPr lang="en-US"/>
            <a:t>Add sensor_data.html file in the template folder</a:t>
          </a:r>
        </a:p>
      </dgm:t>
    </dgm:pt>
    <dgm:pt modelId="{EF526120-F9C7-40AB-A84E-300664F2334C}" type="parTrans" cxnId="{BFA80E3F-F244-4CE4-BE6F-286A62EEEDD1}">
      <dgm:prSet/>
      <dgm:spPr/>
      <dgm:t>
        <a:bodyPr/>
        <a:lstStyle/>
        <a:p>
          <a:endParaRPr lang="en-US"/>
        </a:p>
      </dgm:t>
    </dgm:pt>
    <dgm:pt modelId="{A0F559E1-BB52-4747-9227-65A859084512}" type="sibTrans" cxnId="{BFA80E3F-F244-4CE4-BE6F-286A62EEEDD1}">
      <dgm:prSet/>
      <dgm:spPr/>
      <dgm:t>
        <a:bodyPr/>
        <a:lstStyle/>
        <a:p>
          <a:endParaRPr lang="en-US"/>
        </a:p>
      </dgm:t>
    </dgm:pt>
    <dgm:pt modelId="{AEE19B9F-7F2B-4D26-8469-177665397773}" type="pres">
      <dgm:prSet presAssocID="{3757945A-BD62-4BD1-97B5-BD47A80F365C}" presName="root" presStyleCnt="0">
        <dgm:presLayoutVars>
          <dgm:dir/>
          <dgm:resizeHandles val="exact"/>
        </dgm:presLayoutVars>
      </dgm:prSet>
      <dgm:spPr/>
    </dgm:pt>
    <dgm:pt modelId="{49E7F066-6EFB-41AA-A13F-66794B15298C}" type="pres">
      <dgm:prSet presAssocID="{0B37FC65-49A3-4B1A-BB2E-032FFA4F4AA6}" presName="compNode" presStyleCnt="0"/>
      <dgm:spPr/>
    </dgm:pt>
    <dgm:pt modelId="{297D72F2-1026-4DBD-ADD4-860B7C49D036}" type="pres">
      <dgm:prSet presAssocID="{0B37FC65-49A3-4B1A-BB2E-032FFA4F4AA6}" presName="bgRect" presStyleLbl="bgShp" presStyleIdx="0" presStyleCnt="4"/>
      <dgm:spPr/>
    </dgm:pt>
    <dgm:pt modelId="{38B49003-1714-494E-B241-BB94DE0FF7CB}" type="pres">
      <dgm:prSet presAssocID="{0B37FC65-49A3-4B1A-BB2E-032FFA4F4AA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ome"/>
        </a:ext>
      </dgm:extLst>
    </dgm:pt>
    <dgm:pt modelId="{DDF90880-6A06-4A91-91A9-EEEFD89D7F59}" type="pres">
      <dgm:prSet presAssocID="{0B37FC65-49A3-4B1A-BB2E-032FFA4F4AA6}" presName="spaceRect" presStyleCnt="0"/>
      <dgm:spPr/>
    </dgm:pt>
    <dgm:pt modelId="{FCAB3201-B1DD-454B-B7E0-0C21A6B16832}" type="pres">
      <dgm:prSet presAssocID="{0B37FC65-49A3-4B1A-BB2E-032FFA4F4AA6}" presName="parTx" presStyleLbl="revTx" presStyleIdx="0" presStyleCnt="4">
        <dgm:presLayoutVars>
          <dgm:chMax val="0"/>
          <dgm:chPref val="0"/>
        </dgm:presLayoutVars>
      </dgm:prSet>
      <dgm:spPr/>
    </dgm:pt>
    <dgm:pt modelId="{6F711ABA-604B-40E9-BBBB-0D8690AFBFCA}" type="pres">
      <dgm:prSet presAssocID="{82D15988-E018-4E61-8CDE-5987FC2427D3}" presName="sibTrans" presStyleCnt="0"/>
      <dgm:spPr/>
    </dgm:pt>
    <dgm:pt modelId="{A37B7ACF-B41F-429B-9EB6-432708EC5892}" type="pres">
      <dgm:prSet presAssocID="{197132FF-FF03-46DC-9B2F-A800FABB7E16}" presName="compNode" presStyleCnt="0"/>
      <dgm:spPr/>
    </dgm:pt>
    <dgm:pt modelId="{37A8DD9F-4362-41F9-A22C-D4632E6B773A}" type="pres">
      <dgm:prSet presAssocID="{197132FF-FF03-46DC-9B2F-A800FABB7E16}" presName="bgRect" presStyleLbl="bgShp" presStyleIdx="1" presStyleCnt="4"/>
      <dgm:spPr/>
    </dgm:pt>
    <dgm:pt modelId="{70259D50-87A9-4C06-9CF0-8D0B56363F68}" type="pres">
      <dgm:prSet presAssocID="{197132FF-FF03-46DC-9B2F-A800FABB7E1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dd"/>
        </a:ext>
      </dgm:extLst>
    </dgm:pt>
    <dgm:pt modelId="{BB337B4F-198E-47D7-9432-6A6AED4CEC6D}" type="pres">
      <dgm:prSet presAssocID="{197132FF-FF03-46DC-9B2F-A800FABB7E16}" presName="spaceRect" presStyleCnt="0"/>
      <dgm:spPr/>
    </dgm:pt>
    <dgm:pt modelId="{9C47B967-8DE8-4793-968D-D5C81E11E628}" type="pres">
      <dgm:prSet presAssocID="{197132FF-FF03-46DC-9B2F-A800FABB7E16}" presName="parTx" presStyleLbl="revTx" presStyleIdx="1" presStyleCnt="4">
        <dgm:presLayoutVars>
          <dgm:chMax val="0"/>
          <dgm:chPref val="0"/>
        </dgm:presLayoutVars>
      </dgm:prSet>
      <dgm:spPr/>
    </dgm:pt>
    <dgm:pt modelId="{85884D9E-5D19-4795-823D-62E20138C830}" type="pres">
      <dgm:prSet presAssocID="{8B148323-42F9-4DDA-BAA6-6178BD76725D}" presName="sibTrans" presStyleCnt="0"/>
      <dgm:spPr/>
    </dgm:pt>
    <dgm:pt modelId="{9F8C5DE1-C0E0-4BA3-B38D-704D11F080D0}" type="pres">
      <dgm:prSet presAssocID="{68E68B6E-7360-40DD-9202-4FD417FABB2C}" presName="compNode" presStyleCnt="0"/>
      <dgm:spPr/>
    </dgm:pt>
    <dgm:pt modelId="{70071142-3017-4DD0-AEC4-963B9A3E6449}" type="pres">
      <dgm:prSet presAssocID="{68E68B6E-7360-40DD-9202-4FD417FABB2C}" presName="bgRect" presStyleLbl="bgShp" presStyleIdx="2" presStyleCnt="4"/>
      <dgm:spPr/>
    </dgm:pt>
    <dgm:pt modelId="{459D97C4-7FA5-4E21-90E5-B4D37D6F4A7D}" type="pres">
      <dgm:prSet presAssocID="{68E68B6E-7360-40DD-9202-4FD417FABB2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ouse"/>
        </a:ext>
      </dgm:extLst>
    </dgm:pt>
    <dgm:pt modelId="{BE975473-3E26-48D1-B84F-FF93BFF95418}" type="pres">
      <dgm:prSet presAssocID="{68E68B6E-7360-40DD-9202-4FD417FABB2C}" presName="spaceRect" presStyleCnt="0"/>
      <dgm:spPr/>
    </dgm:pt>
    <dgm:pt modelId="{48832BA1-4AFB-4550-BBCC-0FC9ED7B1AAC}" type="pres">
      <dgm:prSet presAssocID="{68E68B6E-7360-40DD-9202-4FD417FABB2C}" presName="parTx" presStyleLbl="revTx" presStyleIdx="2" presStyleCnt="4">
        <dgm:presLayoutVars>
          <dgm:chMax val="0"/>
          <dgm:chPref val="0"/>
        </dgm:presLayoutVars>
      </dgm:prSet>
      <dgm:spPr/>
    </dgm:pt>
    <dgm:pt modelId="{532A39B7-D49C-41C6-BECD-82C4FE992C5F}" type="pres">
      <dgm:prSet presAssocID="{5FEE3CD3-F084-4B09-90BC-71FA18150B2D}" presName="sibTrans" presStyleCnt="0"/>
      <dgm:spPr/>
    </dgm:pt>
    <dgm:pt modelId="{78DD586D-958D-4072-BCF4-930A5E036A4F}" type="pres">
      <dgm:prSet presAssocID="{74F3CD0C-89E6-48DC-892D-BF424BD2D382}" presName="compNode" presStyleCnt="0"/>
      <dgm:spPr/>
    </dgm:pt>
    <dgm:pt modelId="{F0EDAAA8-F05C-4FE7-83F2-947421F175C5}" type="pres">
      <dgm:prSet presAssocID="{74F3CD0C-89E6-48DC-892D-BF424BD2D382}" presName="bgRect" presStyleLbl="bgShp" presStyleIdx="3" presStyleCnt="4"/>
      <dgm:spPr/>
    </dgm:pt>
    <dgm:pt modelId="{3506E96D-0B08-43A0-A688-514DF136A853}" type="pres">
      <dgm:prSet presAssocID="{74F3CD0C-89E6-48DC-892D-BF424BD2D38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pen Folder"/>
        </a:ext>
      </dgm:extLst>
    </dgm:pt>
    <dgm:pt modelId="{B22B63F9-077B-4019-BDFE-3A374FB0A004}" type="pres">
      <dgm:prSet presAssocID="{74F3CD0C-89E6-48DC-892D-BF424BD2D382}" presName="spaceRect" presStyleCnt="0"/>
      <dgm:spPr/>
    </dgm:pt>
    <dgm:pt modelId="{888E1989-0671-4D39-8AAE-447CCA2B7E78}" type="pres">
      <dgm:prSet presAssocID="{74F3CD0C-89E6-48DC-892D-BF424BD2D382}" presName="parTx" presStyleLbl="revTx" presStyleIdx="3" presStyleCnt="4">
        <dgm:presLayoutVars>
          <dgm:chMax val="0"/>
          <dgm:chPref val="0"/>
        </dgm:presLayoutVars>
      </dgm:prSet>
      <dgm:spPr/>
    </dgm:pt>
  </dgm:ptLst>
  <dgm:cxnLst>
    <dgm:cxn modelId="{39F6AA20-B9ED-464D-B5FE-C34D6CC9777E}" type="presOf" srcId="{0B37FC65-49A3-4B1A-BB2E-032FFA4F4AA6}" destId="{FCAB3201-B1DD-454B-B7E0-0C21A6B16832}" srcOrd="0" destOrd="0" presId="urn:microsoft.com/office/officeart/2018/2/layout/IconVerticalSolidList"/>
    <dgm:cxn modelId="{0970882F-9D8F-4AAE-B14F-90659D547A98}" srcId="{3757945A-BD62-4BD1-97B5-BD47A80F365C}" destId="{68E68B6E-7360-40DD-9202-4FD417FABB2C}" srcOrd="2" destOrd="0" parTransId="{07B1BD99-D84A-46A3-AAC2-62ADC57900BB}" sibTransId="{5FEE3CD3-F084-4B09-90BC-71FA18150B2D}"/>
    <dgm:cxn modelId="{BFA80E3F-F244-4CE4-BE6F-286A62EEEDD1}" srcId="{3757945A-BD62-4BD1-97B5-BD47A80F365C}" destId="{74F3CD0C-89E6-48DC-892D-BF424BD2D382}" srcOrd="3" destOrd="0" parTransId="{EF526120-F9C7-40AB-A84E-300664F2334C}" sibTransId="{A0F559E1-BB52-4747-9227-65A859084512}"/>
    <dgm:cxn modelId="{D452AE64-A45D-47C1-9983-4C4879F951DD}" type="presOf" srcId="{74F3CD0C-89E6-48DC-892D-BF424BD2D382}" destId="{888E1989-0671-4D39-8AAE-447CCA2B7E78}" srcOrd="0" destOrd="0" presId="urn:microsoft.com/office/officeart/2018/2/layout/IconVerticalSolidList"/>
    <dgm:cxn modelId="{1E04CD6D-1F87-4852-9FC9-197E17ECA3AA}" type="presOf" srcId="{197132FF-FF03-46DC-9B2F-A800FABB7E16}" destId="{9C47B967-8DE8-4793-968D-D5C81E11E628}" srcOrd="0" destOrd="0" presId="urn:microsoft.com/office/officeart/2018/2/layout/IconVerticalSolidList"/>
    <dgm:cxn modelId="{C8DDE472-D6A6-4BE5-ACAE-5A3ECBBA4FCF}" srcId="{3757945A-BD62-4BD1-97B5-BD47A80F365C}" destId="{0B37FC65-49A3-4B1A-BB2E-032FFA4F4AA6}" srcOrd="0" destOrd="0" parTransId="{389ADFAE-C419-47CD-AD9B-7CD2CA43B290}" sibTransId="{82D15988-E018-4E61-8CDE-5987FC2427D3}"/>
    <dgm:cxn modelId="{A045DEB0-36F8-4131-98AA-43D71198173B}" srcId="{3757945A-BD62-4BD1-97B5-BD47A80F365C}" destId="{197132FF-FF03-46DC-9B2F-A800FABB7E16}" srcOrd="1" destOrd="0" parTransId="{FF793074-CCEB-4631-A044-302FCDC23EED}" sibTransId="{8B148323-42F9-4DDA-BAA6-6178BD76725D}"/>
    <dgm:cxn modelId="{F6ECC7BD-27D5-4007-97DA-4BF496017C5A}" type="presOf" srcId="{3757945A-BD62-4BD1-97B5-BD47A80F365C}" destId="{AEE19B9F-7F2B-4D26-8469-177665397773}" srcOrd="0" destOrd="0" presId="urn:microsoft.com/office/officeart/2018/2/layout/IconVerticalSolidList"/>
    <dgm:cxn modelId="{445514DD-FA66-4AB4-ADD7-50F87B25BD26}" type="presOf" srcId="{68E68B6E-7360-40DD-9202-4FD417FABB2C}" destId="{48832BA1-4AFB-4550-BBCC-0FC9ED7B1AAC}" srcOrd="0" destOrd="0" presId="urn:microsoft.com/office/officeart/2018/2/layout/IconVerticalSolidList"/>
    <dgm:cxn modelId="{6ED46402-BF7A-47C5-B65A-56CF8572121A}" type="presParOf" srcId="{AEE19B9F-7F2B-4D26-8469-177665397773}" destId="{49E7F066-6EFB-41AA-A13F-66794B15298C}" srcOrd="0" destOrd="0" presId="urn:microsoft.com/office/officeart/2018/2/layout/IconVerticalSolidList"/>
    <dgm:cxn modelId="{BE89BD26-D7D5-47CF-B9D2-A7503C938E3F}" type="presParOf" srcId="{49E7F066-6EFB-41AA-A13F-66794B15298C}" destId="{297D72F2-1026-4DBD-ADD4-860B7C49D036}" srcOrd="0" destOrd="0" presId="urn:microsoft.com/office/officeart/2018/2/layout/IconVerticalSolidList"/>
    <dgm:cxn modelId="{CA320E1B-A6E9-4F1B-855B-85956B954EB4}" type="presParOf" srcId="{49E7F066-6EFB-41AA-A13F-66794B15298C}" destId="{38B49003-1714-494E-B241-BB94DE0FF7CB}" srcOrd="1" destOrd="0" presId="urn:microsoft.com/office/officeart/2018/2/layout/IconVerticalSolidList"/>
    <dgm:cxn modelId="{2F34266D-93F0-48C6-B87A-F752C76DCDC1}" type="presParOf" srcId="{49E7F066-6EFB-41AA-A13F-66794B15298C}" destId="{DDF90880-6A06-4A91-91A9-EEEFD89D7F59}" srcOrd="2" destOrd="0" presId="urn:microsoft.com/office/officeart/2018/2/layout/IconVerticalSolidList"/>
    <dgm:cxn modelId="{5830B2B9-B255-49AC-88D1-82A0484F1A7D}" type="presParOf" srcId="{49E7F066-6EFB-41AA-A13F-66794B15298C}" destId="{FCAB3201-B1DD-454B-B7E0-0C21A6B16832}" srcOrd="3" destOrd="0" presId="urn:microsoft.com/office/officeart/2018/2/layout/IconVerticalSolidList"/>
    <dgm:cxn modelId="{2EE57B08-19C5-4DE0-A0EB-AAEE030BBA00}" type="presParOf" srcId="{AEE19B9F-7F2B-4D26-8469-177665397773}" destId="{6F711ABA-604B-40E9-BBBB-0D8690AFBFCA}" srcOrd="1" destOrd="0" presId="urn:microsoft.com/office/officeart/2018/2/layout/IconVerticalSolidList"/>
    <dgm:cxn modelId="{CD241572-101A-47F5-AD02-79CF96C8C94B}" type="presParOf" srcId="{AEE19B9F-7F2B-4D26-8469-177665397773}" destId="{A37B7ACF-B41F-429B-9EB6-432708EC5892}" srcOrd="2" destOrd="0" presId="urn:microsoft.com/office/officeart/2018/2/layout/IconVerticalSolidList"/>
    <dgm:cxn modelId="{FEE0C4B7-A6F9-4B9C-A657-33111DF8F318}" type="presParOf" srcId="{A37B7ACF-B41F-429B-9EB6-432708EC5892}" destId="{37A8DD9F-4362-41F9-A22C-D4632E6B773A}" srcOrd="0" destOrd="0" presId="urn:microsoft.com/office/officeart/2018/2/layout/IconVerticalSolidList"/>
    <dgm:cxn modelId="{89619052-EECD-4867-96CD-962E760BE6B5}" type="presParOf" srcId="{A37B7ACF-B41F-429B-9EB6-432708EC5892}" destId="{70259D50-87A9-4C06-9CF0-8D0B56363F68}" srcOrd="1" destOrd="0" presId="urn:microsoft.com/office/officeart/2018/2/layout/IconVerticalSolidList"/>
    <dgm:cxn modelId="{AC8B1EA8-CE1F-46E4-AD42-8DADAE6D72F0}" type="presParOf" srcId="{A37B7ACF-B41F-429B-9EB6-432708EC5892}" destId="{BB337B4F-198E-47D7-9432-6A6AED4CEC6D}" srcOrd="2" destOrd="0" presId="urn:microsoft.com/office/officeart/2018/2/layout/IconVerticalSolidList"/>
    <dgm:cxn modelId="{EE87A325-2DF0-43BF-B45F-60C47815957A}" type="presParOf" srcId="{A37B7ACF-B41F-429B-9EB6-432708EC5892}" destId="{9C47B967-8DE8-4793-968D-D5C81E11E628}" srcOrd="3" destOrd="0" presId="urn:microsoft.com/office/officeart/2018/2/layout/IconVerticalSolidList"/>
    <dgm:cxn modelId="{7852AC54-0488-4652-9ABB-4F2D80A72241}" type="presParOf" srcId="{AEE19B9F-7F2B-4D26-8469-177665397773}" destId="{85884D9E-5D19-4795-823D-62E20138C830}" srcOrd="3" destOrd="0" presId="urn:microsoft.com/office/officeart/2018/2/layout/IconVerticalSolidList"/>
    <dgm:cxn modelId="{88B6AC1E-D323-4918-932C-5BD43979FC15}" type="presParOf" srcId="{AEE19B9F-7F2B-4D26-8469-177665397773}" destId="{9F8C5DE1-C0E0-4BA3-B38D-704D11F080D0}" srcOrd="4" destOrd="0" presId="urn:microsoft.com/office/officeart/2018/2/layout/IconVerticalSolidList"/>
    <dgm:cxn modelId="{4CD4B305-3A73-41DC-8706-92D5B15A67A0}" type="presParOf" srcId="{9F8C5DE1-C0E0-4BA3-B38D-704D11F080D0}" destId="{70071142-3017-4DD0-AEC4-963B9A3E6449}" srcOrd="0" destOrd="0" presId="urn:microsoft.com/office/officeart/2018/2/layout/IconVerticalSolidList"/>
    <dgm:cxn modelId="{5C1E46A6-FFE4-4989-8D11-EC03B2F74A73}" type="presParOf" srcId="{9F8C5DE1-C0E0-4BA3-B38D-704D11F080D0}" destId="{459D97C4-7FA5-4E21-90E5-B4D37D6F4A7D}" srcOrd="1" destOrd="0" presId="urn:microsoft.com/office/officeart/2018/2/layout/IconVerticalSolidList"/>
    <dgm:cxn modelId="{6248B65A-D5C8-4CBA-894A-F9D8B4583D79}" type="presParOf" srcId="{9F8C5DE1-C0E0-4BA3-B38D-704D11F080D0}" destId="{BE975473-3E26-48D1-B84F-FF93BFF95418}" srcOrd="2" destOrd="0" presId="urn:microsoft.com/office/officeart/2018/2/layout/IconVerticalSolidList"/>
    <dgm:cxn modelId="{0D1B6571-B756-49E7-9C2F-50FAD8A578FF}" type="presParOf" srcId="{9F8C5DE1-C0E0-4BA3-B38D-704D11F080D0}" destId="{48832BA1-4AFB-4550-BBCC-0FC9ED7B1AAC}" srcOrd="3" destOrd="0" presId="urn:microsoft.com/office/officeart/2018/2/layout/IconVerticalSolidList"/>
    <dgm:cxn modelId="{F19B0B1F-CBF1-44CE-9682-C54A8B65024C}" type="presParOf" srcId="{AEE19B9F-7F2B-4D26-8469-177665397773}" destId="{532A39B7-D49C-41C6-BECD-82C4FE992C5F}" srcOrd="5" destOrd="0" presId="urn:microsoft.com/office/officeart/2018/2/layout/IconVerticalSolidList"/>
    <dgm:cxn modelId="{4D3D1B26-7889-4628-AA98-4F125A0B6DD6}" type="presParOf" srcId="{AEE19B9F-7F2B-4D26-8469-177665397773}" destId="{78DD586D-958D-4072-BCF4-930A5E036A4F}" srcOrd="6" destOrd="0" presId="urn:microsoft.com/office/officeart/2018/2/layout/IconVerticalSolidList"/>
    <dgm:cxn modelId="{4DC455E1-D8DA-4F3F-A2C7-97691C816BC4}" type="presParOf" srcId="{78DD586D-958D-4072-BCF4-930A5E036A4F}" destId="{F0EDAAA8-F05C-4FE7-83F2-947421F175C5}" srcOrd="0" destOrd="0" presId="urn:microsoft.com/office/officeart/2018/2/layout/IconVerticalSolidList"/>
    <dgm:cxn modelId="{44C19DA9-EE06-4087-8F56-B41FA1681316}" type="presParOf" srcId="{78DD586D-958D-4072-BCF4-930A5E036A4F}" destId="{3506E96D-0B08-43A0-A688-514DF136A853}" srcOrd="1" destOrd="0" presId="urn:microsoft.com/office/officeart/2018/2/layout/IconVerticalSolidList"/>
    <dgm:cxn modelId="{4BA17940-B723-4569-8860-2212C26A242E}" type="presParOf" srcId="{78DD586D-958D-4072-BCF4-930A5E036A4F}" destId="{B22B63F9-077B-4019-BDFE-3A374FB0A004}" srcOrd="2" destOrd="0" presId="urn:microsoft.com/office/officeart/2018/2/layout/IconVerticalSolidList"/>
    <dgm:cxn modelId="{5EB23ADD-442B-48D7-BD4E-C8D00080B5EC}" type="presParOf" srcId="{78DD586D-958D-4072-BCF4-930A5E036A4F}" destId="{888E1989-0671-4D39-8AAE-447CCA2B7E7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7C7CD-8121-4C22-815B-C7E66F7ABC33}">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6D5F4F-62EF-4D56-A66B-A664962F36CE}">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E36B61-6989-49E8-AB13-F4FB03C64B4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Get Experienced in Django Web Framework</a:t>
          </a:r>
        </a:p>
      </dsp:txBody>
      <dsp:txXfrm>
        <a:off x="1435590" y="531"/>
        <a:ext cx="9080009" cy="1242935"/>
      </dsp:txXfrm>
    </dsp:sp>
    <dsp:sp modelId="{694A8120-899E-432B-B519-F7A3B1330CB0}">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04C10-C1B3-4AA7-9372-5BF8FDAF9AA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03019C-1000-429C-8066-67656DB92B5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Meet Customers Requirements for IoT App</a:t>
          </a:r>
        </a:p>
      </dsp:txBody>
      <dsp:txXfrm>
        <a:off x="1435590" y="1554201"/>
        <a:ext cx="9080009" cy="1242935"/>
      </dsp:txXfrm>
    </dsp:sp>
    <dsp:sp modelId="{FCC1BB4F-87CF-4AAF-BA94-C76BC0FF881B}">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148F37-F268-44FC-8806-6AAC61315BBD}">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F271A5-73AA-4E8A-A5F0-72BF565A5A2F}">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Using AI tools such as ChatGPT to develop Web Applications</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D72F2-1026-4DBD-ADD4-860B7C49D036}">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B49003-1714-494E-B241-BB94DE0FF7CB}">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AB3201-B1DD-454B-B7E0-0C21A6B16832}">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Add serializers.py</a:t>
          </a:r>
        </a:p>
      </dsp:txBody>
      <dsp:txXfrm>
        <a:off x="1057183" y="1805"/>
        <a:ext cx="9458416" cy="915310"/>
      </dsp:txXfrm>
    </dsp:sp>
    <dsp:sp modelId="{37A8DD9F-4362-41F9-A22C-D4632E6B773A}">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259D50-87A9-4C06-9CF0-8D0B56363F68}">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47B967-8DE8-4793-968D-D5C81E11E628}">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Add utils.py</a:t>
          </a:r>
        </a:p>
      </dsp:txBody>
      <dsp:txXfrm>
        <a:off x="1057183" y="1145944"/>
        <a:ext cx="9458416" cy="915310"/>
      </dsp:txXfrm>
    </dsp:sp>
    <dsp:sp modelId="{70071142-3017-4DD0-AEC4-963B9A3E6449}">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9D97C4-7FA5-4E21-90E5-B4D37D6F4A7D}">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832BA1-4AFB-4550-BBCC-0FC9ED7B1AAC}">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Add templates folder</a:t>
          </a:r>
        </a:p>
      </dsp:txBody>
      <dsp:txXfrm>
        <a:off x="1057183" y="2290082"/>
        <a:ext cx="9458416" cy="915310"/>
      </dsp:txXfrm>
    </dsp:sp>
    <dsp:sp modelId="{F0EDAAA8-F05C-4FE7-83F2-947421F175C5}">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06E96D-0B08-43A0-A688-514DF136A853}">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8E1989-0671-4D39-8AAE-447CCA2B7E7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Add sensor_data.html file in the template folder</a:t>
          </a:r>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1D76D831-1053-4C9F-8587-141D40EC7DF8}" type="datetime1">
              <a:rPr lang="en-US"/>
              <a:pPr lvl="0">
                <a:defRPr/>
              </a:pPr>
              <a:t>6/11/2026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0E9ED1F8-92AA-431C-AB87-7143C7B7B512}"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lgn="l">
              <a:defRPr/>
            </a:pPr>
            <a:r>
              <a:rPr lang="en-US"/>
              <a:t>In this module, we will develop a </a:t>
            </a:r>
            <a:r>
              <a:rPr lang="en-US" sz="1200"/>
              <a:t>simple Django Web Application in a Remote Server.</a:t>
            </a:r>
            <a:endParaRPr lang="en-US" sz="1200"/>
          </a:p>
          <a:p>
            <a:pPr algn="l">
              <a:defRPr/>
            </a:pPr>
            <a:endParaRPr lang="en-US" sz="1200"/>
          </a:p>
          <a:p>
            <a:pPr marL="0" marR="0" lvl="0" indent="0" algn="l" defTabSz="914400" rtl="0" eaLnBrk="1" latinLnBrk="0" hangingPunct="1">
              <a:lnSpc>
                <a:spcPct val="100000"/>
              </a:lnSpc>
              <a:spcBef>
                <a:spcPts val="0"/>
              </a:spcBef>
              <a:spcAft>
                <a:spcPts val="0"/>
              </a:spcAft>
              <a:buClrTx/>
              <a:buFontTx/>
              <a:buNone/>
              <a:defRPr/>
            </a:pPr>
            <a:r>
              <a:rPr lang="en-US" sz="1200"/>
              <a:t>Developing a django Web Application in a Remote Server is similar to the Django Web Application in a local computer.</a:t>
            </a:r>
            <a:endParaRPr lang="en-US" sz="1200"/>
          </a:p>
          <a:p>
            <a:pPr marL="0" marR="0" lvl="0" indent="0" algn="l" defTabSz="914400" rtl="0" eaLnBrk="1" latinLnBrk="0" hangingPunct="1">
              <a:lnSpc>
                <a:spcPct val="100000"/>
              </a:lnSpc>
              <a:spcBef>
                <a:spcPts val="0"/>
              </a:spcBef>
              <a:spcAft>
                <a:spcPts val="0"/>
              </a:spcAft>
              <a:buClrTx/>
              <a:buFontTx/>
              <a:buNone/>
              <a:defRPr/>
            </a:pPr>
            <a:endParaRPr lang="en-US" sz="1200"/>
          </a:p>
          <a:p>
            <a:pPr marL="0" marR="0" lvl="0" indent="0" algn="l" defTabSz="914400" rtl="0" eaLnBrk="1" latinLnBrk="0" hangingPunct="1">
              <a:lnSpc>
                <a:spcPct val="100000"/>
              </a:lnSpc>
              <a:spcBef>
                <a:spcPts val="0"/>
              </a:spcBef>
              <a:spcAft>
                <a:spcPts val="0"/>
              </a:spcAft>
              <a:buClrTx/>
              <a:buFontTx/>
              <a:buNone/>
              <a:defRPr/>
            </a:pPr>
            <a:r>
              <a:rPr lang="en-US" sz="1200"/>
              <a:t>Since we use one server for many users, we cannot use the Django development server. </a:t>
            </a:r>
            <a:endParaRPr lang="en-US" sz="1200"/>
          </a:p>
          <a:p>
            <a:pPr marL="0" marR="0" lvl="0" indent="0" algn="l" defTabSz="914400" rtl="0" eaLnBrk="1" latinLnBrk="0" hangingPunct="1">
              <a:lnSpc>
                <a:spcPct val="100000"/>
              </a:lnSpc>
              <a:spcBef>
                <a:spcPts val="0"/>
              </a:spcBef>
              <a:spcAft>
                <a:spcPts val="0"/>
              </a:spcAft>
              <a:buClrTx/>
              <a:buFontTx/>
              <a:buNone/>
              <a:defRPr/>
            </a:pPr>
            <a:endParaRPr lang="en-US" sz="1200"/>
          </a:p>
          <a:p>
            <a:pPr marL="0" marR="0" lvl="0" indent="0" algn="l" defTabSz="914400" rtl="0" eaLnBrk="1" latinLnBrk="0" hangingPunct="1">
              <a:lnSpc>
                <a:spcPct val="100000"/>
              </a:lnSpc>
              <a:spcBef>
                <a:spcPts val="0"/>
              </a:spcBef>
              <a:spcAft>
                <a:spcPts val="0"/>
              </a:spcAft>
              <a:buClrTx/>
              <a:buFontTx/>
              <a:buNone/>
              <a:defRPr/>
            </a:pPr>
            <a:r>
              <a:rPr lang="en-US" sz="1200"/>
              <a:t>Rather, we will use a gunicorn WSGI server and Nginx reverse proxy to host django applications for many users using only one server.</a:t>
            </a:r>
            <a:endParaRPr lang="en-US" sz="1200"/>
          </a:p>
          <a:p>
            <a:pPr algn="l">
              <a:defRPr/>
            </a:pPr>
            <a:br>
              <a:rPr lang="en-US" sz="1200"/>
            </a:br>
            <a:endParaRPr lang="en-US" sz="1200"/>
          </a:p>
          <a:p>
            <a:pPr algn="l">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a:t>
            </a:fld>
            <a:endParaRPr lang="en-US"/>
          </a:p>
        </p:txBody>
      </p:sp>
    </p:spTree>
  </p:cSld>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We will use the almost same code to develop Django application in a remote server.</a:t>
            </a:r>
            <a:endParaRPr lang="en-US"/>
          </a:p>
          <a:p>
            <a:pPr lvl="0">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Practices several times are important to get competencies in programming and web development. </a:t>
            </a:r>
            <a:endParaRPr lang="en-US"/>
          </a:p>
          <a:p>
            <a:pPr lvl="0">
              <a:defRPr/>
            </a:pPr>
            <a:endParaRPr lang="en-US"/>
          </a:p>
          <a:p>
            <a:pPr lvl="0">
              <a:defRPr/>
            </a:pP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2</a:t>
            </a:fld>
            <a:endParaRPr lang="en-US"/>
          </a:p>
        </p:txBody>
      </p:sp>
    </p:spTree>
  </p:cSld>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marR="0" lvl="0" indent="0" algn="l" defTabSz="914400" rtl="0" eaLnBrk="1" latinLnBrk="0" hangingPunct="1">
              <a:lnSpc>
                <a:spcPct val="100000"/>
              </a:lnSpc>
              <a:spcBef>
                <a:spcPts val="0"/>
              </a:spcBef>
              <a:spcAft>
                <a:spcPts val="0"/>
              </a:spcAft>
              <a:buClrTx/>
              <a:buFontTx/>
              <a:buNone/>
              <a:defRPr/>
            </a:pPr>
            <a:r>
              <a:rPr lang="en-US" sz="1200"/>
              <a:t> we will use a gunicorn WSGI server and Nginx reverse proxy to host multiple django applications using only one server.</a:t>
            </a:r>
            <a:endParaRPr lang="en-US" sz="1200"/>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3</a:t>
            </a:fld>
            <a:endParaRPr lang="en-US"/>
          </a:p>
        </p:txBody>
      </p:sp>
    </p:spTree>
  </p:cSld>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We are going to use only one server but we want users’ environments to be isolated as possible.</a:t>
            </a:r>
            <a:endParaRPr lang="en-US"/>
          </a:p>
          <a:p>
            <a:pPr lvl="0">
              <a:defRPr/>
            </a:pPr>
            <a:endParaRPr lang="en-US"/>
          </a:p>
          <a:p>
            <a:pPr lvl="0">
              <a:defRPr/>
            </a:pPr>
            <a:r>
              <a:rPr lang="en-US"/>
              <a:t>Each user is assigned a unique subdomain, which maps incoming requests to the appropriate port or socket.</a:t>
            </a:r>
            <a:endParaRPr lang="en-US"/>
          </a:p>
          <a:p>
            <a:pPr lvl="0">
              <a:defRPr/>
            </a:pPr>
            <a:endParaRPr lang="en-US"/>
          </a:p>
          <a:p>
            <a:pPr lvl="0">
              <a:defRPr/>
            </a:pPr>
            <a:r>
              <a:rPr lang="en-US"/>
              <a:t>We will use port numbers to isolate each users’ spring boot applications and nodejs applications.</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4</a:t>
            </a:fld>
            <a:endParaRPr lang="en-US"/>
          </a:p>
        </p:txBody>
      </p:sp>
    </p:spTree>
  </p:cSld>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To securely connect to your server from a Windows computer, we will use  </a:t>
            </a:r>
            <a:r>
              <a:rPr lang="en-US" b="1"/>
              <a:t>PuTTY</a:t>
            </a:r>
            <a:r>
              <a:rPr lang="en-US"/>
              <a:t>. </a:t>
            </a:r>
            <a:endParaRPr lang="en-US"/>
          </a:p>
          <a:p>
            <a:pPr lvl="0">
              <a:defRPr/>
            </a:pPr>
            <a:endParaRPr lang="en-US"/>
          </a:p>
          <a:p>
            <a:pPr lvl="0">
              <a:defRPr/>
            </a:pPr>
            <a:r>
              <a:rPr lang="en-US"/>
              <a:t>In the ‘Host Name’ field, type your server’s IP address or domain name — for example: your-subdomain.belajarhub.id</a:t>
            </a:r>
            <a:endParaRPr lang="en-US"/>
          </a:p>
          <a:p>
            <a:pPr lvl="0">
              <a:defRPr/>
            </a:pPr>
            <a:endParaRPr lang="en-US"/>
          </a:p>
          <a:p>
            <a:pPr lvl="0">
              <a:defRPr/>
            </a:pPr>
            <a:r>
              <a:rPr lang="en-US"/>
              <a:t>Click open.</a:t>
            </a:r>
            <a:endParaRPr lang="en-US"/>
          </a:p>
          <a:p>
            <a:pPr lvl="0">
              <a:defRPr/>
            </a:pPr>
            <a:endParaRPr lang="en-US"/>
          </a:p>
          <a:p>
            <a:pPr lvl="0">
              <a:defRPr/>
            </a:pPr>
            <a:endParaRPr lang="en-US"/>
          </a:p>
          <a:p>
            <a:pPr lvl="0">
              <a:defRPr/>
            </a:pPr>
            <a:endParaRPr lang="en-US"/>
          </a:p>
          <a:p>
            <a:pPr lvl="0">
              <a:defRPr/>
            </a:pP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1F55CDAF-2EAA-455D-A395-1FBA474BD057}" type="slidenum">
              <a:rPr lang="en-US"/>
              <a:pPr lvl="0">
                <a:defRPr/>
              </a:pPr>
              <a:t>5</a:t>
            </a:fld>
            <a:endParaRPr lang="en-US"/>
          </a:p>
        </p:txBody>
      </p:sp>
    </p:spTree>
  </p:cSld>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You'll be prompted for your server's username (Your name initial and last 5 digits of your student ID)</a:t>
            </a:r>
            <a:endParaRPr lang="en-US"/>
          </a:p>
          <a:p>
            <a:pPr>
              <a:buNone/>
              <a:defRPr/>
            </a:pPr>
            <a:br>
              <a:rPr lang="en-US"/>
            </a:br>
            <a:r>
              <a:rPr lang="en-US"/>
              <a:t>Then, enter the password. The default password is your username*01</a:t>
            </a:r>
            <a:endParaRPr lang="en-US"/>
          </a:p>
          <a:p>
            <a:pPr>
              <a:buNone/>
              <a:defRPr/>
            </a:pPr>
            <a:endParaRPr lang="en-US"/>
          </a:p>
          <a:p>
            <a:pPr>
              <a:buNone/>
              <a:defRPr/>
            </a:pPr>
            <a:r>
              <a:rPr lang="en-US"/>
              <a:t> For security, it won’t show the characters as you type.</a:t>
            </a:r>
            <a:endParaRPr lang="en-US"/>
          </a:p>
          <a:p>
            <a:pPr>
              <a:buNone/>
              <a:defRPr/>
            </a:pPr>
            <a:endParaRPr lang="en-US"/>
          </a:p>
          <a:p>
            <a:pPr lvl="0">
              <a:defRPr/>
            </a:pPr>
            <a:r>
              <a:rPr lang="en-US"/>
              <a:t>Once logged in, you’ll see a command-line interface — and you’re now connected to your server over a secure SSH connection.</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1F55CDAF-2EAA-455D-A395-1FBA474BD057}" type="slidenum">
              <a:rPr lang="en-US"/>
              <a:pPr lvl="0">
                <a:defRPr/>
              </a:pPr>
              <a:t>6</a:t>
            </a:fld>
            <a:endParaRPr lang="en-US"/>
          </a:p>
        </p:txBody>
      </p:sp>
    </p:spTree>
  </p:cSld>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We can edit the source code using nano or vim.</a:t>
            </a:r>
            <a:endParaRPr lang="en-US"/>
          </a:p>
          <a:p>
            <a:pPr lvl="0">
              <a:defRPr/>
            </a:pPr>
            <a:endParaRPr lang="en-US"/>
          </a:p>
          <a:p>
            <a:pPr lvl="0">
              <a:defRPr/>
            </a:pPr>
            <a:r>
              <a:rPr lang="en-US"/>
              <a:t>Or, we can use vscode </a:t>
            </a:r>
            <a:r>
              <a:rPr lang="en-US" sz="1200"/>
              <a:t>with SSH to connect to the remote Server. </a:t>
            </a:r>
            <a:endParaRPr lang="en-US" sz="1200"/>
          </a:p>
          <a:p>
            <a:pPr lvl="0">
              <a:defRPr/>
            </a:pPr>
            <a:endParaRPr lang="en-US" sz="1200"/>
          </a:p>
          <a:p>
            <a:pPr>
              <a:buNone/>
              <a:defRPr/>
            </a:pPr>
            <a:r>
              <a:rPr lang="en-US"/>
              <a:t>To use Visual Studio Code to develop directly on a remote server,</a:t>
            </a:r>
            <a:endParaRPr lang="en-US"/>
          </a:p>
          <a:p>
            <a:pPr>
              <a:buNone/>
              <a:defRPr/>
            </a:pPr>
            <a:endParaRPr lang="en-US"/>
          </a:p>
          <a:p>
            <a:pPr>
              <a:buNone/>
              <a:defRPr/>
            </a:pPr>
            <a:r>
              <a:rPr lang="en-US"/>
              <a:t>First, make sure you have the </a:t>
            </a:r>
            <a:r>
              <a:rPr lang="en-US" b="1"/>
              <a:t>Remote - SSH extension</a:t>
            </a:r>
            <a:r>
              <a:rPr lang="en-US"/>
              <a:t> installed in VS Code.</a:t>
            </a:r>
            <a:br>
              <a:rPr lang="en-US"/>
            </a:br>
            <a:r>
              <a:rPr lang="en-US"/>
              <a:t>Next, open the command palette by pressing Ctrl + Shift + P on Windows or Cmd + Shift + P on macOS.</a:t>
            </a:r>
            <a:endParaRPr lang="en-US"/>
          </a:p>
          <a:p>
            <a:pPr>
              <a:buNone/>
              <a:defRPr/>
            </a:pPr>
            <a:r>
              <a:rPr lang="en-US"/>
              <a:t>In the command palette, start typing </a:t>
            </a:r>
            <a:r>
              <a:rPr lang="en-US" b="1"/>
              <a:t>"Remote-SSH: Connect to Host..."</a:t>
            </a:r>
            <a:r>
              <a:rPr lang="en-US"/>
              <a:t> and select the matching option when it appears.</a:t>
            </a:r>
            <a:endParaRPr lang="en-US"/>
          </a:p>
          <a:p>
            <a:pPr>
              <a:buNone/>
              <a:defRPr/>
            </a:pPr>
            <a:r>
              <a:rPr lang="en-US"/>
              <a:t>You’ll then be prompted to enter the address of your remote server.</a:t>
            </a:r>
            <a:br>
              <a:rPr lang="en-US"/>
            </a:br>
            <a:r>
              <a:rPr lang="en-US"/>
              <a:t>Type in: username@username.belajarhub.id — replacing "username" with your actual user ID.</a:t>
            </a:r>
            <a:endParaRPr lang="en-US"/>
          </a:p>
          <a:p>
            <a:pPr lvl="0">
              <a:defRPr/>
            </a:pPr>
            <a:r>
              <a:rPr lang="en-US"/>
              <a:t>When prompted, enter your password.</a:t>
            </a:r>
            <a:br>
              <a:rPr lang="en-US"/>
            </a:br>
            <a:r>
              <a:rPr lang="en-US"/>
              <a:t>After a successful login, you'll be connected to the remote development environment — ready to start coding directly on the server.</a:t>
            </a:r>
            <a:endParaRPr lang="en-US"/>
          </a:p>
          <a:p>
            <a:pPr lvl="0">
              <a:defRPr/>
            </a:pPr>
            <a:endParaRPr lang="en-US"/>
          </a:p>
          <a:p>
            <a:pPr>
              <a:buNone/>
              <a:defRPr/>
            </a:pPr>
            <a:r>
              <a:rPr lang="en-US"/>
              <a:t>When you connect to a remote server using VS Code via SSH, a </a:t>
            </a:r>
            <a:r>
              <a:rPr lang="en-US" b="1"/>
              <a:t>VS Code Server</a:t>
            </a:r>
            <a:r>
              <a:rPr lang="en-US"/>
              <a:t> is automatically launched on the server side. </a:t>
            </a:r>
            <a:endParaRPr lang="en-US"/>
          </a:p>
          <a:p>
            <a:pPr>
              <a:buNone/>
              <a:defRPr/>
            </a:pPr>
            <a:r>
              <a:rPr lang="en-US"/>
              <a:t>This server component consumes system resources to enable remote development features.</a:t>
            </a:r>
            <a:endParaRPr lang="en-US"/>
          </a:p>
          <a:p>
            <a:pPr lvl="0">
              <a:defRPr/>
            </a:pPr>
            <a:r>
              <a:rPr lang="en-US"/>
              <a:t>However, when multiple users connect simultaneously using Remote SSH, the combined resource usage can put a load on the server. </a:t>
            </a:r>
            <a:endParaRPr lang="en-US"/>
          </a:p>
          <a:p>
            <a:pPr lvl="0">
              <a:defRPr/>
            </a:pPr>
            <a:r>
              <a:rPr lang="en-US"/>
              <a:t>As a result, the server may slow down due to the increased load caused by running multiple instances of the VS Code Server.</a:t>
            </a:r>
            <a:endParaRPr lang="en-US"/>
          </a:p>
          <a:p>
            <a:pPr lvl="0">
              <a:defRPr/>
            </a:pPr>
            <a:r>
              <a:rPr lang="en-US"/>
              <a:t>It is recommended to use Vim to edit the source code on the server.</a:t>
            </a:r>
            <a:endParaRPr lang="en-US"/>
          </a:p>
          <a:p>
            <a:pPr lvl="0">
              <a:defRPr/>
            </a:pPr>
            <a:endParaRPr lang="en-US" sz="1200"/>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7</a:t>
            </a:fld>
            <a:endParaRPr lang="en-US"/>
          </a:p>
        </p:txBody>
      </p:sp>
    </p:spTree>
  </p:cSld>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The development procedure of Django web application in a remote server is very similar to that of local development.</a:t>
            </a:r>
            <a:endParaRPr lang="en-US"/>
          </a:p>
          <a:p>
            <a:pPr lvl="0">
              <a:defRPr/>
            </a:pPr>
            <a:endParaRPr lang="en-US"/>
          </a:p>
          <a:p>
            <a:pPr>
              <a:buNone/>
              <a:defRPr/>
            </a:pPr>
            <a:r>
              <a:rPr lang="en-US"/>
              <a:t>In this part of the project, we’ll use a </a:t>
            </a:r>
            <a:r>
              <a:rPr lang="en-US" b="1"/>
              <a:t>virtual environment</a:t>
            </a:r>
            <a:r>
              <a:rPr lang="en-US"/>
              <a:t>, or venv, to manage our Python dependencies.</a:t>
            </a:r>
            <a:endParaRPr lang="en-US"/>
          </a:p>
          <a:p>
            <a:pPr>
              <a:buNone/>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Go to your Django app folder </a:t>
            </a:r>
            <a:r>
              <a:rPr lang="en-US" sz="1200"/>
              <a:t>/srv/django/username.</a:t>
            </a:r>
            <a:endParaRPr lang="en-US" sz="1200"/>
          </a:p>
          <a:p>
            <a:pPr>
              <a:buNone/>
              <a:defRPr/>
            </a:pPr>
            <a:endParaRPr lang="en-US"/>
          </a:p>
          <a:p>
            <a:pPr lvl="0">
              <a:defRPr/>
            </a:pPr>
            <a:r>
              <a:rPr lang="en-US"/>
              <a:t>First, make sure your virtual environment is activated by running source venv/bin/activate</a:t>
            </a:r>
            <a:endParaRPr lang="en-US"/>
          </a:p>
          <a:p>
            <a:pPr lvl="0">
              <a:defRPr/>
            </a:pP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8</a:t>
            </a:fld>
            <a:endParaRPr lang="en-US"/>
          </a:p>
        </p:txBody>
      </p:sp>
    </p:spTree>
  </p:cSld>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Next, open the settings.py file located in the myproject folder.</a:t>
            </a:r>
            <a:endParaRPr lang="en-US"/>
          </a:p>
          <a:p>
            <a:pPr>
              <a:buNone/>
              <a:defRPr/>
            </a:pPr>
            <a:r>
              <a:rPr lang="en-US"/>
              <a:t>To enable Cross-Origin Resource Sharing in a Django project, we need to use the corsheaders app.</a:t>
            </a:r>
            <a:endParaRPr lang="en-US"/>
          </a:p>
          <a:p>
            <a:pPr>
              <a:buNone/>
              <a:defRPr/>
            </a:pPr>
            <a:r>
              <a:rPr lang="en-US"/>
              <a:t>First, make sure to add 'corsheaders' to the INSTALLED_APPS list in your settings.py file. This registers the app with Django.</a:t>
            </a:r>
            <a:endParaRPr lang="en-US"/>
          </a:p>
          <a:p>
            <a:pPr>
              <a:buNone/>
              <a:defRPr/>
            </a:pPr>
            <a:r>
              <a:rPr lang="en-US"/>
              <a:t>Next, you must include 'corsheaders.middleware.CorsMiddleware' in the MIDDLEWARE array — and it should be placed </a:t>
            </a:r>
            <a:r>
              <a:rPr lang="en-US" b="1"/>
              <a:t>near the top</a:t>
            </a:r>
            <a:r>
              <a:rPr lang="en-US"/>
              <a:t>, ideally just after 'django.middleware.security.SecurityMiddleware’. </a:t>
            </a:r>
            <a:endParaRPr lang="en-US"/>
          </a:p>
          <a:p>
            <a:pPr>
              <a:buNone/>
              <a:defRPr/>
            </a:pPr>
            <a:endParaRPr lang="en-US"/>
          </a:p>
          <a:p>
            <a:pPr>
              <a:buNone/>
              <a:defRPr/>
            </a:pPr>
            <a:r>
              <a:rPr lang="en-US"/>
              <a:t>This ensures that CORS headers are added to responses before any other middleware processes them.</a:t>
            </a:r>
            <a:endParaRPr lang="en-US"/>
          </a:p>
          <a:p>
            <a:pPr>
              <a:buNone/>
              <a:defRPr/>
            </a:pPr>
            <a:r>
              <a:rPr lang="en-US"/>
              <a:t>The corsheaders app is essential when you have frontend clients — such as JavaScript applications or browser-based dashboards — that are served from a different origin, like a subdomain or a different port.</a:t>
            </a:r>
            <a:endParaRPr lang="en-US"/>
          </a:p>
          <a:p>
            <a:pPr>
              <a:buNone/>
              <a:defRPr/>
            </a:pPr>
            <a:r>
              <a:rPr lang="en-US"/>
              <a:t>For example, when a client sends a request to your Django app through a subdomain, that request is passed to the Gunicorn server via a UNIX or TCP socket. </a:t>
            </a:r>
            <a:endParaRPr lang="en-US"/>
          </a:p>
          <a:p>
            <a:pPr>
              <a:buNone/>
              <a:defRPr/>
            </a:pPr>
            <a:r>
              <a:rPr lang="en-US"/>
              <a:t>Even though the backend and frontend are part of the same overall system, the browser sees them as cross-origin — and blocks the request unless proper CORS headers are set.</a:t>
            </a:r>
            <a:endParaRPr lang="en-US"/>
          </a:p>
          <a:p>
            <a:pPr lvl="0">
              <a:defRPr/>
            </a:pPr>
            <a:r>
              <a:rPr lang="en-US"/>
              <a:t>By using the corsheaders app, we explicitly tell the browser which domains are allowed to access our server — ensuring smooth, secure cross-origin communication.</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9</a:t>
            </a:fld>
            <a:endParaRPr lang="en-US"/>
          </a:p>
        </p:txBody>
      </p:sp>
    </p:spTree>
  </p:cSld>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Now, let’s create a new Django app named iot. To do that, enter:</a:t>
            </a:r>
            <a:endParaRPr lang="en-US"/>
          </a:p>
          <a:p>
            <a:pPr lvl="0">
              <a:defRPr/>
            </a:pPr>
            <a:endParaRPr lang="en-US"/>
          </a:p>
          <a:p>
            <a:pPr lvl="0">
              <a:defRPr/>
            </a:pPr>
            <a:r>
              <a:rPr lang="en-US"/>
              <a:t>python manage.py startapp iot.</a:t>
            </a:r>
            <a:endParaRPr lang="en-US"/>
          </a:p>
          <a:p>
            <a:pPr lvl="0">
              <a:defRPr/>
            </a:pPr>
            <a:endParaRPr lang="en-US"/>
          </a:p>
          <a:p>
            <a:pPr lvl="0">
              <a:defRPr/>
            </a:pPr>
            <a:r>
              <a:rPr lang="en-US"/>
              <a:t>After creating the app, edit the relevant files in the iot folder — such as models.py, views.py, and urls.py.</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10</a:t>
            </a:fld>
            <a:endParaRPr lang="en-US"/>
          </a:p>
        </p:txBody>
      </p:sp>
    </p:spTree>
  </p:cSld>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Add urls.py in the iot folder.</a:t>
            </a:r>
            <a:endParaRPr lang="en-US"/>
          </a:p>
          <a:p>
            <a:pPr lvl="0">
              <a:defRPr/>
            </a:pPr>
            <a:endParaRPr lang="en-US"/>
          </a:p>
          <a:p>
            <a:pPr lvl="0">
              <a:defRPr/>
            </a:pPr>
            <a:r>
              <a:rPr lang="en-US"/>
              <a:t>In Django, URL configuration is how we map web addresses to specific functions that handle the request.</a:t>
            </a:r>
            <a:endParaRPr lang="en-US"/>
          </a:p>
          <a:p>
            <a:pPr lvl="0">
              <a:defRPr/>
            </a:pPr>
            <a:endParaRPr lang="en-US"/>
          </a:p>
          <a:p>
            <a:pPr lvl="0">
              <a:defRPr/>
            </a:pPr>
            <a:r>
              <a:rPr lang="en-US"/>
              <a:t>We start with the </a:t>
            </a:r>
            <a:r>
              <a:rPr lang="en-US" b="1"/>
              <a:t>project-level urls.py</a:t>
            </a:r>
            <a:r>
              <a:rPr lang="en-US"/>
              <a:t> file:</a:t>
            </a:r>
            <a:endParaRPr lang="en-US"/>
          </a:p>
          <a:p>
            <a:pPr>
              <a:buNone/>
              <a:defRPr/>
            </a:pPr>
            <a:r>
              <a:rPr lang="en-US"/>
              <a:t>This file tells Django how to route URLs at the global project level. The line path('admin/', admin.site.urls) sets up the admin interface at the /admin/ URL.</a:t>
            </a:r>
            <a:endParaRPr lang="en-US"/>
          </a:p>
          <a:p>
            <a:pPr lvl="0">
              <a:defRPr/>
            </a:pPr>
            <a:r>
              <a:rPr lang="en-US"/>
              <a:t>The second line — path('', include('iot.urls')) — includes the URL patterns from our iot app. That means any URL not starting with /admin/ will be handled by the iot/urls.py file.</a:t>
            </a:r>
            <a:endParaRPr lang="en-US"/>
          </a:p>
          <a:p>
            <a:pPr lvl="0">
              <a:defRPr/>
            </a:pPr>
            <a:endParaRPr lang="en-US"/>
          </a:p>
          <a:p>
            <a:pPr lvl="0">
              <a:defRPr/>
            </a:pPr>
            <a:r>
              <a:rPr lang="en-US"/>
              <a:t>Now, let’s look at the </a:t>
            </a:r>
            <a:r>
              <a:rPr lang="en-US" b="1"/>
              <a:t>app-level urls.py file</a:t>
            </a:r>
            <a:r>
              <a:rPr lang="en-US"/>
              <a:t> inside the iot app.</a:t>
            </a:r>
            <a:endParaRPr lang="en-US"/>
          </a:p>
          <a:p>
            <a:pPr lvl="0">
              <a:defRPr/>
            </a:pPr>
            <a:endParaRPr lang="en-US"/>
          </a:p>
          <a:p>
            <a:pPr>
              <a:buNone/>
              <a:defRPr/>
            </a:pPr>
            <a:r>
              <a:rPr lang="en-US"/>
              <a:t>The first parameter of the path function is the URL pattern that the client will request.</a:t>
            </a:r>
            <a:br>
              <a:rPr lang="en-US"/>
            </a:br>
            <a:r>
              <a:rPr lang="en-US"/>
              <a:t>The second parameter specifies the function or class-based view that will handle the request.</a:t>
            </a:r>
            <a:endParaRPr lang="en-US"/>
          </a:p>
          <a:p>
            <a:pPr lvl="0">
              <a:defRPr/>
            </a:pPr>
            <a:r>
              <a:rPr lang="en-US"/>
              <a:t>For example, the route 'api/sensor/' points to the receive_sensor_data view. This view is likely used for devices to </a:t>
            </a:r>
            <a:r>
              <a:rPr lang="en-US" b="1"/>
              <a:t>send sensor data</a:t>
            </a:r>
            <a:r>
              <a:rPr lang="en-US"/>
              <a:t> to the server, typically via a </a:t>
            </a:r>
            <a:r>
              <a:rPr lang="en-US" b="1"/>
              <a:t>Post request.</a:t>
            </a:r>
            <a:endParaRPr lang="en-US" b="1"/>
          </a:p>
          <a:p>
            <a:pPr lvl="0">
              <a:defRPr/>
            </a:pPr>
            <a:endParaRPr lang="en-US"/>
          </a:p>
          <a:p>
            <a:pPr lvl="0">
              <a:defRPr/>
            </a:pPr>
            <a:r>
              <a:rPr lang="en-US"/>
              <a:t>The name parameter in path function is used for </a:t>
            </a:r>
            <a:r>
              <a:rPr lang="en-US" b="1"/>
              <a:t>reverse URL resolution</a:t>
            </a:r>
            <a:r>
              <a:rPr lang="en-US"/>
              <a:t>, </a:t>
            </a:r>
            <a:r>
              <a:rPr lang="en-US" b="1"/>
              <a:t>template navigation</a:t>
            </a:r>
            <a:r>
              <a:rPr lang="en-US"/>
              <a:t>, and </a:t>
            </a:r>
            <a:r>
              <a:rPr lang="en-US" b="1"/>
              <a:t>maintainable URL management</a:t>
            </a:r>
            <a:r>
              <a:rPr lang="en-US"/>
              <a:t> in Django applications.</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11</a:t>
            </a:fld>
            <a:endParaRPr lang="en-US"/>
          </a:p>
        </p:txBody>
      </p:sp>
    </p:spTree>
  </p:cSld>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In Django, we can define dynamic parts of a URL using path converters like &lt;str:device_id&gt;. </a:t>
            </a:r>
            <a:endParaRPr lang="en-US"/>
          </a:p>
          <a:p>
            <a:pPr lvl="0">
              <a:defRPr/>
            </a:pPr>
            <a:endParaRPr lang="en-US"/>
          </a:p>
          <a:p>
            <a:pPr lvl="0">
              <a:defRPr/>
            </a:pPr>
            <a:r>
              <a:rPr lang="en-US"/>
              <a:t>This allows our application to extract information directly from the URL.</a:t>
            </a:r>
            <a:endParaRPr lang="en-US"/>
          </a:p>
          <a:p>
            <a:pPr lvl="0">
              <a:defRPr/>
            </a:pPr>
            <a:endParaRPr lang="en-US"/>
          </a:p>
          <a:p>
            <a:pPr>
              <a:buNone/>
              <a:defRPr/>
            </a:pPr>
            <a:r>
              <a:rPr lang="en-US"/>
              <a:t>If a user accesses the URL /device/abc123/, Django will automatically extract the value 'abc123' from the URL and pass it as an argument to the view function.</a:t>
            </a:r>
            <a:endParaRPr lang="en-US"/>
          </a:p>
          <a:p>
            <a:pPr>
              <a:buNone/>
              <a:defRPr/>
            </a:pP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12</a:t>
            </a:fld>
            <a:endParaRPr lang="en-US"/>
          </a:p>
        </p:txBody>
      </p:sp>
    </p:spTree>
  </p:cSld>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In Django, the view.py file plays a central role in how your web application responds to incoming requests. </a:t>
            </a:r>
            <a:endParaRPr lang="en-US"/>
          </a:p>
          <a:p>
            <a:pPr>
              <a:buNone/>
              <a:defRPr/>
            </a:pPr>
            <a:r>
              <a:rPr lang="en-US"/>
              <a:t>It contains the logic that processes data and determines what the user should see or receive.</a:t>
            </a:r>
            <a:endParaRPr lang="en-US"/>
          </a:p>
          <a:p>
            <a:pPr>
              <a:buNone/>
              <a:defRPr/>
            </a:pPr>
            <a:r>
              <a:rPr lang="en-US"/>
              <a:t>In simple terms, a </a:t>
            </a:r>
            <a:r>
              <a:rPr lang="en-US" b="1"/>
              <a:t>view is a Python function or class</a:t>
            </a:r>
            <a:r>
              <a:rPr lang="en-US"/>
              <a:t> that takes a web request and returns a web response. </a:t>
            </a:r>
            <a:endParaRPr lang="en-US"/>
          </a:p>
          <a:p>
            <a:pPr>
              <a:buNone/>
              <a:defRPr/>
            </a:pPr>
            <a:r>
              <a:rPr lang="en-US"/>
              <a:t>This response could be an HTML page, a JSON object, a redirect, or even an error message.</a:t>
            </a:r>
            <a:endParaRPr lang="en-US"/>
          </a:p>
          <a:p>
            <a:pPr lvl="0">
              <a:defRPr/>
            </a:pPr>
            <a:r>
              <a:rPr lang="en-US"/>
              <a:t>Each view is linked to a specific URL pattern through the urls.py file. </a:t>
            </a:r>
            <a:endParaRPr lang="en-US"/>
          </a:p>
          <a:p>
            <a:pPr lvl="0">
              <a:defRPr/>
            </a:pPr>
            <a:r>
              <a:rPr lang="en-US"/>
              <a:t>When a request comes in, Django looks at the URL, finds the matching view, and runs the associated function or class.</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13</a:t>
            </a:fld>
            <a:endParaRPr lang="en-US"/>
          </a:p>
        </p:txBody>
      </p:sp>
    </p:spTree>
  </p:cSld>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We add the serializers.py file in the IoT folder.</a:t>
            </a:r>
            <a:endParaRPr lang="en-US"/>
          </a:p>
          <a:p>
            <a:pPr marL="0" marR="0" lvl="0" indent="0" algn="l" defTabSz="914400" rtl="0" eaLnBrk="1" latinLnBrk="0" hangingPunct="1">
              <a:lnSpc>
                <a:spcPct val="100000"/>
              </a:lnSpc>
              <a:spcBef>
                <a:spcPts val="0"/>
              </a:spcBef>
              <a:spcAft>
                <a:spcPts val="0"/>
              </a:spcAft>
              <a:buClrTx/>
              <a:buFontTx/>
              <a:buNone/>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In Django Rest Framework, the serializers.py file plays a key role in converting complex data — such as Django model instances — into formats like Json, which can be sent over the web. </a:t>
            </a:r>
            <a:endParaRPr lang="en-US"/>
          </a:p>
          <a:p>
            <a:pPr marL="0" marR="0" lvl="0" indent="0" algn="l" defTabSz="914400" rtl="0" eaLnBrk="1" latinLnBrk="0" hangingPunct="1">
              <a:lnSpc>
                <a:spcPct val="100000"/>
              </a:lnSpc>
              <a:spcBef>
                <a:spcPts val="0"/>
              </a:spcBef>
              <a:spcAft>
                <a:spcPts val="0"/>
              </a:spcAft>
              <a:buClrTx/>
              <a:buFontTx/>
              <a:buNone/>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We will use a python file, named utils.py which will be used for validating API keys in view.py.</a:t>
            </a:r>
            <a:endParaRPr lang="en-US"/>
          </a:p>
          <a:p>
            <a:pPr marL="0" marR="0" lvl="0" indent="0" algn="l" defTabSz="914400" rtl="0" eaLnBrk="1" latinLnBrk="0" hangingPunct="1">
              <a:lnSpc>
                <a:spcPct val="100000"/>
              </a:lnSpc>
              <a:spcBef>
                <a:spcPts val="0"/>
              </a:spcBef>
              <a:spcAft>
                <a:spcPts val="0"/>
              </a:spcAft>
              <a:buClrTx/>
              <a:buFontTx/>
              <a:buNone/>
              <a:defRPr/>
            </a:pPr>
            <a:endParaRPr lang="en-US"/>
          </a:p>
          <a:p>
            <a:pPr lvl="0">
              <a:defRPr/>
            </a:pPr>
            <a:r>
              <a:rPr lang="en-US"/>
              <a:t>In Django, a template file is used to define the structure and presentation of your website’s front-end </a:t>
            </a:r>
            <a:endParaRPr lang="en-US"/>
          </a:p>
          <a:p>
            <a:pPr lvl="0">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For this we make template folder and  create sensor_data.html file in the template folder.</a:t>
            </a:r>
            <a:endParaRPr lang="en-US"/>
          </a:p>
          <a:p>
            <a:pPr lvl="0">
              <a:defRPr/>
            </a:pP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14</a:t>
            </a:fld>
            <a:endParaRPr lang="en-US"/>
          </a:p>
        </p:txBody>
      </p:sp>
    </p:spTree>
  </p:cSld>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We need to edit settings.py file in myproject folder.</a:t>
            </a:r>
            <a:endParaRPr lang="en-US"/>
          </a:p>
          <a:p>
            <a:pPr lvl="0">
              <a:defRPr/>
            </a:pPr>
            <a:endParaRPr lang="en-US"/>
          </a:p>
          <a:p>
            <a:pPr lvl="0">
              <a:defRPr/>
            </a:pPr>
            <a:r>
              <a:rPr lang="en-US"/>
              <a:t>Goto the my project folder and add iot in the Installed Apps array.</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15</a:t>
            </a:fld>
            <a:endParaRPr lang="en-US"/>
          </a:p>
        </p:txBody>
      </p:sp>
    </p:spTree>
  </p:cSld>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Once the models are ready, create migration files with:</a:t>
            </a:r>
            <a:endParaRPr lang="en-US"/>
          </a:p>
          <a:p>
            <a:pPr lvl="0">
              <a:defRPr/>
            </a:pPr>
            <a:endParaRPr lang="en-US"/>
          </a:p>
          <a:p>
            <a:pPr lvl="0">
              <a:defRPr/>
            </a:pPr>
            <a:r>
              <a:rPr lang="en-US"/>
              <a:t>python manage.py makemigrations iot</a:t>
            </a:r>
            <a:endParaRPr lang="en-US"/>
          </a:p>
          <a:p>
            <a:pPr lvl="0">
              <a:defRPr/>
            </a:pPr>
            <a:endParaRPr lang="en-US"/>
          </a:p>
          <a:p>
            <a:pPr lvl="0">
              <a:defRPr/>
            </a:pPr>
            <a:endParaRPr lang="en-US"/>
          </a:p>
          <a:p>
            <a:pPr lvl="0">
              <a:defRPr/>
            </a:pPr>
            <a:r>
              <a:rPr lang="en-US"/>
              <a:t>Then, apply the migrations to the database:</a:t>
            </a:r>
            <a:endParaRPr lang="en-US"/>
          </a:p>
          <a:p>
            <a:pPr lvl="0">
              <a:defRPr/>
            </a:pPr>
            <a:endParaRPr lang="en-US"/>
          </a:p>
          <a:p>
            <a:pPr lvl="0">
              <a:defRPr/>
            </a:pPr>
            <a:r>
              <a:rPr lang="en-US"/>
              <a:t>python manage.py migrate</a:t>
            </a:r>
            <a:endParaRPr lang="en-US"/>
          </a:p>
          <a:p>
            <a:pPr lvl="0">
              <a:defRPr/>
            </a:pPr>
            <a:endParaRPr lang="en-US"/>
          </a:p>
          <a:p>
            <a:pPr lvl="0">
              <a:defRPr/>
            </a:pPr>
            <a:r>
              <a:rPr lang="en-US"/>
              <a:t>Finally, if you're using static files in your project, don’t forget to collect them using:</a:t>
            </a:r>
            <a:endParaRPr lang="en-US"/>
          </a:p>
          <a:p>
            <a:pPr lvl="0">
              <a:defRPr/>
            </a:pPr>
            <a:endParaRPr lang="en-US"/>
          </a:p>
          <a:p>
            <a:pPr lvl="0">
              <a:defRPr/>
            </a:pPr>
            <a:r>
              <a:rPr lang="en-US"/>
              <a:t>python manage.py collectstatic.</a:t>
            </a:r>
            <a:endParaRPr lang="en-US"/>
          </a:p>
          <a:p>
            <a:pPr lvl="0">
              <a:defRPr/>
            </a:pPr>
            <a:endParaRPr lang="en-US"/>
          </a:p>
          <a:p>
            <a:pPr lvl="0">
              <a:defRPr/>
            </a:pPr>
            <a:endParaRPr lang="en-US"/>
          </a:p>
          <a:p>
            <a:pPr lvl="0">
              <a:defRPr/>
            </a:pPr>
            <a:endParaRPr lang="en-US"/>
          </a:p>
          <a:p>
            <a:pPr lvl="0">
              <a:defRPr/>
            </a:pPr>
            <a:endParaRPr lang="en-US"/>
          </a:p>
          <a:p>
            <a:pPr lvl="0">
              <a:defRPr/>
            </a:pPr>
            <a:r>
              <a:rPr lang="en-US"/>
              <a:t>With that, your Django app is now structured and ready for further development and testing.</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16</a:t>
            </a:fld>
            <a:endParaRPr lang="en-US"/>
          </a:p>
        </p:txBody>
      </p:sp>
    </p:spTree>
  </p:cSld>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To make your Django app manageable through the admin interface, you’ll need to configure the admin.py file.</a:t>
            </a:r>
            <a:br>
              <a:rPr lang="en-US"/>
            </a:br>
            <a:r>
              <a:rPr lang="en-US"/>
              <a:t>In this file, register the models you’ve created so that they appear on the Django admin page. You can also customize how objects are displayed by modifying their list and detail views.</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17</a:t>
            </a:fld>
            <a:endParaRPr lang="en-US"/>
          </a:p>
        </p:txBody>
      </p:sp>
    </p:spTree>
  </p:cSld>
</p:notes>
</file>

<file path=ppt/notesSlides/notesSlide1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marR="0" lvl="0" indent="0" algn="l" defTabSz="914400" rtl="0" eaLnBrk="1" latinLnBrk="0" hangingPunct="1">
              <a:lnSpc>
                <a:spcPct val="100000"/>
              </a:lnSpc>
              <a:spcBef>
                <a:spcPts val="0"/>
              </a:spcBef>
              <a:spcAft>
                <a:spcPts val="0"/>
              </a:spcAft>
              <a:buClrTx/>
              <a:buFontTx/>
              <a:buNone/>
              <a:defRPr/>
            </a:pPr>
            <a:r>
              <a:rPr lang="en-US"/>
              <a:t>Next, you’ll need to create a </a:t>
            </a:r>
            <a:r>
              <a:rPr lang="en-US" b="1"/>
              <a:t>superuser</a:t>
            </a:r>
            <a:r>
              <a:rPr lang="en-US"/>
              <a:t> — a special account with full access to the Django admin panel.</a:t>
            </a:r>
            <a:br>
              <a:rPr lang="en-US"/>
            </a:br>
            <a:r>
              <a:rPr lang="en-US"/>
              <a:t>To do that, run the following command:</a:t>
            </a:r>
            <a:endParaRPr lang="en-US"/>
          </a:p>
          <a:p>
            <a:pPr lvl="0">
              <a:defRPr/>
            </a:pPr>
            <a:endParaRPr lang="en-US"/>
          </a:p>
          <a:p>
            <a:pPr lvl="0">
              <a:defRPr/>
            </a:pPr>
            <a:r>
              <a:rPr lang="en-US"/>
              <a:t>python manage.py createsuperuser</a:t>
            </a:r>
            <a:endParaRPr lang="en-US"/>
          </a:p>
          <a:p>
            <a:pPr lvl="0">
              <a:defRPr/>
            </a:pPr>
            <a:endParaRPr lang="en-US"/>
          </a:p>
          <a:p>
            <a:pPr lvl="0">
              <a:defRPr/>
            </a:pPr>
            <a:r>
              <a:rPr lang="en-US"/>
              <a:t>You’ll be prompted to enter a username, email address, and password.</a:t>
            </a:r>
            <a:endParaRPr lang="en-US"/>
          </a:p>
          <a:p>
            <a:pPr lvl="0">
              <a:defRPr/>
            </a:pPr>
            <a:br>
              <a:rPr lang="en-US"/>
            </a:br>
            <a:r>
              <a:rPr lang="en-US"/>
              <a:t>Once the superuser is created, you can log in to the admin site by visiting.</a:t>
            </a:r>
            <a:endParaRPr lang="en-US"/>
          </a:p>
          <a:p>
            <a:pPr lvl="0">
              <a:defRPr/>
            </a:pPr>
            <a:endParaRPr lang="en-US"/>
          </a:p>
          <a:p>
            <a:pPr lvl="0">
              <a:defRPr/>
            </a:pPr>
            <a:r>
              <a:rPr lang="en-US"/>
              <a:t>https://your-domain/admin</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18</a:t>
            </a:fld>
            <a:endParaRPr lang="en-US"/>
          </a:p>
        </p:txBody>
      </p:sp>
    </p:spTree>
  </p:cSld>
</p:notes>
</file>

<file path=ppt/notesSlides/notesSlide1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While Django’s built-in manage.py runserver command is useful during development, it’s not designed for production use.</a:t>
            </a:r>
            <a:endParaRPr lang="en-US"/>
          </a:p>
          <a:p>
            <a:pPr>
              <a:buNone/>
              <a:defRPr/>
            </a:pPr>
            <a:r>
              <a:rPr lang="en-US"/>
              <a:t>For a production environment, we use </a:t>
            </a:r>
            <a:r>
              <a:rPr lang="en-US" b="1"/>
              <a:t>Gunicorn</a:t>
            </a:r>
            <a:r>
              <a:rPr lang="en-US"/>
              <a:t>, a WSGI server that is optimized for speed, stability, and handling multiple requests concurrently.</a:t>
            </a:r>
            <a:endParaRPr lang="en-US"/>
          </a:p>
          <a:p>
            <a:pPr>
              <a:buNone/>
              <a:defRPr/>
            </a:pPr>
            <a:r>
              <a:rPr lang="en-US"/>
              <a:t>Gunicorn is typically deployed </a:t>
            </a:r>
            <a:r>
              <a:rPr lang="en-US" b="1"/>
              <a:t>behind a reverse proxy</a:t>
            </a:r>
            <a:r>
              <a:rPr lang="en-US"/>
              <a:t>, such as </a:t>
            </a:r>
            <a:r>
              <a:rPr lang="en-US" b="1"/>
              <a:t>Nginx</a:t>
            </a:r>
            <a:r>
              <a:rPr lang="en-US"/>
              <a:t>. In this setup, Nginx takes care of serving static files, handling HTTPS encryption, and distributing traffic — while Gunicorn handles the application logic.</a:t>
            </a:r>
            <a:endParaRPr lang="en-US"/>
          </a:p>
          <a:p>
            <a:pPr>
              <a:buNone/>
              <a:defRPr/>
            </a:pPr>
            <a:r>
              <a:rPr lang="en-US"/>
              <a:t>This combination of </a:t>
            </a:r>
            <a:r>
              <a:rPr lang="en-US" b="1"/>
              <a:t>Nginx + Gunicorn</a:t>
            </a:r>
            <a:r>
              <a:rPr lang="en-US"/>
              <a:t> is widely considered a </a:t>
            </a:r>
            <a:r>
              <a:rPr lang="en-US" b="1"/>
              <a:t>standard and scalable architecture</a:t>
            </a:r>
            <a:r>
              <a:rPr lang="en-US"/>
              <a:t> for deploying Django applications.</a:t>
            </a:r>
            <a:endParaRPr lang="en-US"/>
          </a:p>
          <a:p>
            <a:pPr lvl="0">
              <a:defRPr/>
            </a:pPr>
            <a:r>
              <a:rPr lang="en-US"/>
              <a:t>To ensure that Gunicorn stays running even after a reboot or a crash, we use a </a:t>
            </a:r>
            <a:r>
              <a:rPr lang="en-US" b="1"/>
              <a:t>process manager like Supervisor</a:t>
            </a:r>
            <a:r>
              <a:rPr lang="en-US"/>
              <a:t>. Supervisor monitors the Gunicorn process and automatically restarts it if needed, making the deployment more reliable.</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19</a:t>
            </a:fld>
            <a:endParaRPr lang="en-US"/>
          </a:p>
        </p:txBody>
      </p:sp>
    </p:spTree>
  </p:cSld>
</p:notes>
</file>

<file path=ppt/notesSlides/notesSlide2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There are many Django applications running in the server and it is necessary for each user to restart their own Django applications, not affecting other applications.</a:t>
            </a:r>
            <a:endParaRPr lang="en-US"/>
          </a:p>
          <a:p>
            <a:pPr lvl="0">
              <a:defRPr/>
            </a:pPr>
            <a:endParaRPr lang="en-US"/>
          </a:p>
          <a:p>
            <a:pPr lvl="0">
              <a:defRPr/>
            </a:pPr>
            <a:r>
              <a:rPr lang="en-US"/>
              <a:t>Please use the commands in /home/username/bin folder to start and stop your gunicorn server.</a:t>
            </a:r>
            <a:endParaRPr lang="en-US"/>
          </a:p>
          <a:p>
            <a:pPr lvl="0">
              <a:defRPr/>
            </a:pPr>
            <a:endParaRPr lang="en-US"/>
          </a:p>
          <a:p>
            <a:pPr lvl="0">
              <a:defRPr/>
            </a:pPr>
            <a:r>
              <a:rPr lang="en-US"/>
              <a:t>You can Use restart_mine.sh to restart your service and</a:t>
            </a:r>
            <a:endParaRPr lang="en-US"/>
          </a:p>
          <a:p>
            <a:pPr lvl="0">
              <a:defRPr/>
            </a:pPr>
            <a:endParaRPr lang="en-US"/>
          </a:p>
          <a:p>
            <a:pPr lvl="0">
              <a:defRPr/>
            </a:pPr>
            <a:r>
              <a:rPr lang="en-US"/>
              <a:t>You can Use stop_mine.sh  to stop the service.</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20</a:t>
            </a:fld>
            <a:endParaRPr lang="en-US"/>
          </a:p>
        </p:txBody>
      </p:sp>
    </p:spTree>
  </p:cSld>
</p:notes>
</file>

<file path=ppt/notesSlides/notesSlide2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marR="0" lvl="0" indent="0" algn="l" defTabSz="914400" rtl="0" eaLnBrk="1" latinLnBrk="0" hangingPunct="1">
              <a:lnSpc>
                <a:spcPct val="100000"/>
              </a:lnSpc>
              <a:spcBef>
                <a:spcPts val="0"/>
              </a:spcBef>
              <a:spcAft>
                <a:spcPts val="0"/>
              </a:spcAft>
              <a:buClrTx/>
              <a:buFontTx/>
              <a:buNone/>
              <a:defRPr/>
            </a:pPr>
            <a:r>
              <a:rPr lang="en-US"/>
              <a:t>Let’s run the remote server and send a data to the server using curl.</a:t>
            </a:r>
            <a:endParaRPr lang="en-US"/>
          </a:p>
          <a:p>
            <a:pPr marL="0" marR="0" lvl="0" indent="0" algn="l" defTabSz="914400" rtl="0" eaLnBrk="1" latinLnBrk="0" hangingPunct="1">
              <a:lnSpc>
                <a:spcPct val="100000"/>
              </a:lnSpc>
              <a:spcBef>
                <a:spcPts val="0"/>
              </a:spcBef>
              <a:spcAft>
                <a:spcPts val="0"/>
              </a:spcAft>
              <a:buClrTx/>
              <a:buFontTx/>
              <a:buNone/>
              <a:defRPr/>
            </a:pPr>
            <a:endParaRPr lang="en-US"/>
          </a:p>
          <a:p>
            <a:pPr marL="0" marR="0" lvl="0" indent="0" algn="l" defTabSz="914400" rtl="0" eaLnBrk="1" latinLnBrk="0" hangingPunct="1">
              <a:lnSpc>
                <a:spcPct val="100000"/>
              </a:lnSpc>
              <a:spcBef>
                <a:spcPts val="0"/>
              </a:spcBef>
              <a:spcAft>
                <a:spcPts val="0"/>
              </a:spcAft>
              <a:buClrTx/>
              <a:buFontTx/>
              <a:buNone/>
              <a:defRPr/>
            </a:pPr>
            <a:r>
              <a:rPr lang="en-US"/>
              <a:t>Copy and paste the curl command in the Putty terminal to send the data using curl.</a:t>
            </a:r>
            <a:endParaRPr lang="en-US"/>
          </a:p>
        </p:txBody>
      </p:sp>
      <p:sp>
        <p:nvSpPr>
          <p:cNvPr id="4" name="Slide Number Placeholder 3"/>
          <p:cNvSpPr>
            <a:spLocks noGrp="1"/>
          </p:cNvSpPr>
          <p:nvPr>
            <p:ph type="sldNum" sz="quarter" idx="5"/>
          </p:nvPr>
        </p:nvSpPr>
        <p:spPr/>
        <p:txBody>
          <a:bodyPr/>
          <a:lstStyle/>
          <a:p>
            <a:pPr lvl="0">
              <a:defRPr/>
            </a:pPr>
            <a:fld id="{AA563587-8ABA-4622-A195-1FC809463A2F}" type="slidenum">
              <a:rPr lang="en-US"/>
              <a:pPr lvl="0">
                <a:defRPr/>
              </a:pPr>
              <a:t>21</a:t>
            </a:fld>
            <a:endParaRPr lang="en-US"/>
          </a:p>
        </p:txBody>
      </p:sp>
    </p:spTree>
  </p:cSld>
</p:notes>
</file>

<file path=ppt/notesSlides/notesSlide2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marL="0" marR="0" lvl="0" indent="0" algn="l" defTabSz="914400" rtl="0" eaLnBrk="1" latinLnBrk="0" hangingPunct="1">
              <a:lnSpc>
                <a:spcPct val="100000"/>
              </a:lnSpc>
              <a:spcBef>
                <a:spcPts val="0"/>
              </a:spcBef>
              <a:spcAft>
                <a:spcPts val="0"/>
              </a:spcAft>
              <a:buClrTx/>
              <a:buFontTx/>
              <a:buNone/>
              <a:defRPr/>
            </a:pPr>
            <a:r>
              <a:rPr lang="en-US"/>
              <a:t>In the web browser, </a:t>
            </a:r>
            <a:r>
              <a:rPr lang="en-US" sz="1200">
                <a:solidFill>
                  <a:schemeClr val="bg1"/>
                </a:solidFill>
              </a:rPr>
              <a:t>visit </a:t>
            </a:r>
            <a:r>
              <a:rPr lang="en-US"/>
              <a:t>https://your-domain. belajarhub.id/django</a:t>
            </a:r>
            <a:r>
              <a:rPr lang="en-US" sz="1200">
                <a:solidFill>
                  <a:schemeClr val="bg1"/>
                </a:solidFill>
              </a:rPr>
              <a:t>/device/device01</a:t>
            </a:r>
            <a:endParaRPr lang="en-US" sz="1200">
              <a:solidFill>
                <a:schemeClr val="bg1"/>
              </a:solidFill>
            </a:endParaRPr>
          </a:p>
          <a:p>
            <a:pPr lvl="0">
              <a:defRPr/>
            </a:pPr>
            <a:endParaRPr lang="en-US"/>
          </a:p>
          <a:p>
            <a:pPr lvl="0">
              <a:defRPr/>
            </a:pPr>
            <a:r>
              <a:rPr lang="en-US"/>
              <a:t>It will show the temperature and humidity as shown in the slide.</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22</a:t>
            </a:fld>
            <a:endParaRPr lang="en-US"/>
          </a:p>
        </p:txBody>
      </p:sp>
    </p:spTree>
  </p:cSld>
</p:notes>
</file>

<file path=ppt/notesSlides/notesSlide2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If we want graphical display of temperature and humidity, we may add sensor_gauge_view function in the view.py and add a path pattern in urls.py.</a:t>
            </a:r>
            <a:endParaRPr lang="en-US"/>
          </a:p>
          <a:p>
            <a:pPr lvl="0">
              <a:defRPr/>
            </a:pPr>
            <a:endParaRPr lang="en-US"/>
          </a:p>
          <a:p>
            <a:pPr lvl="0">
              <a:defRPr/>
            </a:pPr>
            <a:r>
              <a:rPr lang="en-US"/>
              <a:t>You may refer the source code at github.</a:t>
            </a:r>
            <a:endParaRPr lang="en-US"/>
          </a:p>
          <a:p>
            <a:pPr lvl="0">
              <a:defRPr/>
            </a:pP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23</a:t>
            </a:fld>
            <a:endParaRPr lang="en-US"/>
          </a:p>
        </p:txBody>
      </p:sp>
    </p:spTree>
  </p:cSld>
</p:notes>
</file>

<file path=ppt/notesSlides/notesSlide2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a:buNone/>
              <a:defRPr/>
            </a:pPr>
            <a:r>
              <a:rPr lang="en-US"/>
              <a:t>In this session, we successfully developed a simple Django web application on a remote server.</a:t>
            </a:r>
            <a:endParaRPr lang="en-US"/>
          </a:p>
          <a:p>
            <a:pPr>
              <a:buNone/>
              <a:defRPr/>
            </a:pPr>
            <a:r>
              <a:rPr lang="en-US"/>
              <a:t>For deployment, we used </a:t>
            </a:r>
            <a:r>
              <a:rPr lang="en-US" b="1"/>
              <a:t>Gunicorn</a:t>
            </a:r>
            <a:r>
              <a:rPr lang="en-US"/>
              <a:t>, a high-performance WSGI server, and placed it behind </a:t>
            </a:r>
            <a:r>
              <a:rPr lang="en-US" b="1"/>
              <a:t>Nginx</a:t>
            </a:r>
            <a:r>
              <a:rPr lang="en-US"/>
              <a:t>, which handled client requests, static files, and reverse proxying.</a:t>
            </a:r>
            <a:endParaRPr lang="en-US"/>
          </a:p>
          <a:p>
            <a:pPr lvl="0">
              <a:defRPr/>
            </a:pPr>
            <a:r>
              <a:rPr lang="en-US"/>
              <a:t>After setting everything up, we accessed the </a:t>
            </a:r>
            <a:r>
              <a:rPr lang="en-US" b="1"/>
              <a:t>Django admin page</a:t>
            </a:r>
            <a:r>
              <a:rPr lang="en-US"/>
              <a:t> through the browser — confirming that our application was running smoothly and ready for further development or management.</a:t>
            </a:r>
            <a:endParaRPr lang="en-US"/>
          </a:p>
          <a:p>
            <a:pPr lvl="0">
              <a:defRPr/>
            </a:pPr>
            <a:endParaRPr lang="en-US"/>
          </a:p>
          <a:p>
            <a:pPr lvl="0">
              <a:defRPr/>
            </a:pPr>
            <a:r>
              <a:rPr lang="en-US"/>
              <a:t>Thank you for your attention.</a:t>
            </a:r>
            <a:endParaRPr lang="en-US"/>
          </a:p>
        </p:txBody>
      </p:sp>
      <p:sp>
        <p:nvSpPr>
          <p:cNvPr id="4" name="Slide Number Placeholder 3"/>
          <p:cNvSpPr>
            <a:spLocks noGrp="1"/>
          </p:cNvSpPr>
          <p:nvPr>
            <p:ph type="sldNum" sz="quarter" idx="5"/>
          </p:nvPr>
        </p:nvSpPr>
        <p:spPr/>
        <p:txBody>
          <a:bodyPr/>
          <a:lstStyle/>
          <a:p>
            <a:pPr lvl="0">
              <a:defRPr/>
            </a:pPr>
            <a:fld id="{0E9ED1F8-92AA-431C-AB87-7143C7B7B512}" type="slidenum">
              <a:rPr lang="en-US"/>
              <a:pPr lvl="0">
                <a:defRPr/>
              </a:pPr>
              <a:t>24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A3ED-CF83-22D6-5B7F-79723B64E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90C604-0FE0-4144-A4B3-E1311146D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7504E9-AE36-C1D2-941E-4845D98B81C8}"/>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1A7C5FB8-DDBF-E313-A964-4DF85CA2B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D5BE4-04A3-60A8-FF71-601E0DD756FB}"/>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0488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D9D1-B714-DE9A-8290-E606A83F44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587E0F-8446-5DEB-8EA3-C9495FBDD4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CF911-7A14-B04A-DF13-C6A8BD8F53B1}"/>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10BF2C12-8053-62ED-E6EB-095E1A7EC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99395-8934-9DFE-5F6C-E616C266F501}"/>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466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39217-C541-CC70-1432-D98BE2186F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A691F7-D6E8-9A00-7B04-6E6843201B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320C00-B82E-2FD8-0DED-2BA912F245C8}"/>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F9A8F82A-80C5-8A20-06CC-BA7C6A893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D4845-23A9-19D6-A72D-7E02046F2E60}"/>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1349033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DFDF8-74F7-346A-9A8C-13A400FD6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674645-6D34-3161-B4D7-C92F261E67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412653-147E-2A6D-FD85-496716F97C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1BE970-6F77-35A4-918C-090C63EDC296}"/>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6" name="Footer Placeholder 5">
            <a:extLst>
              <a:ext uri="{FF2B5EF4-FFF2-40B4-BE49-F238E27FC236}">
                <a16:creationId xmlns:a16="http://schemas.microsoft.com/office/drawing/2014/main" id="{814067C5-157E-DF3A-CEC5-56DC2930D8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BC25AF-990A-74EC-7865-8C17C127C3E2}"/>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1788909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175D-8258-1D59-598A-D4A419700F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7BA64F-05BC-16E7-8B75-70C69B34BB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1C68EA-256D-43EB-E9E5-7B441BDA7B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9D758B-E5A2-31B9-971D-46BC17CFC2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A582A9-FB3D-C1A9-B5D0-94432AFD4D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2E170E-57EA-7072-46FD-3F0861964C88}"/>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8" name="Footer Placeholder 7">
            <a:extLst>
              <a:ext uri="{FF2B5EF4-FFF2-40B4-BE49-F238E27FC236}">
                <a16:creationId xmlns:a16="http://schemas.microsoft.com/office/drawing/2014/main" id="{22AFFA2A-309C-8743-EB51-49253AF518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236AD0-5981-6144-D9A6-8953B81B5702}"/>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3695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A094-F9B2-B3E4-5623-6469AD23AC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48FE85-F13B-41C2-6B0E-2610E6C83DCA}"/>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4" name="Footer Placeholder 3">
            <a:extLst>
              <a:ext uri="{FF2B5EF4-FFF2-40B4-BE49-F238E27FC236}">
                <a16:creationId xmlns:a16="http://schemas.microsoft.com/office/drawing/2014/main" id="{9CDD461A-13A4-C5D1-24B8-E6F32228CB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C0A698-58BD-B303-E2AF-1403F5F93616}"/>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250293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2F1DB-86F3-DB24-2A80-192437AE8871}"/>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3" name="Footer Placeholder 2">
            <a:extLst>
              <a:ext uri="{FF2B5EF4-FFF2-40B4-BE49-F238E27FC236}">
                <a16:creationId xmlns:a16="http://schemas.microsoft.com/office/drawing/2014/main" id="{9575DD0E-FC3E-A8C1-EED5-4174337406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3B3321-EDD8-95BE-F7BD-EB1BF1E53A1B}"/>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861408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24BF6-24C1-56E3-F47E-0B0780B5B0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28AE8B-A3ED-39D9-2043-25CE61FD48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317E2-41A5-6A0C-0905-F741E997D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82DCB-EDF2-8CD1-9F55-41201DA09F96}"/>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6" name="Footer Placeholder 5">
            <a:extLst>
              <a:ext uri="{FF2B5EF4-FFF2-40B4-BE49-F238E27FC236}">
                <a16:creationId xmlns:a16="http://schemas.microsoft.com/office/drawing/2014/main" id="{AA263A12-2710-BF0C-7739-57090CDFD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89C08E-20B9-A56B-EB99-F7794BC05D1D}"/>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3419812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7EA8-2B59-6A69-D7A3-9FE1BEAE3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F0A8AD-1D58-5760-EF93-1B773099C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0BD946-7759-1550-99F7-7B70031DC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C2D23-CE12-B08D-E100-C42BF3EEAAF6}"/>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6" name="Footer Placeholder 5">
            <a:extLst>
              <a:ext uri="{FF2B5EF4-FFF2-40B4-BE49-F238E27FC236}">
                <a16:creationId xmlns:a16="http://schemas.microsoft.com/office/drawing/2014/main" id="{CBCF9AE3-DBB0-D924-B3CA-93D6D509B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C163FE-5D8F-4234-EBE4-6D9F0927B5B1}"/>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2149741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25CE4-7C6A-1399-AF5E-83A21C483A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A99C4-3B6A-3283-0A15-0B3D56813F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EF9BFB-C983-89B0-81D3-801AE7DA8567}"/>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77C88AAA-4EE0-CFA3-06D8-B8713BB700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A5B3B-03F1-563B-DECE-F6D8B8F93256}"/>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31469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DE209D-965F-6966-C91E-56831EAA1F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E25084-BC56-3A7E-139C-FEA00DA163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2D2BB-8500-E40C-15F6-FB420AA84A30}"/>
              </a:ext>
            </a:extLst>
          </p:cNvPr>
          <p:cNvSpPr>
            <a:spLocks noGrp="1"/>
          </p:cNvSpPr>
          <p:nvPr>
            <p:ph type="dt" sz="half" idx="10"/>
          </p:nvPr>
        </p:nvSpPr>
        <p:spPr/>
        <p:txBody>
          <a:body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2906FB8D-93E4-5FB5-8539-A5AB9DCC2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731236-F742-C256-0F0B-88159E751715}"/>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8381802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D4A2C-8F32-7990-7F5E-DEBEA1A69B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466061-FA74-BFDC-41FE-594A367D42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F9B60-3571-EED6-7404-5B7A9A43B2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E1C341-444E-49DC-8FD9-3A56DA6D1B79}" type="datetimeFigureOut">
              <a:rPr lang="en-US" smtClean="0"/>
              <a:t>5/21/2025</a:t>
            </a:fld>
            <a:endParaRPr lang="en-US"/>
          </a:p>
        </p:txBody>
      </p:sp>
      <p:sp>
        <p:nvSpPr>
          <p:cNvPr id="5" name="Footer Placeholder 4">
            <a:extLst>
              <a:ext uri="{FF2B5EF4-FFF2-40B4-BE49-F238E27FC236}">
                <a16:creationId xmlns:a16="http://schemas.microsoft.com/office/drawing/2014/main" id="{7ECE9DC1-4A66-A476-555B-B79112F89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065D48-F2AA-9E56-C887-62BBD4420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85FFC7-AFA2-4582-A483-AD43FF120B38}" type="slidenum">
              <a:rPr lang="en-US" smtClean="0"/>
              <a:t>‹#›</a:t>
            </a:fld>
            <a:endParaRPr lang="en-US"/>
          </a:p>
        </p:txBody>
      </p:sp>
    </p:spTree>
    <p:extLst>
      <p:ext uri="{BB962C8B-B14F-4D97-AF65-F5344CB8AC3E}">
        <p14:creationId xmlns:p14="http://schemas.microsoft.com/office/powerpoint/2010/main" val="2801940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diagramData" Target="../diagrams/data1.xml"  /><Relationship Id="rId4" Type="http://schemas.openxmlformats.org/officeDocument/2006/relationships/diagramLayout" Target="../diagrams/layout1.xml"  /><Relationship Id="rId5" Type="http://schemas.openxmlformats.org/officeDocument/2006/relationships/diagramQuickStyle" Target="../diagrams/quickStyle1.xml"  /><Relationship Id="rId6" Type="http://schemas.openxmlformats.org/officeDocument/2006/relationships/diagramColors" Target="../diagrams/colors1.xml"  /><Relationship Id="rId7" Type="http://schemas.microsoft.com/office/2007/relationships/diagramDrawing" Target="../diagrams/drawing1.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6.xml"  /><Relationship Id="rId3" Type="http://schemas.openxmlformats.org/officeDocument/2006/relationships/image" Target="../media/image7.png"  /><Relationship Id="rId4" Type="http://schemas.openxmlformats.org/officeDocument/2006/relationships/image" Target="../media/image8.png"  /><Relationship Id="rId5" Type="http://schemas.openxmlformats.org/officeDocument/2006/relationships/image" Target="../media/image9.png"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6.xml"  /><Relationship Id="rId3" Type="http://schemas.openxmlformats.org/officeDocument/2006/relationships/image" Target="../media/image10.png"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6.xml"  /><Relationship Id="rId3" Type="http://schemas.openxmlformats.org/officeDocument/2006/relationships/image" Target="../media/image11.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3.xml"  /><Relationship Id="rId3" Type="http://schemas.openxmlformats.org/officeDocument/2006/relationships/image" Target="../media/image12.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diagramData" Target="../diagrams/data2.xml"  /><Relationship Id="rId4" Type="http://schemas.openxmlformats.org/officeDocument/2006/relationships/diagramLayout" Target="../diagrams/layout2.xml"  /><Relationship Id="rId5" Type="http://schemas.openxmlformats.org/officeDocument/2006/relationships/diagramQuickStyle" Target="../diagrams/quickStyle2.xml"  /><Relationship Id="rId6" Type="http://schemas.openxmlformats.org/officeDocument/2006/relationships/diagramColors" Target="../diagrams/colors2.xml"  /><Relationship Id="rId7" Type="http://schemas.microsoft.com/office/2007/relationships/diagramDrawing" Target="../diagrams/drawing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5.xml"  /><Relationship Id="rId3" Type="http://schemas.openxmlformats.org/officeDocument/2006/relationships/image" Target="../media/image21.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22.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2.xml"  /><Relationship Id="rId3" Type="http://schemas.openxmlformats.org/officeDocument/2006/relationships/image" Target="../media/image23.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3.xml"  /><Relationship Id="rId3" Type="http://schemas.openxmlformats.org/officeDocument/2006/relationships/image" Target="../media/image24.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889E0-8281-F2E4-66DD-5A9FEA0C917C}"/>
              </a:ext>
            </a:extLst>
          </p:cNvPr>
          <p:cNvSpPr>
            <a:spLocks noGrp="1"/>
          </p:cNvSpPr>
          <p:nvPr>
            <p:ph type="ctrTitle"/>
          </p:nvPr>
        </p:nvSpPr>
        <p:spPr>
          <a:xfrm>
            <a:off x="578651" y="1122363"/>
            <a:ext cx="11034695" cy="3174690"/>
          </a:xfrm>
        </p:spPr>
        <p:txBody>
          <a:bodyPr anchor="ctr">
            <a:normAutofit/>
          </a:bodyPr>
          <a:lstStyle/>
          <a:p>
            <a:pPr algn="l"/>
            <a:r>
              <a:rPr lang="en-US" sz="8000"/>
              <a:t>Developing a Django Web Application for IoT Data</a:t>
            </a:r>
          </a:p>
        </p:txBody>
      </p:sp>
      <p:sp>
        <p:nvSpPr>
          <p:cNvPr id="3" name="Subtitle 2">
            <a:extLst>
              <a:ext uri="{FF2B5EF4-FFF2-40B4-BE49-F238E27FC236}">
                <a16:creationId xmlns:a16="http://schemas.microsoft.com/office/drawing/2014/main" id="{6746E2E2-1A59-1BEE-FE01-9E1B55BA4AA7}"/>
              </a:ext>
            </a:extLst>
          </p:cNvPr>
          <p:cNvSpPr>
            <a:spLocks noGrp="1"/>
          </p:cNvSpPr>
          <p:nvPr>
            <p:ph type="subTitle" idx="1"/>
          </p:nvPr>
        </p:nvSpPr>
        <p:spPr>
          <a:xfrm>
            <a:off x="578651" y="4723637"/>
            <a:ext cx="11034695" cy="1481396"/>
          </a:xfrm>
        </p:spPr>
        <p:txBody>
          <a:bodyPr>
            <a:normAutofit/>
          </a:bodyPr>
          <a:lstStyle/>
          <a:p>
            <a:pPr algn="l"/>
            <a:r>
              <a:rPr lang="en-US" sz="2800"/>
              <a:t>Developing a Simple Django Web Application in a Remote Server</a:t>
            </a:r>
            <a:br>
              <a:rPr lang="en-US" sz="2800"/>
            </a:br>
            <a:endParaRPr lang="en-US" sz="2800"/>
          </a:p>
          <a:p>
            <a:pPr algn="l"/>
            <a:r>
              <a:rPr lang="en-US" sz="2800"/>
              <a:t>Jong-Dae Park</a:t>
            </a:r>
          </a:p>
        </p:txBody>
      </p:sp>
      <p:sp>
        <p:nvSpPr>
          <p:cNvPr id="10" name="Rectangle 9">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419011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7704-00B5-86B2-88ED-F4C4EA5EF5E8}"/>
              </a:ext>
            </a:extLst>
          </p:cNvPr>
          <p:cNvSpPr>
            <a:spLocks noGrp="1"/>
          </p:cNvSpPr>
          <p:nvPr>
            <p:ph type="title"/>
          </p:nvPr>
        </p:nvSpPr>
        <p:spPr/>
        <p:txBody>
          <a:bodyPr/>
          <a:lstStyle/>
          <a:p>
            <a:r>
              <a:rPr lang="en-US"/>
              <a:t>Learning Objectives</a:t>
            </a:r>
          </a:p>
        </p:txBody>
      </p:sp>
      <p:graphicFrame>
        <p:nvGraphicFramePr>
          <p:cNvPr id="5" name="Content Placeholder 2">
            <a:extLst>
              <a:ext uri="{FF2B5EF4-FFF2-40B4-BE49-F238E27FC236}">
                <a16:creationId xmlns:a16="http://schemas.microsoft.com/office/drawing/2014/main" id="{1CB7B558-188D-847C-EE9A-34C9449A36F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0358652"/>
      </p:ext>
    </p:extLst>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useBgFill="1">
        <p:nvSpPr>
          <p:cNvPr id="24" name="Rectangle 23"/>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Freeform: Shape 25"/>
          <p:cNvSpPr>
            <a:spLocks noGrp="1" noRot="1" noChangeAspect="1" noMove="1" noResize="1" noEditPoints="1" noAdjustHandles="1" noChangeArrowheads="1" noChangeShapeType="1" noTextEdit="1"/>
          </p:cNvSpPr>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defRPr/>
            </a:pPr>
            <a:endParaRPr lang="en-US"/>
          </a:p>
        </p:txBody>
      </p:sp>
      <p:sp>
        <p:nvSpPr>
          <p:cNvPr id="2" name="Title 1"/>
          <p:cNvSpPr>
            <a:spLocks noGrp="1"/>
          </p:cNvSpPr>
          <p:nvPr>
            <p:ph type="title" idx="0"/>
          </p:nvPr>
        </p:nvSpPr>
        <p:spPr>
          <a:xfrm>
            <a:off x="1288576" y="975815"/>
            <a:ext cx="9614848" cy="1126780"/>
          </a:xfrm>
        </p:spPr>
        <p:txBody>
          <a:bodyPr>
            <a:normAutofit/>
          </a:bodyPr>
          <a:lstStyle/>
          <a:p>
            <a:pPr algn="ctr">
              <a:defRPr/>
            </a:pPr>
            <a:r>
              <a:rPr lang="en-US"/>
              <a:t>Development Environment</a:t>
            </a:r>
            <a:endParaRPr lang="en-US"/>
          </a:p>
        </p:txBody>
      </p:sp>
      <p:sp>
        <p:nvSpPr>
          <p:cNvPr id="28" name="Rectangle 6"/>
          <p:cNvSpPr>
            <a:spLocks noGrp="1" noRot="1" noChangeAspect="1" noMove="1" noResize="1" noEditPoints="1" noAdjustHandles="1" noChangeArrowheads="1" noChangeShapeType="1" noTextEdit="1"/>
          </p:cNvSpPr>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Content Placeholder 2"/>
          <p:cNvSpPr>
            <a:spLocks noGrp="1"/>
          </p:cNvSpPr>
          <p:nvPr>
            <p:ph idx="1"/>
          </p:nvPr>
        </p:nvSpPr>
        <p:spPr>
          <a:xfrm>
            <a:off x="1959310" y="2918128"/>
            <a:ext cx="8273380" cy="3053301"/>
          </a:xfrm>
        </p:spPr>
        <p:txBody>
          <a:bodyPr anchor="ctr">
            <a:normAutofit/>
          </a:bodyPr>
          <a:lstStyle/>
          <a:p>
            <a:pPr lvl="0">
              <a:defRPr/>
            </a:pPr>
            <a:r>
              <a:rPr lang="en-US" sz="2000"/>
              <a:t>/home/username</a:t>
            </a:r>
            <a:endParaRPr lang="en-US" sz="2000"/>
          </a:p>
          <a:p>
            <a:pPr lvl="0">
              <a:defRPr/>
            </a:pPr>
            <a:r>
              <a:rPr lang="en-US" sz="2000"/>
              <a:t>/srv/</a:t>
            </a:r>
            <a:r>
              <a:rPr lang="en-US" altLang="ko-KR" sz="2000"/>
              <a:t>php</a:t>
            </a:r>
            <a:r>
              <a:rPr lang="en-US" sz="2000"/>
              <a:t>/username : php web application – week 9</a:t>
            </a:r>
            <a:endParaRPr lang="en-US" sz="2000"/>
          </a:p>
          <a:p>
            <a:pPr lvl="0">
              <a:defRPr/>
            </a:pPr>
            <a:r>
              <a:rPr lang="en-US" sz="2000"/>
              <a:t>/srv/django/username : django application – week 10</a:t>
            </a:r>
            <a:endParaRPr lang="en-US" sz="2000"/>
          </a:p>
          <a:p>
            <a:pPr lvl="0">
              <a:defRPr/>
            </a:pPr>
            <a:r>
              <a:rPr lang="en-US" sz="2000"/>
              <a:t>/srv/spring/username : spring boot application – week 11</a:t>
            </a:r>
            <a:endParaRPr lang="en-US" sz="2000"/>
          </a:p>
          <a:p>
            <a:pPr lvl="0">
              <a:defRPr/>
            </a:pPr>
            <a:r>
              <a:rPr lang="en-US" sz="2000"/>
              <a:t>/srv/nodejs/username : nodejs application – week 12</a:t>
            </a:r>
            <a:endParaRPr lang="en-US" sz="20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0"/>
          </p:nvPr>
        </p:nvSpPr>
        <p:spPr/>
        <p:txBody>
          <a:bodyPr/>
          <a:lstStyle/>
          <a:p>
            <a:pPr algn="ctr">
              <a:defRPr/>
            </a:pPr>
            <a:r>
              <a:rPr lang="en-US"/>
              <a:t>Hosting Multiple Users using a Single Server</a:t>
            </a:r>
            <a:endParaRPr lang="en-US"/>
          </a:p>
        </p:txBody>
      </p:sp>
      <p:grpSp>
        <p:nvGrpSpPr>
          <p:cNvPr id="40" name="Group 39"/>
          <p:cNvGrpSpPr/>
          <p:nvPr/>
        </p:nvGrpSpPr>
        <p:grpSpPr>
          <a:xfrm rot="0">
            <a:off x="1512756" y="2194311"/>
            <a:ext cx="9284784" cy="2342758"/>
            <a:chOff x="2144485" y="2095502"/>
            <a:chExt cx="9284784" cy="2342758"/>
          </a:xfrm>
        </p:grpSpPr>
        <p:grpSp>
          <p:nvGrpSpPr>
            <p:cNvPr id="36" name="Group 35"/>
            <p:cNvGrpSpPr/>
            <p:nvPr/>
          </p:nvGrpSpPr>
          <p:grpSpPr>
            <a:xfrm rot="0">
              <a:off x="2144485" y="2095502"/>
              <a:ext cx="9284784" cy="2158092"/>
              <a:chOff x="944335" y="2569029"/>
              <a:chExt cx="9284784" cy="2158092"/>
            </a:xfrm>
          </p:grpSpPr>
          <p:pic>
            <p:nvPicPr>
              <p:cNvPr id="8" name="Graphic 7" descr="Ui Ux outline"/>
              <p:cNvPicPr>
                <a:picLocks noChangeAspect="1"/>
              </p:cNvPicPr>
              <p:nvPr/>
            </p:nvPicPr>
            <p:blipFill rotWithShape="1">
              <a:blip r:embed="rId3"/>
              <a:stretch>
                <a:fillRect/>
              </a:stretch>
            </p:blipFill>
            <p:spPr>
              <a:xfrm>
                <a:off x="1847850" y="3812721"/>
                <a:ext cx="914400" cy="914400"/>
              </a:xfrm>
              <a:prstGeom prst="rect">
                <a:avLst/>
              </a:prstGeom>
            </p:spPr>
          </p:pic>
          <p:pic>
            <p:nvPicPr>
              <p:cNvPr id="9" name="Graphic 8" descr="Ui Ux outline"/>
              <p:cNvPicPr>
                <a:picLocks noChangeAspect="1"/>
              </p:cNvPicPr>
              <p:nvPr/>
            </p:nvPicPr>
            <p:blipFill rotWithShape="1">
              <a:blip r:embed="rId3"/>
              <a:stretch>
                <a:fillRect/>
              </a:stretch>
            </p:blipFill>
            <p:spPr>
              <a:xfrm>
                <a:off x="1847850" y="2569029"/>
                <a:ext cx="914400" cy="914400"/>
              </a:xfrm>
              <a:prstGeom prst="rect">
                <a:avLst/>
              </a:prstGeom>
            </p:spPr>
          </p:pic>
          <p:cxnSp>
            <p:nvCxnSpPr>
              <p:cNvPr id="15" name="Straight Arrow Connector 14"/>
              <p:cNvCxnSpPr/>
              <p:nvPr/>
            </p:nvCxnSpPr>
            <p:spPr>
              <a:xfrm>
                <a:off x="2955471" y="3026229"/>
                <a:ext cx="595993" cy="3129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2955471" y="3899807"/>
                <a:ext cx="595993" cy="370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5404757" y="3619722"/>
                <a:ext cx="4789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4" name="Graphic 23" descr="Branching diagram outline"/>
              <p:cNvPicPr>
                <a:picLocks noChangeAspect="1"/>
              </p:cNvPicPr>
              <p:nvPr/>
            </p:nvPicPr>
            <p:blipFill rotWithShape="1">
              <a:blip r:embed="rId4"/>
              <a:stretch>
                <a:fillRect/>
              </a:stretch>
            </p:blipFill>
            <p:spPr>
              <a:xfrm rot="5400000">
                <a:off x="6096000" y="2944358"/>
                <a:ext cx="1325563" cy="1325563"/>
              </a:xfrm>
              <a:prstGeom prst="rect">
                <a:avLst/>
              </a:prstGeom>
            </p:spPr>
          </p:pic>
          <p:pic>
            <p:nvPicPr>
              <p:cNvPr id="30" name="Picture 29"/>
              <p:cNvPicPr>
                <a:picLocks noChangeAspect="1"/>
              </p:cNvPicPr>
              <p:nvPr/>
            </p:nvPicPr>
            <p:blipFill rotWithShape="1">
              <a:blip r:embed="rId5"/>
              <a:stretch>
                <a:fillRect/>
              </a:stretch>
            </p:blipFill>
            <p:spPr>
              <a:xfrm>
                <a:off x="4077538" y="2937099"/>
                <a:ext cx="1114947" cy="1340080"/>
              </a:xfrm>
              <a:prstGeom prst="rect">
                <a:avLst/>
              </a:prstGeom>
            </p:spPr>
          </p:pic>
          <p:sp>
            <p:nvSpPr>
              <p:cNvPr id="31" name="TextBox 30"/>
              <p:cNvSpPr txBox="1"/>
              <p:nvPr/>
            </p:nvSpPr>
            <p:spPr>
              <a:xfrm>
                <a:off x="7502673" y="3026229"/>
                <a:ext cx="2726446" cy="369332"/>
              </a:xfrm>
              <a:prstGeom prst="rect">
                <a:avLst/>
              </a:prstGeom>
              <a:noFill/>
            </p:spPr>
            <p:txBody>
              <a:bodyPr wrap="none">
                <a:spAutoFit/>
              </a:bodyPr>
              <a:lstStyle/>
              <a:p>
                <a:pPr lvl="0">
                  <a:defRPr/>
                </a:pPr>
                <a:r>
                  <a:rPr lang="en-US"/>
                  <a:t>User 1 port 8001 or 9001</a:t>
                </a:r>
                <a:endParaRPr lang="en-US"/>
              </a:p>
            </p:txBody>
          </p:sp>
          <p:sp>
            <p:nvSpPr>
              <p:cNvPr id="32" name="TextBox 31"/>
              <p:cNvSpPr txBox="1"/>
              <p:nvPr/>
            </p:nvSpPr>
            <p:spPr>
              <a:xfrm>
                <a:off x="7502673" y="3418898"/>
                <a:ext cx="2726446" cy="369332"/>
              </a:xfrm>
              <a:prstGeom prst="rect">
                <a:avLst/>
              </a:prstGeom>
              <a:noFill/>
            </p:spPr>
            <p:txBody>
              <a:bodyPr wrap="none">
                <a:spAutoFit/>
              </a:bodyPr>
              <a:lstStyle/>
              <a:p>
                <a:pPr lvl="0">
                  <a:defRPr/>
                </a:pPr>
                <a:r>
                  <a:rPr lang="en-US"/>
                  <a:t>User 2 port 8002 or 9002</a:t>
                </a:r>
                <a:endParaRPr lang="en-US"/>
              </a:p>
            </p:txBody>
          </p:sp>
          <p:sp>
            <p:nvSpPr>
              <p:cNvPr id="34" name="TextBox 33"/>
              <p:cNvSpPr txBox="1"/>
              <p:nvPr/>
            </p:nvSpPr>
            <p:spPr>
              <a:xfrm>
                <a:off x="950006" y="2885498"/>
                <a:ext cx="868538" cy="369332"/>
              </a:xfrm>
              <a:prstGeom prst="rect">
                <a:avLst/>
              </a:prstGeom>
              <a:noFill/>
            </p:spPr>
            <p:txBody>
              <a:bodyPr wrap="none">
                <a:spAutoFit/>
              </a:bodyPr>
              <a:lstStyle/>
              <a:p>
                <a:pPr lvl="0">
                  <a:defRPr/>
                </a:pPr>
                <a:r>
                  <a:rPr lang="en-US"/>
                  <a:t>User 1</a:t>
                </a:r>
                <a:endParaRPr lang="en-US"/>
              </a:p>
            </p:txBody>
          </p:sp>
          <p:sp>
            <p:nvSpPr>
              <p:cNvPr id="35" name="TextBox 34"/>
              <p:cNvSpPr txBox="1"/>
              <p:nvPr/>
            </p:nvSpPr>
            <p:spPr>
              <a:xfrm>
                <a:off x="944335" y="4157562"/>
                <a:ext cx="864684" cy="358626"/>
              </a:xfrm>
              <a:prstGeom prst="rect">
                <a:avLst/>
              </a:prstGeom>
              <a:noFill/>
            </p:spPr>
            <p:txBody>
              <a:bodyPr wrap="none">
                <a:spAutoFit/>
              </a:bodyPr>
              <a:lstStyle/>
              <a:p>
                <a:pPr lvl="0">
                  <a:defRPr/>
                </a:pPr>
                <a:r>
                  <a:rPr lang="en-US"/>
                  <a:t>User 2</a:t>
                </a:r>
                <a:endParaRPr lang="en-US"/>
              </a:p>
            </p:txBody>
          </p:sp>
        </p:grpSp>
        <p:sp>
          <p:nvSpPr>
            <p:cNvPr id="37" name="TextBox 36"/>
            <p:cNvSpPr txBox="1"/>
            <p:nvPr/>
          </p:nvSpPr>
          <p:spPr>
            <a:xfrm>
              <a:off x="4945700" y="4068928"/>
              <a:ext cx="1454369" cy="369332"/>
            </a:xfrm>
            <a:prstGeom prst="rect">
              <a:avLst/>
            </a:prstGeom>
            <a:noFill/>
            <a:ln>
              <a:solidFill>
                <a:schemeClr val="accent1"/>
              </a:solidFill>
            </a:ln>
          </p:spPr>
          <p:txBody>
            <a:bodyPr wrap="none">
              <a:spAutoFit/>
            </a:bodyPr>
            <a:lstStyle/>
            <a:p>
              <a:pPr lvl="0">
                <a:defRPr/>
              </a:pPr>
              <a:r>
                <a:rPr lang="en-US"/>
                <a:t>80/443 ports</a:t>
              </a:r>
              <a:endParaRPr lang="en-US"/>
            </a:p>
          </p:txBody>
        </p:sp>
        <p:sp>
          <p:nvSpPr>
            <p:cNvPr id="38" name="TextBox 37"/>
            <p:cNvSpPr txBox="1"/>
            <p:nvPr/>
          </p:nvSpPr>
          <p:spPr>
            <a:xfrm>
              <a:off x="7577387" y="3625748"/>
              <a:ext cx="3785208" cy="359763"/>
            </a:xfrm>
            <a:prstGeom prst="rect">
              <a:avLst/>
            </a:prstGeom>
            <a:noFill/>
            <a:ln>
              <a:solidFill>
                <a:schemeClr val="accent1"/>
              </a:solidFill>
            </a:ln>
          </p:spPr>
          <p:txBody>
            <a:bodyPr wrap="none">
              <a:spAutoFit/>
            </a:bodyPr>
            <a:lstStyle/>
            <a:p>
              <a:pPr lvl="0">
                <a:defRPr/>
              </a:pPr>
              <a:r>
                <a:rPr lang="en-US"/>
                <a:t>Port 8001~8080 for spring boot app</a:t>
              </a:r>
              <a:endParaRPr lang="en-US"/>
            </a:p>
          </p:txBody>
        </p:sp>
        <p:sp>
          <p:nvSpPr>
            <p:cNvPr id="39" name="TextBox 38"/>
            <p:cNvSpPr txBox="1"/>
            <p:nvPr/>
          </p:nvSpPr>
          <p:spPr>
            <a:xfrm>
              <a:off x="7580042" y="4068928"/>
              <a:ext cx="3334877" cy="369332"/>
            </a:xfrm>
            <a:prstGeom prst="rect">
              <a:avLst/>
            </a:prstGeom>
            <a:noFill/>
            <a:ln>
              <a:solidFill>
                <a:schemeClr val="accent1"/>
              </a:solidFill>
            </a:ln>
          </p:spPr>
          <p:txBody>
            <a:bodyPr wrap="none">
              <a:spAutoFit/>
            </a:bodyPr>
            <a:lstStyle/>
            <a:p>
              <a:pPr lvl="0">
                <a:defRPr/>
              </a:pPr>
              <a:r>
                <a:rPr lang="en-US"/>
                <a:t>Port 9001~9080 for nodejs app</a:t>
              </a:r>
              <a:endParaRPr lang="en-US"/>
            </a:p>
          </p:txBody>
        </p:sp>
      </p:grpSp>
      <p:sp>
        <p:nvSpPr>
          <p:cNvPr id="41" name="TextBox 40"/>
          <p:cNvSpPr txBox="1"/>
          <p:nvPr/>
        </p:nvSpPr>
        <p:spPr>
          <a:xfrm>
            <a:off x="1512756" y="5388429"/>
            <a:ext cx="9484537" cy="646331"/>
          </a:xfrm>
          <a:prstGeom prst="rect">
            <a:avLst/>
          </a:prstGeom>
          <a:noFill/>
        </p:spPr>
        <p:txBody>
          <a:bodyPr wrap="square">
            <a:spAutoFit/>
          </a:bodyPr>
          <a:lstStyle/>
          <a:p>
            <a:pPr lvl="0">
              <a:defRPr/>
            </a:pPr>
            <a:r>
              <a:rPr lang="en-US"/>
              <a:t>Each user's Django app is assigned a unique subdomain, which maps incoming requests to the appropriate socket managed by Supervisor. =&gt; Isolate user’s Django applications.</a:t>
            </a:r>
            <a:endParaRPr lang="en-US"/>
          </a:p>
        </p:txBody>
      </p:sp>
      <p:sp>
        <p:nvSpPr>
          <p:cNvPr id="76" name="TextBox 38"/>
          <p:cNvSpPr txBox="1"/>
          <p:nvPr/>
        </p:nvSpPr>
        <p:spPr>
          <a:xfrm>
            <a:off x="6940172" y="2140621"/>
            <a:ext cx="2552443" cy="362549"/>
          </a:xfrm>
          <a:prstGeom prst="rect">
            <a:avLst/>
          </a:prstGeom>
          <a:noFill/>
          <a:ln>
            <a:solidFill>
              <a:schemeClr val="accent1"/>
            </a:solidFill>
          </a:ln>
        </p:spPr>
        <p:txBody>
          <a:bodyPr wrap="none">
            <a:spAutoFit/>
          </a:bodyPr>
          <a:lstStyle/>
          <a:p>
            <a:pPr>
              <a:defRPr/>
            </a:pPr>
            <a:r>
              <a:rPr lang="en-US" altLang="ko-KR"/>
              <a:t>django</a:t>
            </a:r>
            <a:r>
              <a:rPr lang="en-US" altLang="ko-KR">
                <a:ln w="19050">
                  <a:solidFill>
                    <a:schemeClr val="tx1"/>
                  </a:solidFill>
                  <a:prstDash val="solid"/>
                </a:ln>
              </a:rPr>
              <a:t>_</a:t>
            </a:r>
            <a:r>
              <a:rPr lang="en-US" altLang="ko-KR"/>
              <a:t>username</a:t>
            </a:r>
            <a:r>
              <a:rPr lang="en-US" altLang="ko-KR">
                <a:ln w="9525">
                  <a:solidFill>
                    <a:schemeClr val="tx1"/>
                  </a:solidFill>
                  <a:prstDash val="solid"/>
                </a:ln>
              </a:rPr>
              <a:t>.</a:t>
            </a:r>
            <a:r>
              <a:rPr lang="en-US" altLang="ko-KR"/>
              <a:t>sock</a:t>
            </a:r>
            <a:endParaRPr lang="en-US" altLang="ko-K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0"/>
          </p:nvPr>
        </p:nvSpPr>
        <p:spPr>
          <a:xfrm>
            <a:off x="645859" y="640070"/>
            <a:ext cx="4069264" cy="3793488"/>
          </a:xfrm>
          <a:noFill/>
        </p:spPr>
        <p:txBody>
          <a:bodyPr vert="horz" lIns="91440" tIns="45720" rIns="91440" bIns="45720" anchor="ctr">
            <a:normAutofit/>
          </a:bodyPr>
          <a:lstStyle/>
          <a:p>
            <a:pPr lvl="0">
              <a:defRPr/>
            </a:pPr>
            <a:r>
              <a:rPr lang="en-US" sz="4600"/>
              <a:t>Use putty program</a:t>
            </a:r>
            <a:endParaRPr lang="en-US" sz="4600"/>
          </a:p>
        </p:txBody>
      </p:sp>
      <p:pic>
        <p:nvPicPr>
          <p:cNvPr id="5" name=""/>
          <p:cNvPicPr>
            <a:picLocks noChangeAspect="1"/>
          </p:cNvPicPr>
          <p:nvPr/>
        </p:nvPicPr>
        <p:blipFill rotWithShape="1">
          <a:blip r:embed="rId3"/>
          <a:stretch>
            <a:fillRect/>
          </a:stretch>
        </p:blipFill>
        <p:spPr>
          <a:xfrm>
            <a:off x="5145321" y="482555"/>
            <a:ext cx="5735780" cy="560659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0"/>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anchor="ctr">
            <a:normAutofit/>
          </a:bodyPr>
          <a:lstStyle/>
          <a:p>
            <a:pPr algn="ctr">
              <a:defRPr/>
            </a:pPr>
            <a:r>
              <a:rPr lang="en-US" sz="2600">
                <a:solidFill>
                  <a:schemeClr val="bg1"/>
                </a:solidFill>
              </a:rPr>
              <a:t>Connect to your server</a:t>
            </a:r>
            <a:endParaRPr lang="en-US" sz="2600">
              <a:solidFill>
                <a:schemeClr val="bg1"/>
              </a:solidFill>
            </a:endParaRPr>
          </a:p>
        </p:txBody>
      </p:sp>
      <p:pic>
        <p:nvPicPr>
          <p:cNvPr id="4" name="Picture 3"/>
          <p:cNvPicPr>
            <a:picLocks noChangeAspect="1"/>
          </p:cNvPicPr>
          <p:nvPr/>
        </p:nvPicPr>
        <p:blipFill rotWithShape="1">
          <a:blip r:embed="rId3"/>
          <a:stretch>
            <a:fillRect/>
          </a:stretch>
        </p:blipFill>
        <p:spPr>
          <a:xfrm>
            <a:off x="4038600" y="716755"/>
            <a:ext cx="7188199" cy="4917580"/>
          </a:xfrm>
          <a:prstGeom prst="rect">
            <a:avLst/>
          </a:prstGeom>
        </p:spPr>
      </p:pic>
      <p:sp>
        <p:nvSpPr>
          <p:cNvPr id="5" name="TextBox 4"/>
          <p:cNvSpPr txBox="1"/>
          <p:nvPr/>
        </p:nvSpPr>
        <p:spPr>
          <a:xfrm>
            <a:off x="2043953" y="5818079"/>
            <a:ext cx="8995521" cy="637966"/>
          </a:xfrm>
          <a:prstGeom prst="rect">
            <a:avLst/>
          </a:prstGeom>
          <a:noFill/>
        </p:spPr>
        <p:txBody>
          <a:bodyPr wrap="square">
            <a:spAutoFit/>
          </a:bodyPr>
          <a:lstStyle/>
          <a:p>
            <a:pPr lvl="0">
              <a:defRPr/>
            </a:pPr>
            <a:r>
              <a:rPr lang="en-US"/>
              <a:t>Your username : your name initial </a:t>
            </a:r>
            <a:r>
              <a:rPr lang="en-US">
                <a:solidFill>
                  <a:srgbClr val="ff0000"/>
                </a:solidFill>
              </a:rPr>
              <a:t> 1 character  </a:t>
            </a:r>
            <a:r>
              <a:rPr lang="en-US"/>
              <a:t>+ last 5 digits of your student ID</a:t>
            </a:r>
            <a:endParaRPr lang="en-US"/>
          </a:p>
          <a:p>
            <a:pPr lvl="0">
              <a:defRPr/>
            </a:pPr>
            <a:r>
              <a:rPr lang="en-US"/>
              <a:t>Your Password : Your_username*01</a:t>
            </a:r>
            <a:endParaRPr 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2791A7D-6015-0EC0-A1F9-E86C494CE54A}"/>
              </a:ext>
            </a:extLst>
          </p:cNvPr>
          <p:cNvSpPr>
            <a:spLocks noGrp="1"/>
          </p:cNvSpPr>
          <p:nvPr>
            <p:ph type="title"/>
          </p:nvPr>
        </p:nvSpPr>
        <p:spPr>
          <a:xfrm>
            <a:off x="1288576" y="975815"/>
            <a:ext cx="9614848" cy="1126780"/>
          </a:xfrm>
        </p:spPr>
        <p:txBody>
          <a:bodyPr>
            <a:normAutofit/>
          </a:bodyPr>
          <a:lstStyle/>
          <a:p>
            <a:pPr algn="ctr"/>
            <a:r>
              <a:rPr lang="en-US"/>
              <a:t>How to edit source code at the server?</a:t>
            </a:r>
          </a:p>
        </p:txBody>
      </p:sp>
      <p:sp>
        <p:nvSpPr>
          <p:cNvPr id="21"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DB2188C-3FCE-3300-B320-40E040268BFF}"/>
              </a:ext>
            </a:extLst>
          </p:cNvPr>
          <p:cNvSpPr>
            <a:spLocks noGrp="1"/>
          </p:cNvSpPr>
          <p:nvPr>
            <p:ph idx="1"/>
          </p:nvPr>
        </p:nvSpPr>
        <p:spPr>
          <a:xfrm>
            <a:off x="1959310" y="2918128"/>
            <a:ext cx="8273380" cy="3053301"/>
          </a:xfrm>
        </p:spPr>
        <p:txBody>
          <a:bodyPr anchor="ctr">
            <a:normAutofit/>
          </a:bodyPr>
          <a:lstStyle/>
          <a:p>
            <a:r>
              <a:rPr lang="en-US" sz="2000"/>
              <a:t>Use vim (recommended)</a:t>
            </a:r>
          </a:p>
          <a:p>
            <a:r>
              <a:rPr lang="en-US" sz="2000"/>
              <a:t>Use VS Code with SSH to Develop on a Remote Server</a:t>
            </a:r>
          </a:p>
          <a:p>
            <a:pPr marL="971550" lvl="1" indent="-514350">
              <a:buFont typeface="+mj-lt"/>
              <a:buAutoNum type="arabicPeriod"/>
            </a:pPr>
            <a:r>
              <a:rPr lang="en-US" sz="2000"/>
              <a:t>Install Remote – SSH extension</a:t>
            </a:r>
          </a:p>
          <a:p>
            <a:pPr marL="971550" lvl="1" indent="-514350">
              <a:buFont typeface="+mj-lt"/>
              <a:buAutoNum type="arabicPeriod"/>
            </a:pPr>
            <a:r>
              <a:rPr lang="en-US" sz="2000"/>
              <a:t>Press Ctrl+Shift+P (or Cmd+Shift+P on Mac)</a:t>
            </a:r>
          </a:p>
          <a:p>
            <a:pPr marL="971550" lvl="1" indent="-514350">
              <a:buFont typeface="+mj-lt"/>
              <a:buAutoNum type="arabicPeriod"/>
            </a:pPr>
            <a:r>
              <a:rPr lang="en-US" sz="2000"/>
              <a:t>Type and select: Remote-SSH: Connect to Host...</a:t>
            </a:r>
          </a:p>
          <a:p>
            <a:pPr marL="971550" lvl="1" indent="-514350">
              <a:buFont typeface="+mj-lt"/>
              <a:buAutoNum type="arabicPeriod"/>
            </a:pPr>
            <a:r>
              <a:rPr lang="en-US" sz="2000"/>
              <a:t>username@username.belajarhub.id</a:t>
            </a:r>
          </a:p>
          <a:p>
            <a:pPr marL="971550" lvl="1" indent="-514350">
              <a:buFont typeface="+mj-lt"/>
              <a:buAutoNum type="arabicPeriod"/>
            </a:pPr>
            <a:r>
              <a:rPr lang="en-US" sz="2000"/>
              <a:t>Enter your password.</a:t>
            </a:r>
          </a:p>
        </p:txBody>
      </p:sp>
    </p:spTree>
    <p:extLst>
      <p:ext uri="{BB962C8B-B14F-4D97-AF65-F5344CB8AC3E}">
        <p14:creationId xmlns:p14="http://schemas.microsoft.com/office/powerpoint/2010/main" val="3297100174"/>
      </p:ext>
    </p:extLst>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Freeform: Shape 9"/>
          <p:cNvSpPr>
            <a:spLocks noGrp="1" noRot="1" noChangeAspect="1" noMove="1" noResize="1" noEditPoints="1" noAdjustHandles="1" noChangeArrowheads="1" noChangeShapeType="1" noTextEdit="1"/>
          </p:cNvSpPr>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defRPr/>
            </a:pPr>
            <a:endParaRPr lang="en-US"/>
          </a:p>
        </p:txBody>
      </p:sp>
      <p:sp>
        <p:nvSpPr>
          <p:cNvPr id="2" name="Title 1"/>
          <p:cNvSpPr>
            <a:spLocks noGrp="1"/>
          </p:cNvSpPr>
          <p:nvPr>
            <p:ph type="title" idx="0"/>
          </p:nvPr>
        </p:nvSpPr>
        <p:spPr>
          <a:xfrm>
            <a:off x="1206932" y="1025890"/>
            <a:ext cx="9953645" cy="1126780"/>
          </a:xfrm>
        </p:spPr>
        <p:txBody>
          <a:bodyPr>
            <a:normAutofit/>
          </a:bodyPr>
          <a:lstStyle/>
          <a:p>
            <a:pPr algn="ctr">
              <a:defRPr/>
            </a:pPr>
            <a:r>
              <a:rPr lang="en-US"/>
              <a:t>Development of web application in a Server</a:t>
            </a:r>
            <a:endParaRPr lang="en-US"/>
          </a:p>
        </p:txBody>
      </p:sp>
      <p:sp>
        <p:nvSpPr>
          <p:cNvPr id="12" name="Rectangle 6"/>
          <p:cNvSpPr>
            <a:spLocks noGrp="1" noRot="1" noChangeAspect="1" noMove="1" noResize="1" noEditPoints="1" noAdjustHandles="1" noChangeArrowheads="1" noChangeShapeType="1" noTextEdit="1"/>
          </p:cNvSpPr>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Content Placeholder 2"/>
          <p:cNvSpPr>
            <a:spLocks noGrp="1"/>
          </p:cNvSpPr>
          <p:nvPr>
            <p:ph idx="1"/>
          </p:nvPr>
        </p:nvSpPr>
        <p:spPr>
          <a:xfrm>
            <a:off x="1047515" y="2804153"/>
            <a:ext cx="10349344" cy="1073904"/>
          </a:xfrm>
        </p:spPr>
        <p:txBody>
          <a:bodyPr anchor="ctr">
            <a:normAutofit/>
          </a:bodyPr>
          <a:lstStyle/>
          <a:p>
            <a:pPr lvl="0">
              <a:defRPr/>
            </a:pPr>
            <a:r>
              <a:rPr lang="en-US" sz="2000"/>
              <a:t>Refer https://github.com/jdpark7/unsia-iot/tree/main/week10</a:t>
            </a:r>
            <a:endParaRPr lang="en-US" sz="2000"/>
          </a:p>
          <a:p>
            <a:pPr lvl="0">
              <a:defRPr/>
            </a:pPr>
            <a:r>
              <a:rPr lang="en-US" altLang="ko-KR" sz="2000"/>
              <a:t>cd to your django </a:t>
            </a:r>
            <a:r>
              <a:rPr lang="en-US" sz="2000"/>
              <a:t>folder at /srv/django/username/</a:t>
            </a:r>
            <a:r>
              <a:rPr lang="en-US" altLang="ko-KR" sz="2000"/>
              <a:t> in (username.belajarhub.id)</a:t>
            </a:r>
            <a:endParaRPr lang="en-US" altLang="ko-KR" sz="2000"/>
          </a:p>
        </p:txBody>
      </p:sp>
      <p:sp>
        <p:nvSpPr>
          <p:cNvPr id="14" name=""/>
          <p:cNvSpPr txBox="1"/>
          <p:nvPr/>
        </p:nvSpPr>
        <p:spPr>
          <a:xfrm>
            <a:off x="995647" y="4239032"/>
            <a:ext cx="5438206" cy="1607413"/>
          </a:xfrm>
          <a:prstGeom prst="rect">
            <a:avLst/>
          </a:prstGeom>
        </p:spPr>
        <p:txBody>
          <a:bodyPr wrap="square">
            <a:spAutoFit/>
          </a:bodyPr>
          <a:p>
            <a:pPr marL="514350" indent="-514350">
              <a:buFont typeface="+mj-lt"/>
              <a:buAutoNum type="arabicPeriod"/>
              <a:defRPr/>
            </a:pPr>
            <a:r>
              <a:rPr lang="en-US" sz="2000"/>
              <a:t>django-admin startproject myproject</a:t>
            </a:r>
            <a:r>
              <a:rPr lang="en-US" altLang="ko-KR" sz="2000"/>
              <a:t> .</a:t>
            </a:r>
            <a:endParaRPr lang="en-US" altLang="ko-KR" sz="2000"/>
          </a:p>
          <a:p>
            <a:pPr marL="514350" indent="-514350">
              <a:buFont typeface="+mj-lt"/>
              <a:buAutoNum type="arabicPeriod"/>
              <a:defRPr/>
            </a:pPr>
            <a:r>
              <a:rPr lang="en-US" altLang="ko-KR" sz="2000"/>
              <a:t>cd myproject</a:t>
            </a:r>
            <a:endParaRPr lang="en-US" altLang="ko-KR" sz="2000"/>
          </a:p>
          <a:p>
            <a:pPr marL="514350" indent="-514350">
              <a:buFont typeface="+mj-lt"/>
              <a:buAutoNum type="arabicPeriod"/>
              <a:defRPr/>
            </a:pPr>
            <a:r>
              <a:rPr lang="en-US" altLang="ko-KR" sz="2000"/>
              <a:t>python -m venv venv</a:t>
            </a:r>
            <a:endParaRPr lang="en-US" altLang="ko-KR" sz="2000"/>
          </a:p>
          <a:p>
            <a:pPr marL="514350" indent="-514350">
              <a:buFont typeface="+mj-lt"/>
              <a:buAutoNum type="arabicPeriod"/>
              <a:defRPr/>
            </a:pPr>
            <a:r>
              <a:rPr lang="en-US" sz="2000"/>
              <a:t>source venv/bin/activate</a:t>
            </a:r>
            <a:endParaRPr lang="en-US" sz="2000"/>
          </a:p>
          <a:p>
            <a:pPr marL="514350" indent="-514350">
              <a:buFont typeface="+mj-lt"/>
              <a:buAutoNum type="arabicPeriod"/>
              <a:defRPr/>
            </a:pPr>
            <a:r>
              <a:rPr lang="en-US" sz="2000"/>
              <a:t>python manage.py startapp iot</a:t>
            </a:r>
            <a:endParaRPr lang="en-US" sz="2000"/>
          </a:p>
        </p:txBody>
      </p:sp>
      <p:sp>
        <p:nvSpPr>
          <p:cNvPr id="15" name=""/>
          <p:cNvSpPr txBox="1"/>
          <p:nvPr/>
        </p:nvSpPr>
        <p:spPr>
          <a:xfrm>
            <a:off x="6303597" y="4222750"/>
            <a:ext cx="5356797" cy="1614170"/>
          </a:xfrm>
          <a:prstGeom prst="rect">
            <a:avLst/>
          </a:prstGeom>
        </p:spPr>
        <p:txBody>
          <a:bodyPr wrap="square">
            <a:spAutoFit/>
          </a:bodyPr>
          <a:p>
            <a:pPr marL="514350" indent="-514350">
              <a:buClr>
                <a:srgbClr val="000000"/>
              </a:buClr>
              <a:buFont typeface="+mj-lt"/>
              <a:buAutoNum type="arabicPeriod" startAt="6"/>
              <a:defRPr/>
            </a:pPr>
            <a:r>
              <a:rPr lang="en-US" sz="2000"/>
              <a:t>Edit settings.py in myproject folder</a:t>
            </a:r>
            <a:endParaRPr lang="en-US" sz="2000"/>
          </a:p>
          <a:p>
            <a:pPr marL="514350" indent="-514350">
              <a:buFont typeface="+mj-lt"/>
              <a:buAutoNum type="arabicPeriod"/>
              <a:defRPr/>
            </a:pPr>
            <a:r>
              <a:rPr lang="en-US" sz="2000"/>
              <a:t>Edit files in iot folder</a:t>
            </a:r>
            <a:endParaRPr lang="en-US" sz="2000"/>
          </a:p>
          <a:p>
            <a:pPr marL="514350" indent="-514350">
              <a:buFont typeface="+mj-lt"/>
              <a:buAutoNum type="arabicPeriod"/>
              <a:defRPr/>
            </a:pPr>
            <a:r>
              <a:rPr lang="en-US" sz="2000"/>
              <a:t>python manage.py makemigrations iot</a:t>
            </a:r>
            <a:endParaRPr lang="en-US" sz="2000"/>
          </a:p>
          <a:p>
            <a:pPr marL="514350" indent="-514350">
              <a:buFont typeface="+mj-lt"/>
              <a:buAutoNum type="arabicPeriod"/>
              <a:defRPr/>
            </a:pPr>
            <a:r>
              <a:rPr lang="en-US" sz="2000"/>
              <a:t>python manage.py migrate</a:t>
            </a:r>
            <a:endParaRPr lang="en-US" sz="2000"/>
          </a:p>
          <a:p>
            <a:pPr marL="514350" indent="-514350">
              <a:buFont typeface="+mj-lt"/>
              <a:buAutoNum type="arabicPeriod"/>
              <a:defRPr/>
            </a:pPr>
            <a:r>
              <a:rPr lang="en-US" sz="2000"/>
              <a:t>python manage.py collectstatic</a:t>
            </a:r>
            <a:endParaRPr lang="en-US" sz="20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B16061-51C3-2B62-386C-ECD516FC4975}"/>
              </a:ext>
            </a:extLst>
          </p:cNvPr>
          <p:cNvSpPr>
            <a:spLocks noGrp="1"/>
          </p:cNvSpPr>
          <p:nvPr>
            <p:ph type="title"/>
          </p:nvPr>
        </p:nvSpPr>
        <p:spPr>
          <a:xfrm>
            <a:off x="1288576" y="975815"/>
            <a:ext cx="9614848" cy="1126780"/>
          </a:xfrm>
        </p:spPr>
        <p:txBody>
          <a:bodyPr>
            <a:normAutofit/>
          </a:bodyPr>
          <a:lstStyle/>
          <a:p>
            <a:pPr algn="ctr"/>
            <a:r>
              <a:rPr lang="en-US"/>
              <a:t>Edit settings.py – add corsheaders</a:t>
            </a:r>
          </a:p>
        </p:txBody>
      </p:sp>
      <p:sp>
        <p:nvSpPr>
          <p:cNvPr id="12"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CB22642-CA75-9AE5-7018-1289ADF704B5}"/>
              </a:ext>
            </a:extLst>
          </p:cNvPr>
          <p:cNvSpPr>
            <a:spLocks noGrp="1"/>
          </p:cNvSpPr>
          <p:nvPr>
            <p:ph idx="1"/>
          </p:nvPr>
        </p:nvSpPr>
        <p:spPr>
          <a:xfrm>
            <a:off x="1959310" y="1918607"/>
            <a:ext cx="8273380" cy="4295925"/>
          </a:xfrm>
          <a:ln>
            <a:solidFill>
              <a:schemeClr val="accent1"/>
            </a:solidFill>
          </a:ln>
        </p:spPr>
        <p:txBody>
          <a:bodyPr anchor="ctr">
            <a:noAutofit/>
          </a:bodyPr>
          <a:lstStyle/>
          <a:p>
            <a:pPr marL="0" indent="0">
              <a:lnSpc>
                <a:spcPct val="100000"/>
              </a:lnSpc>
              <a:spcBef>
                <a:spcPts val="0"/>
              </a:spcBef>
              <a:buNone/>
            </a:pPr>
            <a:endParaRPr lang="en-US" sz="2000"/>
          </a:p>
          <a:p>
            <a:pPr marL="0" indent="0">
              <a:lnSpc>
                <a:spcPct val="100000"/>
              </a:lnSpc>
              <a:spcBef>
                <a:spcPts val="0"/>
              </a:spcBef>
              <a:buNone/>
            </a:pPr>
            <a:r>
              <a:rPr lang="en-US" sz="2000"/>
              <a:t>INSTALLED_APPS = [</a:t>
            </a:r>
          </a:p>
          <a:p>
            <a:pPr marL="0" indent="0">
              <a:lnSpc>
                <a:spcPct val="100000"/>
              </a:lnSpc>
              <a:spcBef>
                <a:spcPts val="0"/>
              </a:spcBef>
              <a:buNone/>
            </a:pPr>
            <a:r>
              <a:rPr lang="en-US" sz="2000"/>
              <a:t>       .</a:t>
            </a:r>
          </a:p>
          <a:p>
            <a:pPr marL="0" indent="0">
              <a:lnSpc>
                <a:spcPct val="100000"/>
              </a:lnSpc>
              <a:spcBef>
                <a:spcPts val="0"/>
              </a:spcBef>
              <a:buNone/>
            </a:pPr>
            <a:r>
              <a:rPr lang="en-US" sz="2000"/>
              <a:t>       .</a:t>
            </a:r>
          </a:p>
          <a:p>
            <a:pPr marL="0" indent="0">
              <a:lnSpc>
                <a:spcPct val="100000"/>
              </a:lnSpc>
              <a:spcBef>
                <a:spcPts val="0"/>
              </a:spcBef>
              <a:buNone/>
            </a:pPr>
            <a:r>
              <a:rPr lang="en-US" sz="2000"/>
              <a:t>      'rest_framework’,</a:t>
            </a:r>
          </a:p>
          <a:p>
            <a:pPr marL="0" indent="0">
              <a:lnSpc>
                <a:spcPct val="100000"/>
              </a:lnSpc>
              <a:spcBef>
                <a:spcPts val="0"/>
              </a:spcBef>
              <a:buNone/>
            </a:pPr>
            <a:r>
              <a:rPr lang="en-US" sz="2000">
                <a:solidFill>
                  <a:srgbClr val="FF0000"/>
                </a:solidFill>
              </a:rPr>
              <a:t>       'corsheaders',</a:t>
            </a:r>
          </a:p>
          <a:p>
            <a:pPr marL="0" indent="0">
              <a:lnSpc>
                <a:spcPct val="100000"/>
              </a:lnSpc>
              <a:spcBef>
                <a:spcPts val="0"/>
              </a:spcBef>
              <a:buNone/>
            </a:pPr>
            <a:r>
              <a:rPr lang="en-US" sz="2000"/>
              <a:t> ]</a:t>
            </a:r>
          </a:p>
          <a:p>
            <a:pPr marL="0" indent="0">
              <a:lnSpc>
                <a:spcPct val="100000"/>
              </a:lnSpc>
              <a:spcBef>
                <a:spcPts val="0"/>
              </a:spcBef>
              <a:buNone/>
            </a:pPr>
            <a:r>
              <a:rPr lang="en-US" sz="2000"/>
              <a:t>MIDDLEWARE = [</a:t>
            </a:r>
          </a:p>
          <a:p>
            <a:pPr marL="0" indent="0">
              <a:lnSpc>
                <a:spcPct val="100000"/>
              </a:lnSpc>
              <a:spcBef>
                <a:spcPts val="0"/>
              </a:spcBef>
              <a:buNone/>
            </a:pPr>
            <a:r>
              <a:rPr lang="en-US" sz="2000"/>
              <a:t>       </a:t>
            </a:r>
            <a:r>
              <a:rPr lang="en-US" sz="2000">
                <a:solidFill>
                  <a:srgbClr val="FF0000"/>
                </a:solidFill>
              </a:rPr>
              <a:t>'corsheaders.middleware.CorsMiddleware’,</a:t>
            </a:r>
          </a:p>
          <a:p>
            <a:pPr marL="0" indent="0">
              <a:lnSpc>
                <a:spcPct val="100000"/>
              </a:lnSpc>
              <a:spcBef>
                <a:spcPts val="0"/>
              </a:spcBef>
              <a:buNone/>
            </a:pPr>
            <a:r>
              <a:rPr lang="en-US" sz="2000"/>
              <a:t>       .</a:t>
            </a:r>
          </a:p>
          <a:p>
            <a:pPr marL="0" indent="0">
              <a:lnSpc>
                <a:spcPct val="100000"/>
              </a:lnSpc>
              <a:spcBef>
                <a:spcPts val="0"/>
              </a:spcBef>
              <a:buNone/>
            </a:pPr>
            <a:r>
              <a:rPr lang="en-US" sz="2000"/>
              <a:t>       .</a:t>
            </a:r>
          </a:p>
          <a:p>
            <a:pPr marL="0" indent="0">
              <a:lnSpc>
                <a:spcPct val="100000"/>
              </a:lnSpc>
              <a:spcBef>
                <a:spcPts val="0"/>
              </a:spcBef>
              <a:buNone/>
            </a:pPr>
            <a:r>
              <a:rPr lang="en-US" sz="2000"/>
              <a:t>]</a:t>
            </a:r>
          </a:p>
          <a:p>
            <a:pPr marL="0" indent="0">
              <a:lnSpc>
                <a:spcPct val="100000"/>
              </a:lnSpc>
              <a:spcBef>
                <a:spcPts val="0"/>
              </a:spcBef>
              <a:buNone/>
            </a:pPr>
            <a:endParaRPr lang="en-US" sz="2000"/>
          </a:p>
        </p:txBody>
      </p:sp>
    </p:spTree>
    <p:extLst>
      <p:ext uri="{BB962C8B-B14F-4D97-AF65-F5344CB8AC3E}">
        <p14:creationId xmlns:p14="http://schemas.microsoft.com/office/powerpoint/2010/main" val="968725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BC7B0-4C44-9250-63F8-2AB07BB8D361}"/>
              </a:ext>
            </a:extLst>
          </p:cNvPr>
          <p:cNvSpPr>
            <a:spLocks noGrp="1"/>
          </p:cNvSpPr>
          <p:nvPr>
            <p:ph type="title"/>
          </p:nvPr>
        </p:nvSpPr>
        <p:spPr/>
        <p:txBody>
          <a:bodyPr/>
          <a:lstStyle/>
          <a:p>
            <a:r>
              <a:rPr lang="en-US"/>
              <a:t>Create iot app</a:t>
            </a:r>
          </a:p>
        </p:txBody>
      </p:sp>
      <p:sp>
        <p:nvSpPr>
          <p:cNvPr id="3" name="Content Placeholder 2">
            <a:extLst>
              <a:ext uri="{FF2B5EF4-FFF2-40B4-BE49-F238E27FC236}">
                <a16:creationId xmlns:a16="http://schemas.microsoft.com/office/drawing/2014/main" id="{C3925488-864C-B32B-5E3D-9A0403DE159E}"/>
              </a:ext>
            </a:extLst>
          </p:cNvPr>
          <p:cNvSpPr>
            <a:spLocks noGrp="1"/>
          </p:cNvSpPr>
          <p:nvPr>
            <p:ph idx="1"/>
          </p:nvPr>
        </p:nvSpPr>
        <p:spPr/>
        <p:txBody>
          <a:bodyPr/>
          <a:lstStyle/>
          <a:p>
            <a:r>
              <a:rPr lang="en-US"/>
              <a:t>python manage.py startapp iot </a:t>
            </a:r>
          </a:p>
          <a:p>
            <a:r>
              <a:rPr lang="en-US"/>
              <a:t>Then</a:t>
            </a:r>
          </a:p>
          <a:p>
            <a:pPr marL="514350" indent="-514350">
              <a:buFont typeface="+mj-lt"/>
              <a:buAutoNum type="arabicPeriod"/>
            </a:pPr>
            <a:r>
              <a:rPr lang="en-US" sz="2800"/>
              <a:t>Edit files in iot folder </a:t>
            </a:r>
            <a:br>
              <a:rPr lang="en-US" sz="2800"/>
            </a:br>
            <a:r>
              <a:rPr lang="en-US" sz="2800">
                <a:solidFill>
                  <a:srgbClr val="FF0000"/>
                </a:solidFill>
              </a:rPr>
              <a:t>refer https://github.com/jdpark7/unsia-iot/tree/main/week10</a:t>
            </a:r>
          </a:p>
          <a:p>
            <a:pPr marL="514350" indent="-514350">
              <a:buFont typeface="+mj-lt"/>
              <a:buAutoNum type="arabicPeriod"/>
            </a:pPr>
            <a:r>
              <a:rPr lang="en-US">
                <a:solidFill>
                  <a:srgbClr val="FF0000"/>
                </a:solidFill>
              </a:rPr>
              <a:t>Add templates folder and template files</a:t>
            </a:r>
            <a:endParaRPr lang="en-US" sz="2800">
              <a:solidFill>
                <a:srgbClr val="FF0000"/>
              </a:solidFill>
            </a:endParaRPr>
          </a:p>
          <a:p>
            <a:pPr marL="0" indent="0">
              <a:buNone/>
            </a:pPr>
            <a:endParaRPr lang="en-US"/>
          </a:p>
        </p:txBody>
      </p:sp>
    </p:spTree>
    <p:extLst>
      <p:ext uri="{BB962C8B-B14F-4D97-AF65-F5344CB8AC3E}">
        <p14:creationId xmlns:p14="http://schemas.microsoft.com/office/powerpoint/2010/main" val="112929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2593-C499-CCD2-BF3D-CE2C6680836A}"/>
              </a:ext>
            </a:extLst>
          </p:cNvPr>
          <p:cNvSpPr>
            <a:spLocks noGrp="1"/>
          </p:cNvSpPr>
          <p:nvPr>
            <p:ph type="title"/>
          </p:nvPr>
        </p:nvSpPr>
        <p:spPr>
          <a:xfrm>
            <a:off x="367554" y="882836"/>
            <a:ext cx="5127812" cy="1325563"/>
          </a:xfrm>
        </p:spPr>
        <p:txBody>
          <a:bodyPr/>
          <a:lstStyle/>
          <a:p>
            <a:r>
              <a:rPr lang="en-US"/>
              <a:t>myproject urls.py</a:t>
            </a:r>
          </a:p>
        </p:txBody>
      </p:sp>
      <p:sp>
        <p:nvSpPr>
          <p:cNvPr id="5" name="Content Placeholder 4">
            <a:extLst>
              <a:ext uri="{FF2B5EF4-FFF2-40B4-BE49-F238E27FC236}">
                <a16:creationId xmlns:a16="http://schemas.microsoft.com/office/drawing/2014/main" id="{29AB6289-7547-F1E0-F524-A5259864FE65}"/>
              </a:ext>
            </a:extLst>
          </p:cNvPr>
          <p:cNvSpPr>
            <a:spLocks noGrp="1"/>
          </p:cNvSpPr>
          <p:nvPr>
            <p:ph sz="half" idx="1"/>
          </p:nvPr>
        </p:nvSpPr>
        <p:spPr>
          <a:xfrm>
            <a:off x="5495366" y="1248708"/>
            <a:ext cx="5398994" cy="1919381"/>
          </a:xfrm>
          <a:ln>
            <a:solidFill>
              <a:schemeClr val="accent1"/>
            </a:solidFill>
          </a:ln>
        </p:spPr>
        <p:txBody>
          <a:bodyPr>
            <a:normAutofit/>
          </a:bodyPr>
          <a:lstStyle/>
          <a:p>
            <a:pPr marL="0" indent="0">
              <a:buNone/>
            </a:pPr>
            <a:r>
              <a:rPr lang="en-US" sz="2400"/>
              <a:t>urlpatterns = [</a:t>
            </a:r>
          </a:p>
          <a:p>
            <a:pPr marL="0" indent="0">
              <a:buNone/>
            </a:pPr>
            <a:r>
              <a:rPr lang="en-US" sz="2400"/>
              <a:t>    path('admin/', admin.site.urls),</a:t>
            </a:r>
          </a:p>
          <a:p>
            <a:pPr marL="0" indent="0">
              <a:buNone/>
            </a:pPr>
            <a:r>
              <a:rPr lang="en-US" sz="2400"/>
              <a:t>    path('', include('iot.urls')),</a:t>
            </a:r>
          </a:p>
          <a:p>
            <a:pPr marL="0" indent="0">
              <a:buNone/>
            </a:pPr>
            <a:r>
              <a:rPr lang="en-US" sz="2400"/>
              <a:t>]</a:t>
            </a:r>
          </a:p>
        </p:txBody>
      </p:sp>
      <p:sp>
        <p:nvSpPr>
          <p:cNvPr id="6" name="Content Placeholder 5">
            <a:extLst>
              <a:ext uri="{FF2B5EF4-FFF2-40B4-BE49-F238E27FC236}">
                <a16:creationId xmlns:a16="http://schemas.microsoft.com/office/drawing/2014/main" id="{15FC2F4D-1353-C589-A24F-A68391F113E3}"/>
              </a:ext>
            </a:extLst>
          </p:cNvPr>
          <p:cNvSpPr>
            <a:spLocks noGrp="1"/>
          </p:cNvSpPr>
          <p:nvPr>
            <p:ph sz="half" idx="2"/>
          </p:nvPr>
        </p:nvSpPr>
        <p:spPr>
          <a:xfrm>
            <a:off x="286870" y="3677770"/>
            <a:ext cx="11618259" cy="2546491"/>
          </a:xfrm>
          <a:ln>
            <a:solidFill>
              <a:schemeClr val="accent1"/>
            </a:solidFill>
          </a:ln>
        </p:spPr>
        <p:txBody>
          <a:bodyPr>
            <a:noAutofit/>
          </a:bodyPr>
          <a:lstStyle/>
          <a:p>
            <a:pPr marL="0" indent="0">
              <a:buNone/>
            </a:pPr>
            <a:r>
              <a:rPr lang="en-US" sz="2200"/>
              <a:t>urlpatterns = [</a:t>
            </a:r>
          </a:p>
          <a:p>
            <a:pPr marL="0" indent="0">
              <a:buNone/>
            </a:pPr>
            <a:r>
              <a:rPr lang="en-US" sz="2200"/>
              <a:t>    path('api/sensor/', </a:t>
            </a:r>
            <a:r>
              <a:rPr lang="en-US" sz="2200">
                <a:solidFill>
                  <a:srgbClr val="0070C0"/>
                </a:solidFill>
              </a:rPr>
              <a:t>views.</a:t>
            </a:r>
            <a:r>
              <a:rPr lang="en-US" sz="2200">
                <a:solidFill>
                  <a:schemeClr val="accent6">
                    <a:lumMod val="75000"/>
                  </a:schemeClr>
                </a:solidFill>
              </a:rPr>
              <a:t>receive_sensor_data</a:t>
            </a:r>
            <a:r>
              <a:rPr lang="en-US" sz="2200"/>
              <a:t>, name='receive_sensor_data'),</a:t>
            </a:r>
          </a:p>
          <a:p>
            <a:pPr marL="0" indent="0">
              <a:buNone/>
            </a:pPr>
            <a:r>
              <a:rPr lang="en-US" sz="2200"/>
              <a:t>    path('api/sensor /</a:t>
            </a:r>
            <a:r>
              <a:rPr lang="en-US" sz="2200">
                <a:solidFill>
                  <a:srgbClr val="C00000"/>
                </a:solidFill>
              </a:rPr>
              <a:t>&lt;str:device_id&gt;</a:t>
            </a:r>
            <a:r>
              <a:rPr lang="en-US" sz="2200"/>
              <a:t>/', </a:t>
            </a:r>
            <a:r>
              <a:rPr lang="en-US" sz="2200">
                <a:solidFill>
                  <a:srgbClr val="0070C0"/>
                </a:solidFill>
              </a:rPr>
              <a:t>views.</a:t>
            </a:r>
            <a:r>
              <a:rPr lang="en-US" sz="2200">
                <a:solidFill>
                  <a:schemeClr val="accent6">
                    <a:lumMod val="75000"/>
                  </a:schemeClr>
                </a:solidFill>
              </a:rPr>
              <a:t>get_device_data_api</a:t>
            </a:r>
            <a:r>
              <a:rPr lang="en-US" sz="2200"/>
              <a:t>, name='get_device_data_api'),</a:t>
            </a:r>
          </a:p>
          <a:p>
            <a:pPr marL="0" indent="0">
              <a:buNone/>
            </a:pPr>
            <a:r>
              <a:rPr lang="en-US" sz="2200"/>
              <a:t>    path('device/</a:t>
            </a:r>
            <a:r>
              <a:rPr lang="en-US" sz="2200">
                <a:solidFill>
                  <a:srgbClr val="C00000"/>
                </a:solidFill>
              </a:rPr>
              <a:t>&lt;str:device_id&gt;</a:t>
            </a:r>
            <a:r>
              <a:rPr lang="en-US" sz="2200"/>
              <a:t>/', </a:t>
            </a:r>
            <a:r>
              <a:rPr lang="en-US" sz="2200">
                <a:solidFill>
                  <a:srgbClr val="0070C0"/>
                </a:solidFill>
              </a:rPr>
              <a:t>views.</a:t>
            </a:r>
            <a:r>
              <a:rPr lang="en-US" sz="2200">
                <a:solidFill>
                  <a:schemeClr val="accent6">
                    <a:lumMod val="75000"/>
                  </a:schemeClr>
                </a:solidFill>
              </a:rPr>
              <a:t>device_data_view</a:t>
            </a:r>
            <a:r>
              <a:rPr lang="en-US" sz="2200"/>
              <a:t>, name='device_data_view'),</a:t>
            </a:r>
          </a:p>
          <a:p>
            <a:pPr marL="0" indent="0">
              <a:buNone/>
            </a:pPr>
            <a:r>
              <a:rPr lang="en-US" sz="2200"/>
              <a:t>    path('device /</a:t>
            </a:r>
            <a:r>
              <a:rPr lang="en-US" sz="2200">
                <a:solidFill>
                  <a:srgbClr val="C00000"/>
                </a:solidFill>
              </a:rPr>
              <a:t>&lt;str:device_id&gt;</a:t>
            </a:r>
            <a:r>
              <a:rPr lang="en-US" sz="2200"/>
              <a:t>/gauge</a:t>
            </a:r>
            <a:r>
              <a:rPr lang="en-US" sz="2200">
                <a:solidFill>
                  <a:srgbClr val="0070C0"/>
                </a:solidFill>
              </a:rPr>
              <a:t>/', views.</a:t>
            </a:r>
            <a:r>
              <a:rPr lang="en-US" sz="2200">
                <a:solidFill>
                  <a:schemeClr val="accent6">
                    <a:lumMod val="75000"/>
                  </a:schemeClr>
                </a:solidFill>
              </a:rPr>
              <a:t>sensor_gauge_view</a:t>
            </a:r>
            <a:r>
              <a:rPr lang="en-US" sz="2200"/>
              <a:t>, name='sensor_gauge_view'),</a:t>
            </a:r>
          </a:p>
          <a:p>
            <a:pPr marL="0" indent="0">
              <a:buNone/>
            </a:pPr>
            <a:r>
              <a:rPr lang="en-US" sz="2200"/>
              <a:t>]</a:t>
            </a:r>
          </a:p>
        </p:txBody>
      </p:sp>
      <p:sp>
        <p:nvSpPr>
          <p:cNvPr id="8" name="TextBox 7">
            <a:extLst>
              <a:ext uri="{FF2B5EF4-FFF2-40B4-BE49-F238E27FC236}">
                <a16:creationId xmlns:a16="http://schemas.microsoft.com/office/drawing/2014/main" id="{F71D626C-4B8F-E104-1E01-7E55E803455C}"/>
              </a:ext>
            </a:extLst>
          </p:cNvPr>
          <p:cNvSpPr txBox="1"/>
          <p:nvPr/>
        </p:nvSpPr>
        <p:spPr>
          <a:xfrm>
            <a:off x="286870" y="2918620"/>
            <a:ext cx="2301689" cy="523220"/>
          </a:xfrm>
          <a:prstGeom prst="rect">
            <a:avLst/>
          </a:prstGeom>
          <a:noFill/>
        </p:spPr>
        <p:txBody>
          <a:bodyPr wrap="square">
            <a:spAutoFit/>
          </a:bodyPr>
          <a:lstStyle/>
          <a:p>
            <a:r>
              <a:rPr lang="en-US" sz="2800"/>
              <a:t>iot.urls.py</a:t>
            </a:r>
          </a:p>
        </p:txBody>
      </p:sp>
    </p:spTree>
    <p:extLst>
      <p:ext uri="{BB962C8B-B14F-4D97-AF65-F5344CB8AC3E}">
        <p14:creationId xmlns:p14="http://schemas.microsoft.com/office/powerpoint/2010/main" val="3363110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47D4AD-0F84-F8F6-A723-E38470F61B36}"/>
              </a:ext>
            </a:extLst>
          </p:cNvPr>
          <p:cNvSpPr>
            <a:spLocks noGrp="1"/>
          </p:cNvSpPr>
          <p:nvPr>
            <p:ph type="title"/>
          </p:nvPr>
        </p:nvSpPr>
        <p:spPr/>
        <p:txBody>
          <a:bodyPr/>
          <a:lstStyle/>
          <a:p>
            <a:r>
              <a:rPr lang="it-IT"/>
              <a:t>'&lt;</a:t>
            </a:r>
            <a:r>
              <a:rPr lang="it-IT">
                <a:solidFill>
                  <a:srgbClr val="C00000"/>
                </a:solidFill>
              </a:rPr>
              <a:t>str:device_id</a:t>
            </a:r>
            <a:r>
              <a:rPr lang="it-IT"/>
              <a:t>&gt;' in Django URL patterns </a:t>
            </a:r>
            <a:endParaRPr lang="en-US"/>
          </a:p>
        </p:txBody>
      </p:sp>
      <p:sp>
        <p:nvSpPr>
          <p:cNvPr id="6" name="Content Placeholder 5">
            <a:extLst>
              <a:ext uri="{FF2B5EF4-FFF2-40B4-BE49-F238E27FC236}">
                <a16:creationId xmlns:a16="http://schemas.microsoft.com/office/drawing/2014/main" id="{58F27137-A672-91C8-BF4E-37E5A518A7C8}"/>
              </a:ext>
            </a:extLst>
          </p:cNvPr>
          <p:cNvSpPr>
            <a:spLocks noGrp="1"/>
          </p:cNvSpPr>
          <p:nvPr>
            <p:ph idx="1"/>
          </p:nvPr>
        </p:nvSpPr>
        <p:spPr>
          <a:xfrm>
            <a:off x="838200" y="1825625"/>
            <a:ext cx="10515600" cy="2040404"/>
          </a:xfrm>
        </p:spPr>
        <p:txBody>
          <a:bodyPr/>
          <a:lstStyle/>
          <a:p>
            <a:r>
              <a:rPr lang="en-US"/>
              <a:t>It’s a feature used in Django’s URL dispatcher to extract variables from the URL and pass them into view functions.</a:t>
            </a:r>
          </a:p>
          <a:p>
            <a:r>
              <a:rPr lang="en-US"/>
              <a:t>If the user accesses /device/abc123/,</a:t>
            </a:r>
          </a:p>
          <a:p>
            <a:r>
              <a:rPr lang="en-US"/>
              <a:t>Django will call:</a:t>
            </a:r>
          </a:p>
          <a:p>
            <a:pPr marL="0" indent="0">
              <a:buNone/>
            </a:pPr>
            <a:endParaRPr lang="en-US"/>
          </a:p>
        </p:txBody>
      </p:sp>
      <p:sp>
        <p:nvSpPr>
          <p:cNvPr id="10" name="TextBox 9">
            <a:extLst>
              <a:ext uri="{FF2B5EF4-FFF2-40B4-BE49-F238E27FC236}">
                <a16:creationId xmlns:a16="http://schemas.microsoft.com/office/drawing/2014/main" id="{D3B2C738-A5B1-D7F2-1862-C3CB86072E2E}"/>
              </a:ext>
            </a:extLst>
          </p:cNvPr>
          <p:cNvSpPr txBox="1"/>
          <p:nvPr/>
        </p:nvSpPr>
        <p:spPr>
          <a:xfrm>
            <a:off x="1828800" y="4246140"/>
            <a:ext cx="7604312" cy="523220"/>
          </a:xfrm>
          <a:prstGeom prst="rect">
            <a:avLst/>
          </a:prstGeom>
          <a:noFill/>
          <a:ln>
            <a:solidFill>
              <a:schemeClr val="accent1"/>
            </a:solidFill>
          </a:ln>
        </p:spPr>
        <p:txBody>
          <a:bodyPr wrap="square">
            <a:spAutoFit/>
          </a:bodyPr>
          <a:lstStyle/>
          <a:p>
            <a:pPr marL="0" indent="0">
              <a:buNone/>
            </a:pPr>
            <a:r>
              <a:rPr lang="en-US" sz="2800"/>
              <a:t>device_data_view(request, </a:t>
            </a:r>
            <a:r>
              <a:rPr lang="en-US" sz="2800">
                <a:solidFill>
                  <a:srgbClr val="C00000"/>
                </a:solidFill>
              </a:rPr>
              <a:t>device_id='abc123’</a:t>
            </a:r>
            <a:r>
              <a:rPr lang="en-US" sz="2800"/>
              <a:t>)</a:t>
            </a:r>
          </a:p>
        </p:txBody>
      </p:sp>
    </p:spTree>
    <p:extLst>
      <p:ext uri="{BB962C8B-B14F-4D97-AF65-F5344CB8AC3E}">
        <p14:creationId xmlns:p14="http://schemas.microsoft.com/office/powerpoint/2010/main" val="996883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D6168EA-2345-4150-C816-360C6F0B0958}"/>
              </a:ext>
            </a:extLst>
          </p:cNvPr>
          <p:cNvSpPr>
            <a:spLocks noGrp="1"/>
          </p:cNvSpPr>
          <p:nvPr>
            <p:ph type="title"/>
          </p:nvPr>
        </p:nvSpPr>
        <p:spPr>
          <a:xfrm>
            <a:off x="1028700" y="1967266"/>
            <a:ext cx="2628900" cy="2547257"/>
          </a:xfrm>
          <a:noFill/>
        </p:spPr>
        <p:txBody>
          <a:bodyPr anchor="ctr">
            <a:normAutofit/>
          </a:bodyPr>
          <a:lstStyle/>
          <a:p>
            <a:pPr algn="ctr"/>
            <a:r>
              <a:rPr lang="en-US" sz="3600">
                <a:solidFill>
                  <a:srgbClr val="FFFFFF"/>
                </a:solidFill>
              </a:rPr>
              <a:t>Edit views.py</a:t>
            </a:r>
          </a:p>
        </p:txBody>
      </p:sp>
      <p:pic>
        <p:nvPicPr>
          <p:cNvPr id="6" name="Picture 5">
            <a:extLst>
              <a:ext uri="{FF2B5EF4-FFF2-40B4-BE49-F238E27FC236}">
                <a16:creationId xmlns:a16="http://schemas.microsoft.com/office/drawing/2014/main" id="{B6ABA18F-7AFD-36E4-FF53-A2C4A5405AC3}"/>
              </a:ext>
            </a:extLst>
          </p:cNvPr>
          <p:cNvPicPr>
            <a:picLocks noChangeAspect="1"/>
          </p:cNvPicPr>
          <p:nvPr/>
        </p:nvPicPr>
        <p:blipFill>
          <a:blip r:embed="rId3"/>
          <a:stretch>
            <a:fillRect/>
          </a:stretch>
        </p:blipFill>
        <p:spPr>
          <a:xfrm>
            <a:off x="4833092" y="643466"/>
            <a:ext cx="6669148" cy="5568739"/>
          </a:xfrm>
          <a:prstGeom prst="rect">
            <a:avLst/>
          </a:prstGeom>
        </p:spPr>
      </p:pic>
    </p:spTree>
    <p:extLst>
      <p:ext uri="{BB962C8B-B14F-4D97-AF65-F5344CB8AC3E}">
        <p14:creationId xmlns:p14="http://schemas.microsoft.com/office/powerpoint/2010/main" val="1607765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FE89E-DF97-A0C7-8986-F24B6F22589A}"/>
              </a:ext>
            </a:extLst>
          </p:cNvPr>
          <p:cNvSpPr>
            <a:spLocks noGrp="1"/>
          </p:cNvSpPr>
          <p:nvPr>
            <p:ph type="title"/>
          </p:nvPr>
        </p:nvSpPr>
        <p:spPr/>
        <p:txBody>
          <a:bodyPr/>
          <a:lstStyle/>
          <a:p>
            <a:r>
              <a:rPr lang="en-US"/>
              <a:t>Add additional files to iot folder</a:t>
            </a:r>
          </a:p>
        </p:txBody>
      </p:sp>
      <p:graphicFrame>
        <p:nvGraphicFramePr>
          <p:cNvPr id="6" name="Content Placeholder 3">
            <a:extLst>
              <a:ext uri="{FF2B5EF4-FFF2-40B4-BE49-F238E27FC236}">
                <a16:creationId xmlns:a16="http://schemas.microsoft.com/office/drawing/2014/main" id="{190D5969-7207-AFAA-0113-E401A7BFFAA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32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E0DD6-075E-63E2-1936-7814C80AEE97}"/>
              </a:ext>
            </a:extLst>
          </p:cNvPr>
          <p:cNvSpPr>
            <a:spLocks noGrp="1"/>
          </p:cNvSpPr>
          <p:nvPr>
            <p:ph type="title"/>
          </p:nvPr>
        </p:nvSpPr>
        <p:spPr/>
        <p:txBody>
          <a:bodyPr/>
          <a:lstStyle/>
          <a:p>
            <a:pPr algn="ctr"/>
            <a:r>
              <a:rPr lang="en-US"/>
              <a:t>Add iot in the Installed app in settings.py</a:t>
            </a:r>
          </a:p>
        </p:txBody>
      </p:sp>
      <p:pic>
        <p:nvPicPr>
          <p:cNvPr id="7" name="Picture 6">
            <a:extLst>
              <a:ext uri="{FF2B5EF4-FFF2-40B4-BE49-F238E27FC236}">
                <a16:creationId xmlns:a16="http://schemas.microsoft.com/office/drawing/2014/main" id="{50E9984C-75C1-ACDA-C327-1232EA57835A}"/>
              </a:ext>
            </a:extLst>
          </p:cNvPr>
          <p:cNvPicPr>
            <a:picLocks noChangeAspect="1"/>
          </p:cNvPicPr>
          <p:nvPr/>
        </p:nvPicPr>
        <p:blipFill>
          <a:blip r:embed="rId3"/>
          <a:stretch>
            <a:fillRect/>
          </a:stretch>
        </p:blipFill>
        <p:spPr>
          <a:xfrm>
            <a:off x="3119290" y="1857136"/>
            <a:ext cx="5953420" cy="4067413"/>
          </a:xfrm>
          <a:prstGeom prst="rect">
            <a:avLst/>
          </a:prstGeom>
        </p:spPr>
      </p:pic>
    </p:spTree>
    <p:extLst>
      <p:ext uri="{BB962C8B-B14F-4D97-AF65-F5344CB8AC3E}">
        <p14:creationId xmlns:p14="http://schemas.microsoft.com/office/powerpoint/2010/main" val="720334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6C00-2E20-9000-7CCD-6CE1D8738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0965E-B669-8E25-3FB3-6A1850B8F04D}"/>
              </a:ext>
            </a:extLst>
          </p:cNvPr>
          <p:cNvSpPr>
            <a:spLocks noGrp="1"/>
          </p:cNvSpPr>
          <p:nvPr>
            <p:ph type="title"/>
          </p:nvPr>
        </p:nvSpPr>
        <p:spPr/>
        <p:txBody>
          <a:bodyPr/>
          <a:lstStyle/>
          <a:p>
            <a:r>
              <a:rPr lang="en-US"/>
              <a:t>Create a database and edit admin.py</a:t>
            </a:r>
          </a:p>
        </p:txBody>
      </p:sp>
      <p:sp>
        <p:nvSpPr>
          <p:cNvPr id="3" name="Content Placeholder 2">
            <a:extLst>
              <a:ext uri="{FF2B5EF4-FFF2-40B4-BE49-F238E27FC236}">
                <a16:creationId xmlns:a16="http://schemas.microsoft.com/office/drawing/2014/main" id="{84F78FCC-EE40-9F32-37D3-139A9619D1D5}"/>
              </a:ext>
            </a:extLst>
          </p:cNvPr>
          <p:cNvSpPr>
            <a:spLocks noGrp="1"/>
          </p:cNvSpPr>
          <p:nvPr>
            <p:ph idx="1"/>
          </p:nvPr>
        </p:nvSpPr>
        <p:spPr/>
        <p:txBody>
          <a:bodyPr/>
          <a:lstStyle/>
          <a:p>
            <a:r>
              <a:rPr lang="en-US" sz="2800"/>
              <a:t>Database migration</a:t>
            </a:r>
          </a:p>
          <a:p>
            <a:pPr marL="514350" indent="-514350">
              <a:buFont typeface="+mj-lt"/>
              <a:buAutoNum type="arabicPeriod"/>
            </a:pPr>
            <a:r>
              <a:rPr lang="en-US" sz="2800"/>
              <a:t>python manage.py makemigrations iot</a:t>
            </a:r>
          </a:p>
          <a:p>
            <a:pPr marL="514350" indent="-514350">
              <a:buFont typeface="+mj-lt"/>
              <a:buAutoNum type="arabicPeriod"/>
            </a:pPr>
            <a:r>
              <a:rPr lang="en-US" sz="2800"/>
              <a:t>python manage.py migrate</a:t>
            </a:r>
          </a:p>
          <a:p>
            <a:pPr marL="514350" indent="-514350">
              <a:buFont typeface="+mj-lt"/>
              <a:buAutoNum type="arabicPeriod"/>
            </a:pPr>
            <a:r>
              <a:rPr lang="en-US" sz="2800"/>
              <a:t>python manage.py collectstatic</a:t>
            </a:r>
          </a:p>
          <a:p>
            <a:pPr marL="514350" indent="-514350">
              <a:buFont typeface="+mj-lt"/>
              <a:buAutoNum type="arabicPeriod"/>
            </a:pPr>
            <a:r>
              <a:rPr lang="en-US"/>
              <a:t>Edit admin.py for the object description in the admin page</a:t>
            </a:r>
          </a:p>
          <a:p>
            <a:pPr marL="514350" indent="-514350">
              <a:buFont typeface="+mj-lt"/>
              <a:buAutoNum type="arabicPeriod"/>
            </a:pPr>
            <a:r>
              <a:rPr lang="en-US"/>
              <a:t>Create superuser who can login admin page</a:t>
            </a:r>
          </a:p>
          <a:p>
            <a:pPr marL="514350" indent="-514350">
              <a:buFont typeface="+mj-lt"/>
              <a:buAutoNum type="arabicPeriod"/>
            </a:pPr>
            <a:endParaRPr lang="en-US" sz="2800"/>
          </a:p>
          <a:p>
            <a:r>
              <a:rPr lang="en-US"/>
              <a:t>Refer https://github.com/jdpark7/unsia-iot/tree/main/week10/iot</a:t>
            </a:r>
          </a:p>
        </p:txBody>
      </p:sp>
    </p:spTree>
    <p:extLst>
      <p:ext uri="{BB962C8B-B14F-4D97-AF65-F5344CB8AC3E}">
        <p14:creationId xmlns:p14="http://schemas.microsoft.com/office/powerpoint/2010/main" val="606857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E9FF7ED-C67F-4E8D-8157-6BB83D644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2325" y="643467"/>
            <a:ext cx="10407351" cy="1891626"/>
          </a:xfrm>
          <a:custGeom>
            <a:avLst/>
            <a:gdLst>
              <a:gd name="connsiteX0" fmla="*/ 0 w 10407351"/>
              <a:gd name="connsiteY0" fmla="*/ 0 h 1891626"/>
              <a:gd name="connsiteX1" fmla="*/ 10407351 w 10407351"/>
              <a:gd name="connsiteY1" fmla="*/ 0 h 1891626"/>
              <a:gd name="connsiteX2" fmla="*/ 10407351 w 10407351"/>
              <a:gd name="connsiteY2" fmla="*/ 1364684 h 1891626"/>
              <a:gd name="connsiteX3" fmla="*/ 10278187 w 10407351"/>
              <a:gd name="connsiteY3" fmla="*/ 1375369 h 1891626"/>
              <a:gd name="connsiteX4" fmla="*/ 10183452 w 10407351"/>
              <a:gd name="connsiteY4" fmla="*/ 1391690 h 1891626"/>
              <a:gd name="connsiteX5" fmla="*/ 9936834 w 10407351"/>
              <a:gd name="connsiteY5" fmla="*/ 1413567 h 1891626"/>
              <a:gd name="connsiteX6" fmla="*/ 9633679 w 10407351"/>
              <a:gd name="connsiteY6" fmla="*/ 1479227 h 1891626"/>
              <a:gd name="connsiteX7" fmla="*/ 9464371 w 10407351"/>
              <a:gd name="connsiteY7" fmla="*/ 1479341 h 1891626"/>
              <a:gd name="connsiteX8" fmla="*/ 9351136 w 10407351"/>
              <a:gd name="connsiteY8" fmla="*/ 1473048 h 1891626"/>
              <a:gd name="connsiteX9" fmla="*/ 9277477 w 10407351"/>
              <a:gd name="connsiteY9" fmla="*/ 1467445 h 1891626"/>
              <a:gd name="connsiteX10" fmla="*/ 9221081 w 10407351"/>
              <a:gd name="connsiteY10" fmla="*/ 1462245 h 1891626"/>
              <a:gd name="connsiteX11" fmla="*/ 9145968 w 10407351"/>
              <a:gd name="connsiteY11" fmla="*/ 1462282 h 1891626"/>
              <a:gd name="connsiteX12" fmla="*/ 9023280 w 10407351"/>
              <a:gd name="connsiteY12" fmla="*/ 1511217 h 1891626"/>
              <a:gd name="connsiteX13" fmla="*/ 8830925 w 10407351"/>
              <a:gd name="connsiteY13" fmla="*/ 1554093 h 1891626"/>
              <a:gd name="connsiteX14" fmla="*/ 8676048 w 10407351"/>
              <a:gd name="connsiteY14" fmla="*/ 1560374 h 1891626"/>
              <a:gd name="connsiteX15" fmla="*/ 8638989 w 10407351"/>
              <a:gd name="connsiteY15" fmla="*/ 1568839 h 1891626"/>
              <a:gd name="connsiteX16" fmla="*/ 8456861 w 10407351"/>
              <a:gd name="connsiteY16" fmla="*/ 1566972 h 1891626"/>
              <a:gd name="connsiteX17" fmla="*/ 8189198 w 10407351"/>
              <a:gd name="connsiteY17" fmla="*/ 1584307 h 1891626"/>
              <a:gd name="connsiteX18" fmla="*/ 7898401 w 10407351"/>
              <a:gd name="connsiteY18" fmla="*/ 1565768 h 1891626"/>
              <a:gd name="connsiteX19" fmla="*/ 7563813 w 10407351"/>
              <a:gd name="connsiteY19" fmla="*/ 1558454 h 1891626"/>
              <a:gd name="connsiteX20" fmla="*/ 7349063 w 10407351"/>
              <a:gd name="connsiteY20" fmla="*/ 1551966 h 1891626"/>
              <a:gd name="connsiteX21" fmla="*/ 7131024 w 10407351"/>
              <a:gd name="connsiteY21" fmla="*/ 1585911 h 1891626"/>
              <a:gd name="connsiteX22" fmla="*/ 6889291 w 10407351"/>
              <a:gd name="connsiteY22" fmla="*/ 1610925 h 1891626"/>
              <a:gd name="connsiteX23" fmla="*/ 6668938 w 10407351"/>
              <a:gd name="connsiteY23" fmla="*/ 1613148 h 1891626"/>
              <a:gd name="connsiteX24" fmla="*/ 6538541 w 10407351"/>
              <a:gd name="connsiteY24" fmla="*/ 1620507 h 1891626"/>
              <a:gd name="connsiteX25" fmla="*/ 6491279 w 10407351"/>
              <a:gd name="connsiteY25" fmla="*/ 1632773 h 1891626"/>
              <a:gd name="connsiteX26" fmla="*/ 6423751 w 10407351"/>
              <a:gd name="connsiteY26" fmla="*/ 1643536 h 1891626"/>
              <a:gd name="connsiteX27" fmla="*/ 6306336 w 10407351"/>
              <a:gd name="connsiteY27" fmla="*/ 1669857 h 1891626"/>
              <a:gd name="connsiteX28" fmla="*/ 6155679 w 10407351"/>
              <a:gd name="connsiteY28" fmla="*/ 1680409 h 1891626"/>
              <a:gd name="connsiteX29" fmla="*/ 6018716 w 10407351"/>
              <a:gd name="connsiteY29" fmla="*/ 1668513 h 1891626"/>
              <a:gd name="connsiteX30" fmla="*/ 5927081 w 10407351"/>
              <a:gd name="connsiteY30" fmla="*/ 1663779 h 1891626"/>
              <a:gd name="connsiteX31" fmla="*/ 5704857 w 10407351"/>
              <a:gd name="connsiteY31" fmla="*/ 1661355 h 1891626"/>
              <a:gd name="connsiteX32" fmla="*/ 5464353 w 10407351"/>
              <a:gd name="connsiteY32" fmla="*/ 1649361 h 1891626"/>
              <a:gd name="connsiteX33" fmla="*/ 5408840 w 10407351"/>
              <a:gd name="connsiteY33" fmla="*/ 1659913 h 1891626"/>
              <a:gd name="connsiteX34" fmla="*/ 5315720 w 10407351"/>
              <a:gd name="connsiteY34" fmla="*/ 1677105 h 1891626"/>
              <a:gd name="connsiteX35" fmla="*/ 5250566 w 10407351"/>
              <a:gd name="connsiteY35" fmla="*/ 1709327 h 1891626"/>
              <a:gd name="connsiteX36" fmla="*/ 5170942 w 10407351"/>
              <a:gd name="connsiteY36" fmla="*/ 1716026 h 1891626"/>
              <a:gd name="connsiteX37" fmla="*/ 5063388 w 10407351"/>
              <a:gd name="connsiteY37" fmla="*/ 1707824 h 1891626"/>
              <a:gd name="connsiteX38" fmla="*/ 4937644 w 10407351"/>
              <a:gd name="connsiteY38" fmla="*/ 1733778 h 1891626"/>
              <a:gd name="connsiteX39" fmla="*/ 4863636 w 10407351"/>
              <a:gd name="connsiteY39" fmla="*/ 1742276 h 1891626"/>
              <a:gd name="connsiteX40" fmla="*/ 4663097 w 10407351"/>
              <a:gd name="connsiteY40" fmla="*/ 1772517 h 1891626"/>
              <a:gd name="connsiteX41" fmla="*/ 4576142 w 10407351"/>
              <a:gd name="connsiteY41" fmla="*/ 1801338 h 1891626"/>
              <a:gd name="connsiteX42" fmla="*/ 4432728 w 10407351"/>
              <a:gd name="connsiteY42" fmla="*/ 1821550 h 1891626"/>
              <a:gd name="connsiteX43" fmla="*/ 4330325 w 10407351"/>
              <a:gd name="connsiteY43" fmla="*/ 1832397 h 1891626"/>
              <a:gd name="connsiteX44" fmla="*/ 4301301 w 10407351"/>
              <a:gd name="connsiteY44" fmla="*/ 1853709 h 1891626"/>
              <a:gd name="connsiteX45" fmla="*/ 4300886 w 10407351"/>
              <a:gd name="connsiteY45" fmla="*/ 1854105 h 1891626"/>
              <a:gd name="connsiteX46" fmla="*/ 4238651 w 10407351"/>
              <a:gd name="connsiteY46" fmla="*/ 1857049 h 1891626"/>
              <a:gd name="connsiteX47" fmla="*/ 4102292 w 10407351"/>
              <a:gd name="connsiteY47" fmla="*/ 1880193 h 1891626"/>
              <a:gd name="connsiteX48" fmla="*/ 4059333 w 10407351"/>
              <a:gd name="connsiteY48" fmla="*/ 1886249 h 1891626"/>
              <a:gd name="connsiteX49" fmla="*/ 4036441 w 10407351"/>
              <a:gd name="connsiteY49" fmla="*/ 1891626 h 1891626"/>
              <a:gd name="connsiteX50" fmla="*/ 4002125 w 10407351"/>
              <a:gd name="connsiteY50" fmla="*/ 1877697 h 1891626"/>
              <a:gd name="connsiteX51" fmla="*/ 3959209 w 10407351"/>
              <a:gd name="connsiteY51" fmla="*/ 1883738 h 1891626"/>
              <a:gd name="connsiteX52" fmla="*/ 3949215 w 10407351"/>
              <a:gd name="connsiteY52" fmla="*/ 1885692 h 1891626"/>
              <a:gd name="connsiteX53" fmla="*/ 3874146 w 10407351"/>
              <a:gd name="connsiteY53" fmla="*/ 1872130 h 1891626"/>
              <a:gd name="connsiteX54" fmla="*/ 3866827 w 10407351"/>
              <a:gd name="connsiteY54" fmla="*/ 1866688 h 1891626"/>
              <a:gd name="connsiteX55" fmla="*/ 3829184 w 10407351"/>
              <a:gd name="connsiteY55" fmla="*/ 1864322 h 1891626"/>
              <a:gd name="connsiteX56" fmla="*/ 3824903 w 10407351"/>
              <a:gd name="connsiteY56" fmla="*/ 1865766 h 1891626"/>
              <a:gd name="connsiteX57" fmla="*/ 3793706 w 10407351"/>
              <a:gd name="connsiteY57" fmla="*/ 1857436 h 1891626"/>
              <a:gd name="connsiteX58" fmla="*/ 3668616 w 10407351"/>
              <a:gd name="connsiteY58" fmla="*/ 1842745 h 1891626"/>
              <a:gd name="connsiteX59" fmla="*/ 3428086 w 10407351"/>
              <a:gd name="connsiteY59" fmla="*/ 1835034 h 1891626"/>
              <a:gd name="connsiteX60" fmla="*/ 3177594 w 10407351"/>
              <a:gd name="connsiteY60" fmla="*/ 1813026 h 1891626"/>
              <a:gd name="connsiteX61" fmla="*/ 2940077 w 10407351"/>
              <a:gd name="connsiteY61" fmla="*/ 1821546 h 1891626"/>
              <a:gd name="connsiteX62" fmla="*/ 2508536 w 10407351"/>
              <a:gd name="connsiteY62" fmla="*/ 1797990 h 1891626"/>
              <a:gd name="connsiteX63" fmla="*/ 2360486 w 10407351"/>
              <a:gd name="connsiteY63" fmla="*/ 1795882 h 1891626"/>
              <a:gd name="connsiteX64" fmla="*/ 2261294 w 10407351"/>
              <a:gd name="connsiteY64" fmla="*/ 1795084 h 1891626"/>
              <a:gd name="connsiteX65" fmla="*/ 2254419 w 10407351"/>
              <a:gd name="connsiteY65" fmla="*/ 1797320 h 1891626"/>
              <a:gd name="connsiteX66" fmla="*/ 2226713 w 10407351"/>
              <a:gd name="connsiteY66" fmla="*/ 1798641 h 1891626"/>
              <a:gd name="connsiteX67" fmla="*/ 2219128 w 10407351"/>
              <a:gd name="connsiteY67" fmla="*/ 1808552 h 1891626"/>
              <a:gd name="connsiteX68" fmla="*/ 2126538 w 10407351"/>
              <a:gd name="connsiteY68" fmla="*/ 1817143 h 1891626"/>
              <a:gd name="connsiteX69" fmla="*/ 1903694 w 10407351"/>
              <a:gd name="connsiteY69" fmla="*/ 1821035 h 1891626"/>
              <a:gd name="connsiteX70" fmla="*/ 1738778 w 10407351"/>
              <a:gd name="connsiteY70" fmla="*/ 1804426 h 1891626"/>
              <a:gd name="connsiteX71" fmla="*/ 1683603 w 10407351"/>
              <a:gd name="connsiteY71" fmla="*/ 1813609 h 1891626"/>
              <a:gd name="connsiteX72" fmla="*/ 1613964 w 10407351"/>
              <a:gd name="connsiteY72" fmla="*/ 1812650 h 1891626"/>
              <a:gd name="connsiteX73" fmla="*/ 1613403 w 10407351"/>
              <a:gd name="connsiteY73" fmla="*/ 1813209 h 1891626"/>
              <a:gd name="connsiteX74" fmla="*/ 1602061 w 10407351"/>
              <a:gd name="connsiteY74" fmla="*/ 1811331 h 1891626"/>
              <a:gd name="connsiteX75" fmla="*/ 1395632 w 10407351"/>
              <a:gd name="connsiteY75" fmla="*/ 1797257 h 1891626"/>
              <a:gd name="connsiteX76" fmla="*/ 1181443 w 10407351"/>
              <a:gd name="connsiteY76" fmla="*/ 1751614 h 1891626"/>
              <a:gd name="connsiteX77" fmla="*/ 974248 w 10407351"/>
              <a:gd name="connsiteY77" fmla="*/ 1721123 h 1891626"/>
              <a:gd name="connsiteX78" fmla="*/ 867706 w 10407351"/>
              <a:gd name="connsiteY78" fmla="*/ 1694653 h 1891626"/>
              <a:gd name="connsiteX79" fmla="*/ 841666 w 10407351"/>
              <a:gd name="connsiteY79" fmla="*/ 1683413 h 1891626"/>
              <a:gd name="connsiteX80" fmla="*/ 837797 w 10407351"/>
              <a:gd name="connsiteY80" fmla="*/ 1684443 h 1891626"/>
              <a:gd name="connsiteX81" fmla="*/ 805502 w 10407351"/>
              <a:gd name="connsiteY81" fmla="*/ 1678518 h 1891626"/>
              <a:gd name="connsiteX82" fmla="*/ 799788 w 10407351"/>
              <a:gd name="connsiteY82" fmla="*/ 1672416 h 1891626"/>
              <a:gd name="connsiteX83" fmla="*/ 736389 w 10407351"/>
              <a:gd name="connsiteY83" fmla="*/ 1651814 h 1891626"/>
              <a:gd name="connsiteX84" fmla="*/ 727522 w 10407351"/>
              <a:gd name="connsiteY84" fmla="*/ 1652807 h 1891626"/>
              <a:gd name="connsiteX85" fmla="*/ 689713 w 10407351"/>
              <a:gd name="connsiteY85" fmla="*/ 1654738 h 1891626"/>
              <a:gd name="connsiteX86" fmla="*/ 661608 w 10407351"/>
              <a:gd name="connsiteY86" fmla="*/ 1637638 h 1891626"/>
              <a:gd name="connsiteX87" fmla="*/ 641195 w 10407351"/>
              <a:gd name="connsiteY87" fmla="*/ 1640809 h 1891626"/>
              <a:gd name="connsiteX88" fmla="*/ 603348 w 10407351"/>
              <a:gd name="connsiteY88" fmla="*/ 1642751 h 1891626"/>
              <a:gd name="connsiteX89" fmla="*/ 482767 w 10407351"/>
              <a:gd name="connsiteY89" fmla="*/ 1652811 h 1891626"/>
              <a:gd name="connsiteX90" fmla="*/ 428597 w 10407351"/>
              <a:gd name="connsiteY90" fmla="*/ 1649830 h 1891626"/>
              <a:gd name="connsiteX91" fmla="*/ 428193 w 10407351"/>
              <a:gd name="connsiteY91" fmla="*/ 1650184 h 1891626"/>
              <a:gd name="connsiteX92" fmla="*/ 400669 w 10407351"/>
              <a:gd name="connsiteY92" fmla="*/ 1668609 h 1891626"/>
              <a:gd name="connsiteX93" fmla="*/ 310856 w 10407351"/>
              <a:gd name="connsiteY93" fmla="*/ 1669671 h 1891626"/>
              <a:gd name="connsiteX94" fmla="*/ 184505 w 10407351"/>
              <a:gd name="connsiteY94" fmla="*/ 1676148 h 1891626"/>
              <a:gd name="connsiteX95" fmla="*/ 106017 w 10407351"/>
              <a:gd name="connsiteY95" fmla="*/ 1696538 h 1891626"/>
              <a:gd name="connsiteX96" fmla="*/ 15107 w 10407351"/>
              <a:gd name="connsiteY96" fmla="*/ 1705860 h 1891626"/>
              <a:gd name="connsiteX97" fmla="*/ 0 w 10407351"/>
              <a:gd name="connsiteY97" fmla="*/ 1707056 h 189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407351" h="1891626">
                <a:moveTo>
                  <a:pt x="0" y="0"/>
                </a:moveTo>
                <a:lnTo>
                  <a:pt x="10407351" y="0"/>
                </a:lnTo>
                <a:lnTo>
                  <a:pt x="10407351" y="1364684"/>
                </a:lnTo>
                <a:lnTo>
                  <a:pt x="10278187" y="1375369"/>
                </a:lnTo>
                <a:cubicBezTo>
                  <a:pt x="10230814" y="1379006"/>
                  <a:pt x="10192985" y="1383268"/>
                  <a:pt x="10183452" y="1391690"/>
                </a:cubicBezTo>
                <a:cubicBezTo>
                  <a:pt x="10056050" y="1406552"/>
                  <a:pt x="10047372" y="1392862"/>
                  <a:pt x="9936834" y="1413567"/>
                </a:cubicBezTo>
                <a:cubicBezTo>
                  <a:pt x="9842543" y="1449236"/>
                  <a:pt x="9758704" y="1437289"/>
                  <a:pt x="9633679" y="1479227"/>
                </a:cubicBezTo>
                <a:cubicBezTo>
                  <a:pt x="9572087" y="1477856"/>
                  <a:pt x="9524044" y="1488294"/>
                  <a:pt x="9464371" y="1479341"/>
                </a:cubicBezTo>
                <a:cubicBezTo>
                  <a:pt x="9437979" y="1471131"/>
                  <a:pt x="9382095" y="1495583"/>
                  <a:pt x="9351136" y="1473048"/>
                </a:cubicBezTo>
                <a:cubicBezTo>
                  <a:pt x="9348834" y="1489421"/>
                  <a:pt x="9290403" y="1475047"/>
                  <a:pt x="9277477" y="1467445"/>
                </a:cubicBezTo>
                <a:cubicBezTo>
                  <a:pt x="9262484" y="1474590"/>
                  <a:pt x="9237294" y="1461551"/>
                  <a:pt x="9221081" y="1462245"/>
                </a:cubicBezTo>
                <a:cubicBezTo>
                  <a:pt x="9189009" y="1426438"/>
                  <a:pt x="9185445" y="1482627"/>
                  <a:pt x="9145968" y="1462282"/>
                </a:cubicBezTo>
                <a:cubicBezTo>
                  <a:pt x="9128623" y="1474438"/>
                  <a:pt x="9069817" y="1500224"/>
                  <a:pt x="9023280" y="1511217"/>
                </a:cubicBezTo>
                <a:cubicBezTo>
                  <a:pt x="8931735" y="1535229"/>
                  <a:pt x="8925405" y="1563795"/>
                  <a:pt x="8830925" y="1554093"/>
                </a:cubicBezTo>
                <a:cubicBezTo>
                  <a:pt x="8817633" y="1577274"/>
                  <a:pt x="8655791" y="1518891"/>
                  <a:pt x="8676048" y="1560374"/>
                </a:cubicBezTo>
                <a:cubicBezTo>
                  <a:pt x="8644516" y="1558347"/>
                  <a:pt x="8621413" y="1541838"/>
                  <a:pt x="8638989" y="1568839"/>
                </a:cubicBezTo>
                <a:lnTo>
                  <a:pt x="8456861" y="1566972"/>
                </a:lnTo>
                <a:cubicBezTo>
                  <a:pt x="8355907" y="1574502"/>
                  <a:pt x="8292865" y="1594374"/>
                  <a:pt x="8189198" y="1584307"/>
                </a:cubicBezTo>
                <a:cubicBezTo>
                  <a:pt x="8087659" y="1583101"/>
                  <a:pt x="8036427" y="1565402"/>
                  <a:pt x="7898401" y="1565768"/>
                </a:cubicBezTo>
                <a:cubicBezTo>
                  <a:pt x="7801198" y="1563426"/>
                  <a:pt x="7662139" y="1549692"/>
                  <a:pt x="7563813" y="1558454"/>
                </a:cubicBezTo>
                <a:cubicBezTo>
                  <a:pt x="7446107" y="1537502"/>
                  <a:pt x="7475233" y="1563414"/>
                  <a:pt x="7349063" y="1551966"/>
                </a:cubicBezTo>
                <a:cubicBezTo>
                  <a:pt x="7293901" y="1597253"/>
                  <a:pt x="7197687" y="1574689"/>
                  <a:pt x="7131024" y="1585911"/>
                </a:cubicBezTo>
                <a:cubicBezTo>
                  <a:pt x="7054397" y="1595738"/>
                  <a:pt x="6966306" y="1606385"/>
                  <a:pt x="6889291" y="1610925"/>
                </a:cubicBezTo>
                <a:cubicBezTo>
                  <a:pt x="6828293" y="1590519"/>
                  <a:pt x="6744624" y="1640610"/>
                  <a:pt x="6668938" y="1613148"/>
                </a:cubicBezTo>
                <a:cubicBezTo>
                  <a:pt x="6641091" y="1606533"/>
                  <a:pt x="6554865" y="1607368"/>
                  <a:pt x="6538541" y="1620507"/>
                </a:cubicBezTo>
                <a:cubicBezTo>
                  <a:pt x="6520561" y="1623357"/>
                  <a:pt x="6499589" y="1618703"/>
                  <a:pt x="6491279" y="1632773"/>
                </a:cubicBezTo>
                <a:cubicBezTo>
                  <a:pt x="6477549" y="1649705"/>
                  <a:pt x="6414822" y="1623561"/>
                  <a:pt x="6423751" y="1643536"/>
                </a:cubicBezTo>
                <a:cubicBezTo>
                  <a:pt x="6379212" y="1625620"/>
                  <a:pt x="6343784" y="1661091"/>
                  <a:pt x="6306336" y="1669857"/>
                </a:cubicBezTo>
                <a:cubicBezTo>
                  <a:pt x="6271255" y="1652084"/>
                  <a:pt x="6237427" y="1675939"/>
                  <a:pt x="6155679" y="1680409"/>
                </a:cubicBezTo>
                <a:cubicBezTo>
                  <a:pt x="6117102" y="1659854"/>
                  <a:pt x="6090477" y="1695769"/>
                  <a:pt x="6018716" y="1668513"/>
                </a:cubicBezTo>
                <a:cubicBezTo>
                  <a:pt x="5980616" y="1668349"/>
                  <a:pt x="5992558" y="1668233"/>
                  <a:pt x="5927081" y="1663779"/>
                </a:cubicBezTo>
                <a:cubicBezTo>
                  <a:pt x="5827173" y="1658997"/>
                  <a:pt x="5796898" y="1666984"/>
                  <a:pt x="5704857" y="1661355"/>
                </a:cubicBezTo>
                <a:cubicBezTo>
                  <a:pt x="5601589" y="1659346"/>
                  <a:pt x="5599375" y="1682928"/>
                  <a:pt x="5464353" y="1649361"/>
                </a:cubicBezTo>
                <a:cubicBezTo>
                  <a:pt x="5453726" y="1665362"/>
                  <a:pt x="5437668" y="1666580"/>
                  <a:pt x="5408840" y="1659913"/>
                </a:cubicBezTo>
                <a:cubicBezTo>
                  <a:pt x="5358895" y="1660103"/>
                  <a:pt x="5370707" y="1699223"/>
                  <a:pt x="5315720" y="1677105"/>
                </a:cubicBezTo>
                <a:cubicBezTo>
                  <a:pt x="5329008" y="1697915"/>
                  <a:pt x="5223140" y="1688103"/>
                  <a:pt x="5250566" y="1709327"/>
                </a:cubicBezTo>
                <a:cubicBezTo>
                  <a:pt x="5222116" y="1729504"/>
                  <a:pt x="5199669" y="1698367"/>
                  <a:pt x="5170942" y="1716026"/>
                </a:cubicBezTo>
                <a:cubicBezTo>
                  <a:pt x="5139745" y="1715775"/>
                  <a:pt x="5102270" y="1704865"/>
                  <a:pt x="5063388" y="1707824"/>
                </a:cubicBezTo>
                <a:cubicBezTo>
                  <a:pt x="5010058" y="1697604"/>
                  <a:pt x="5004778" y="1720109"/>
                  <a:pt x="4937644" y="1733778"/>
                </a:cubicBezTo>
                <a:cubicBezTo>
                  <a:pt x="4905985" y="1722536"/>
                  <a:pt x="4883924" y="1729474"/>
                  <a:pt x="4863636" y="1742276"/>
                </a:cubicBezTo>
                <a:cubicBezTo>
                  <a:pt x="4795354" y="1741736"/>
                  <a:pt x="4737536" y="1762242"/>
                  <a:pt x="4663097" y="1772517"/>
                </a:cubicBezTo>
                <a:cubicBezTo>
                  <a:pt x="4581331" y="1791410"/>
                  <a:pt x="4626382" y="1787132"/>
                  <a:pt x="4576142" y="1801338"/>
                </a:cubicBezTo>
                <a:lnTo>
                  <a:pt x="4432728" y="1821550"/>
                </a:lnTo>
                <a:lnTo>
                  <a:pt x="4330325" y="1832397"/>
                </a:lnTo>
                <a:lnTo>
                  <a:pt x="4301301" y="1853709"/>
                </a:lnTo>
                <a:lnTo>
                  <a:pt x="4300886" y="1854105"/>
                </a:lnTo>
                <a:lnTo>
                  <a:pt x="4238651" y="1857049"/>
                </a:lnTo>
                <a:cubicBezTo>
                  <a:pt x="4205553" y="1861397"/>
                  <a:pt x="4139860" y="1874675"/>
                  <a:pt x="4102292" y="1880193"/>
                </a:cubicBezTo>
                <a:cubicBezTo>
                  <a:pt x="4068199" y="1876181"/>
                  <a:pt x="4047224" y="1858325"/>
                  <a:pt x="4059333" y="1886249"/>
                </a:cubicBezTo>
                <a:cubicBezTo>
                  <a:pt x="4048134" y="1885724"/>
                  <a:pt x="4041292" y="1887993"/>
                  <a:pt x="4036441" y="1891626"/>
                </a:cubicBezTo>
                <a:lnTo>
                  <a:pt x="4002125" y="1877697"/>
                </a:lnTo>
                <a:lnTo>
                  <a:pt x="3959209" y="1883738"/>
                </a:lnTo>
                <a:lnTo>
                  <a:pt x="3949215" y="1885692"/>
                </a:lnTo>
                <a:lnTo>
                  <a:pt x="3874146" y="1872130"/>
                </a:lnTo>
                <a:lnTo>
                  <a:pt x="3866827" y="1866688"/>
                </a:lnTo>
                <a:cubicBezTo>
                  <a:pt x="3858976" y="1863338"/>
                  <a:pt x="3847802" y="1861787"/>
                  <a:pt x="3829184" y="1864322"/>
                </a:cubicBezTo>
                <a:lnTo>
                  <a:pt x="3824903" y="1865766"/>
                </a:lnTo>
                <a:lnTo>
                  <a:pt x="3793706" y="1857436"/>
                </a:lnTo>
                <a:cubicBezTo>
                  <a:pt x="3783639" y="1853644"/>
                  <a:pt x="3675915" y="1848872"/>
                  <a:pt x="3668616" y="1842745"/>
                </a:cubicBezTo>
                <a:cubicBezTo>
                  <a:pt x="3550655" y="1857913"/>
                  <a:pt x="3542534" y="1830996"/>
                  <a:pt x="3428086" y="1835034"/>
                </a:cubicBezTo>
                <a:cubicBezTo>
                  <a:pt x="3328965" y="1794018"/>
                  <a:pt x="3266446" y="1819001"/>
                  <a:pt x="3177594" y="1813026"/>
                </a:cubicBezTo>
                <a:cubicBezTo>
                  <a:pt x="3092965" y="1808822"/>
                  <a:pt x="3053780" y="1822095"/>
                  <a:pt x="2940077" y="1821546"/>
                </a:cubicBezTo>
                <a:cubicBezTo>
                  <a:pt x="2819604" y="1812601"/>
                  <a:pt x="2644050" y="1817354"/>
                  <a:pt x="2508536" y="1797990"/>
                </a:cubicBezTo>
                <a:cubicBezTo>
                  <a:pt x="2402062" y="1791757"/>
                  <a:pt x="2401694" y="1796365"/>
                  <a:pt x="2360486" y="1795882"/>
                </a:cubicBezTo>
                <a:cubicBezTo>
                  <a:pt x="2346784" y="1798538"/>
                  <a:pt x="2274412" y="1790769"/>
                  <a:pt x="2261294" y="1795084"/>
                </a:cubicBezTo>
                <a:lnTo>
                  <a:pt x="2254419" y="1797320"/>
                </a:lnTo>
                <a:lnTo>
                  <a:pt x="2226713" y="1798641"/>
                </a:lnTo>
                <a:lnTo>
                  <a:pt x="2219128" y="1808552"/>
                </a:lnTo>
                <a:lnTo>
                  <a:pt x="2126538" y="1817143"/>
                </a:lnTo>
                <a:cubicBezTo>
                  <a:pt x="2064983" y="1793016"/>
                  <a:pt x="2012426" y="1821800"/>
                  <a:pt x="1903694" y="1821035"/>
                </a:cubicBezTo>
                <a:cubicBezTo>
                  <a:pt x="1874879" y="1812700"/>
                  <a:pt x="1760206" y="1792415"/>
                  <a:pt x="1738778" y="1804426"/>
                </a:cubicBezTo>
                <a:cubicBezTo>
                  <a:pt x="1718271" y="1806115"/>
                  <a:pt x="1696479" y="1800166"/>
                  <a:pt x="1683603" y="1813609"/>
                </a:cubicBezTo>
                <a:cubicBezTo>
                  <a:pt x="1668912" y="1825566"/>
                  <a:pt x="1630407" y="1811717"/>
                  <a:pt x="1613964" y="1812650"/>
                </a:cubicBezTo>
                <a:lnTo>
                  <a:pt x="1613403" y="1813209"/>
                </a:lnTo>
                <a:lnTo>
                  <a:pt x="1602061" y="1811331"/>
                </a:lnTo>
                <a:cubicBezTo>
                  <a:pt x="1503765" y="1799996"/>
                  <a:pt x="1468364" y="1809467"/>
                  <a:pt x="1395632" y="1797257"/>
                </a:cubicBezTo>
                <a:cubicBezTo>
                  <a:pt x="1319449" y="1782888"/>
                  <a:pt x="1262534" y="1801782"/>
                  <a:pt x="1181443" y="1751614"/>
                </a:cubicBezTo>
                <a:cubicBezTo>
                  <a:pt x="1081982" y="1744765"/>
                  <a:pt x="1078010" y="1717244"/>
                  <a:pt x="974248" y="1721123"/>
                </a:cubicBezTo>
                <a:cubicBezTo>
                  <a:pt x="968629" y="1714342"/>
                  <a:pt x="875985" y="1699376"/>
                  <a:pt x="867706" y="1694653"/>
                </a:cubicBezTo>
                <a:lnTo>
                  <a:pt x="841666" y="1683413"/>
                </a:lnTo>
                <a:lnTo>
                  <a:pt x="837797" y="1684443"/>
                </a:lnTo>
                <a:cubicBezTo>
                  <a:pt x="821405" y="1685195"/>
                  <a:pt x="811914" y="1682594"/>
                  <a:pt x="805502" y="1678518"/>
                </a:cubicBezTo>
                <a:lnTo>
                  <a:pt x="799788" y="1672416"/>
                </a:lnTo>
                <a:lnTo>
                  <a:pt x="736389" y="1651814"/>
                </a:lnTo>
                <a:lnTo>
                  <a:pt x="727522" y="1652807"/>
                </a:lnTo>
                <a:lnTo>
                  <a:pt x="689713" y="1654738"/>
                </a:lnTo>
                <a:lnTo>
                  <a:pt x="661608" y="1637638"/>
                </a:lnTo>
                <a:cubicBezTo>
                  <a:pt x="657000" y="1640788"/>
                  <a:pt x="650823" y="1642394"/>
                  <a:pt x="641195" y="1640809"/>
                </a:cubicBezTo>
                <a:cubicBezTo>
                  <a:pt x="648504" y="1669709"/>
                  <a:pt x="632384" y="1649973"/>
                  <a:pt x="603348" y="1642751"/>
                </a:cubicBezTo>
                <a:cubicBezTo>
                  <a:pt x="570224" y="1644670"/>
                  <a:pt x="511891" y="1651631"/>
                  <a:pt x="482767" y="1652811"/>
                </a:cubicBezTo>
                <a:lnTo>
                  <a:pt x="428597" y="1649830"/>
                </a:lnTo>
                <a:lnTo>
                  <a:pt x="428193" y="1650184"/>
                </a:lnTo>
                <a:lnTo>
                  <a:pt x="400669" y="1668609"/>
                </a:lnTo>
                <a:lnTo>
                  <a:pt x="310856" y="1669671"/>
                </a:lnTo>
                <a:lnTo>
                  <a:pt x="184505" y="1676148"/>
                </a:lnTo>
                <a:cubicBezTo>
                  <a:pt x="139434" y="1685497"/>
                  <a:pt x="178890" y="1685521"/>
                  <a:pt x="106017" y="1696538"/>
                </a:cubicBezTo>
                <a:cubicBezTo>
                  <a:pt x="73238" y="1698110"/>
                  <a:pt x="43763" y="1702620"/>
                  <a:pt x="15107" y="1705860"/>
                </a:cubicBezTo>
                <a:lnTo>
                  <a:pt x="0" y="1707056"/>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12E062D3-E310-24F3-0D98-04E145F446EA}"/>
              </a:ext>
            </a:extLst>
          </p:cNvPr>
          <p:cNvSpPr>
            <a:spLocks noGrp="1"/>
          </p:cNvSpPr>
          <p:nvPr>
            <p:ph type="title"/>
          </p:nvPr>
        </p:nvSpPr>
        <p:spPr>
          <a:xfrm>
            <a:off x="1288576" y="975815"/>
            <a:ext cx="9614848" cy="1126780"/>
          </a:xfrm>
        </p:spPr>
        <p:txBody>
          <a:bodyPr>
            <a:normAutofit/>
          </a:bodyPr>
          <a:lstStyle/>
          <a:p>
            <a:pPr algn="ctr"/>
            <a:r>
              <a:rPr lang="en-US"/>
              <a:t>Edit admin.py</a:t>
            </a:r>
          </a:p>
        </p:txBody>
      </p:sp>
      <p:sp>
        <p:nvSpPr>
          <p:cNvPr id="13" name="Rectangle 6">
            <a:extLst>
              <a:ext uri="{FF2B5EF4-FFF2-40B4-BE49-F238E27FC236}">
                <a16:creationId xmlns:a16="http://schemas.microsoft.com/office/drawing/2014/main" id="{9A36BEEB-EAB3-44BC-BC82-10039F230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419766"/>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AF4656CE-057D-A67B-7D8D-0067513E66C8}"/>
              </a:ext>
            </a:extLst>
          </p:cNvPr>
          <p:cNvSpPr>
            <a:spLocks noGrp="1"/>
          </p:cNvSpPr>
          <p:nvPr>
            <p:ph idx="1"/>
          </p:nvPr>
        </p:nvSpPr>
        <p:spPr>
          <a:xfrm>
            <a:off x="1959310" y="2535094"/>
            <a:ext cx="8273380" cy="3436336"/>
          </a:xfrm>
          <a:ln>
            <a:solidFill>
              <a:schemeClr val="accent1"/>
            </a:solidFill>
          </a:ln>
        </p:spPr>
        <p:txBody>
          <a:bodyPr anchor="ctr">
            <a:normAutofit/>
          </a:bodyPr>
          <a:lstStyle/>
          <a:p>
            <a:pPr marL="0" indent="0">
              <a:buNone/>
            </a:pPr>
            <a:r>
              <a:rPr lang="en-US" sz="2000"/>
              <a:t>from django.contrib import admin</a:t>
            </a:r>
          </a:p>
          <a:p>
            <a:pPr marL="0" indent="0">
              <a:buNone/>
            </a:pPr>
            <a:endParaRPr lang="en-US" sz="2000"/>
          </a:p>
          <a:p>
            <a:pPr marL="0" indent="0">
              <a:buNone/>
            </a:pPr>
            <a:r>
              <a:rPr lang="en-US" sz="2000">
                <a:solidFill>
                  <a:srgbClr val="FF0000"/>
                </a:solidFill>
              </a:rPr>
              <a:t>from .models import SensorData</a:t>
            </a:r>
          </a:p>
          <a:p>
            <a:pPr marL="0" indent="0">
              <a:buNone/>
            </a:pPr>
            <a:endParaRPr lang="en-US" sz="2000">
              <a:solidFill>
                <a:srgbClr val="FF0000"/>
              </a:solidFill>
            </a:endParaRPr>
          </a:p>
          <a:p>
            <a:pPr marL="0" indent="0">
              <a:buNone/>
            </a:pPr>
            <a:r>
              <a:rPr lang="en-US" sz="2000">
                <a:solidFill>
                  <a:srgbClr val="FF0000"/>
                </a:solidFill>
              </a:rPr>
              <a:t>@admin.register(SensorData)</a:t>
            </a:r>
          </a:p>
          <a:p>
            <a:pPr marL="0" indent="0">
              <a:buNone/>
            </a:pPr>
            <a:r>
              <a:rPr lang="en-US" sz="2000">
                <a:solidFill>
                  <a:srgbClr val="FF0000"/>
                </a:solidFill>
              </a:rPr>
              <a:t>class SensorDataAdmin(admin.ModelAdmin):</a:t>
            </a:r>
          </a:p>
          <a:p>
            <a:pPr marL="0" indent="0">
              <a:buNone/>
            </a:pPr>
            <a:r>
              <a:rPr lang="en-US" sz="2000">
                <a:solidFill>
                  <a:srgbClr val="FF0000"/>
                </a:solidFill>
              </a:rPr>
              <a:t>    list_display=('temperature','humidity','timestamp')</a:t>
            </a:r>
          </a:p>
          <a:p>
            <a:pPr marL="0" indent="0">
              <a:buNone/>
            </a:pPr>
            <a:endParaRPr lang="en-US" sz="2000"/>
          </a:p>
          <a:p>
            <a:pPr marL="0" indent="0">
              <a:buNone/>
            </a:pPr>
            <a:endParaRPr lang="en-US" sz="2000"/>
          </a:p>
        </p:txBody>
      </p:sp>
    </p:spTree>
    <p:extLst>
      <p:ext uri="{BB962C8B-B14F-4D97-AF65-F5344CB8AC3E}">
        <p14:creationId xmlns:p14="http://schemas.microsoft.com/office/powerpoint/2010/main" val="1811842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6500F-8CB8-540B-1C05-6845F1AA5ADE}"/>
              </a:ext>
            </a:extLst>
          </p:cNvPr>
          <p:cNvSpPr>
            <a:spLocks noGrp="1"/>
          </p:cNvSpPr>
          <p:nvPr>
            <p:ph type="title"/>
          </p:nvPr>
        </p:nvSpPr>
        <p:spPr/>
        <p:txBody>
          <a:bodyPr/>
          <a:lstStyle/>
          <a:p>
            <a:r>
              <a:rPr lang="en-US"/>
              <a:t>Creating an superuser</a:t>
            </a:r>
          </a:p>
        </p:txBody>
      </p:sp>
      <p:sp>
        <p:nvSpPr>
          <p:cNvPr id="3" name="Content Placeholder 2">
            <a:extLst>
              <a:ext uri="{FF2B5EF4-FFF2-40B4-BE49-F238E27FC236}">
                <a16:creationId xmlns:a16="http://schemas.microsoft.com/office/drawing/2014/main" id="{6058C985-2F86-53E8-A852-7685ACC1804A}"/>
              </a:ext>
            </a:extLst>
          </p:cNvPr>
          <p:cNvSpPr>
            <a:spLocks noGrp="1"/>
          </p:cNvSpPr>
          <p:nvPr>
            <p:ph idx="1"/>
          </p:nvPr>
        </p:nvSpPr>
        <p:spPr>
          <a:xfrm>
            <a:off x="838200" y="1825625"/>
            <a:ext cx="6201335" cy="4351338"/>
          </a:xfrm>
        </p:spPr>
        <p:txBody>
          <a:bodyPr/>
          <a:lstStyle/>
          <a:p>
            <a:pPr marL="0" indent="0">
              <a:buNone/>
            </a:pPr>
            <a:r>
              <a:rPr lang="en-US">
                <a:solidFill>
                  <a:srgbClr val="FF0000"/>
                </a:solidFill>
              </a:rPr>
              <a:t>python manage.py createsuperuser</a:t>
            </a:r>
          </a:p>
          <a:p>
            <a:pPr marL="0" indent="0">
              <a:buNone/>
            </a:pPr>
            <a:endParaRPr lang="en-US"/>
          </a:p>
          <a:p>
            <a:pPr marL="0" indent="0">
              <a:buNone/>
            </a:pPr>
            <a:r>
              <a:rPr lang="en-US"/>
              <a:t>Username: admin</a:t>
            </a:r>
          </a:p>
          <a:p>
            <a:pPr marL="0" indent="0">
              <a:buNone/>
            </a:pPr>
            <a:r>
              <a:rPr lang="en-US"/>
              <a:t>Email Address : your-email-address</a:t>
            </a:r>
          </a:p>
          <a:p>
            <a:pPr marL="0" indent="0">
              <a:buNone/>
            </a:pPr>
            <a:endParaRPr lang="en-US"/>
          </a:p>
          <a:p>
            <a:pPr marL="0" indent="0">
              <a:buNone/>
            </a:pPr>
            <a:r>
              <a:rPr lang="en-US"/>
              <a:t>https://your-domain/django/admin</a:t>
            </a:r>
          </a:p>
        </p:txBody>
      </p:sp>
      <p:pic>
        <p:nvPicPr>
          <p:cNvPr id="5" name="Picture 4">
            <a:extLst>
              <a:ext uri="{FF2B5EF4-FFF2-40B4-BE49-F238E27FC236}">
                <a16:creationId xmlns:a16="http://schemas.microsoft.com/office/drawing/2014/main" id="{7D90B9FE-6DE2-6F6F-ABD3-5745724C12DC}"/>
              </a:ext>
            </a:extLst>
          </p:cNvPr>
          <p:cNvPicPr>
            <a:picLocks noChangeAspect="1"/>
          </p:cNvPicPr>
          <p:nvPr/>
        </p:nvPicPr>
        <p:blipFill>
          <a:blip r:embed="rId3"/>
          <a:stretch>
            <a:fillRect/>
          </a:stretch>
        </p:blipFill>
        <p:spPr>
          <a:xfrm>
            <a:off x="7461163" y="1772366"/>
            <a:ext cx="3752850" cy="2943225"/>
          </a:xfrm>
          <a:prstGeom prst="rect">
            <a:avLst/>
          </a:prstGeom>
        </p:spPr>
      </p:pic>
    </p:spTree>
    <p:extLst>
      <p:ext uri="{BB962C8B-B14F-4D97-AF65-F5344CB8AC3E}">
        <p14:creationId xmlns:p14="http://schemas.microsoft.com/office/powerpoint/2010/main" val="2184348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5DF7EC-1A17-EA4E-265A-7A1E72AC47B2}"/>
              </a:ext>
            </a:extLst>
          </p:cNvPr>
          <p:cNvSpPr>
            <a:spLocks noGrp="1"/>
          </p:cNvSpPr>
          <p:nvPr>
            <p:ph type="title"/>
          </p:nvPr>
        </p:nvSpPr>
        <p:spPr/>
        <p:txBody>
          <a:bodyPr/>
          <a:lstStyle/>
          <a:p>
            <a:r>
              <a:rPr lang="en-US"/>
              <a:t>We will use a Gunicorn WSGI Server</a:t>
            </a:r>
          </a:p>
        </p:txBody>
      </p:sp>
      <p:sp>
        <p:nvSpPr>
          <p:cNvPr id="4" name="Content Placeholder 3">
            <a:extLst>
              <a:ext uri="{FF2B5EF4-FFF2-40B4-BE49-F238E27FC236}">
                <a16:creationId xmlns:a16="http://schemas.microsoft.com/office/drawing/2014/main" id="{6AFB0424-9EDC-AA33-6F4C-46EF7CD8B09A}"/>
              </a:ext>
            </a:extLst>
          </p:cNvPr>
          <p:cNvSpPr>
            <a:spLocks noGrp="1"/>
          </p:cNvSpPr>
          <p:nvPr>
            <p:ph idx="1"/>
          </p:nvPr>
        </p:nvSpPr>
        <p:spPr/>
        <p:txBody>
          <a:bodyPr/>
          <a:lstStyle/>
          <a:p>
            <a:r>
              <a:rPr lang="en-US"/>
              <a:t>manage.py runserver is intended for development purpose.</a:t>
            </a:r>
          </a:p>
          <a:p>
            <a:r>
              <a:rPr lang="en-US"/>
              <a:t>Gunicorn is a production-grade WSGI server designed for speed, stability, and concurrency.</a:t>
            </a:r>
          </a:p>
          <a:p>
            <a:r>
              <a:rPr lang="en-US"/>
              <a:t>Gunicorn works well behind a reverse proxy like Nginx, which handles HTTPS, static file serving, and load balancing.</a:t>
            </a:r>
          </a:p>
          <a:p>
            <a:r>
              <a:rPr lang="en-US"/>
              <a:t>This is a standard and scalable architecture for deploying Django applications.</a:t>
            </a:r>
          </a:p>
          <a:p>
            <a:r>
              <a:rPr lang="en-US"/>
              <a:t>Gunicorn can be run under a process manager like </a:t>
            </a:r>
            <a:r>
              <a:rPr lang="en-US">
                <a:solidFill>
                  <a:srgbClr val="C00000"/>
                </a:solidFill>
              </a:rPr>
              <a:t>Supervisor.</a:t>
            </a:r>
          </a:p>
        </p:txBody>
      </p:sp>
    </p:spTree>
    <p:extLst>
      <p:ext uri="{BB962C8B-B14F-4D97-AF65-F5344CB8AC3E}">
        <p14:creationId xmlns:p14="http://schemas.microsoft.com/office/powerpoint/2010/main" val="1201865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54A01-E14E-9119-DB05-7743682831E6}"/>
              </a:ext>
            </a:extLst>
          </p:cNvPr>
          <p:cNvSpPr>
            <a:spLocks noGrp="1"/>
          </p:cNvSpPr>
          <p:nvPr>
            <p:ph type="title"/>
          </p:nvPr>
        </p:nvSpPr>
        <p:spPr/>
        <p:txBody>
          <a:bodyPr/>
          <a:lstStyle/>
          <a:p>
            <a:r>
              <a:rPr lang="en-US"/>
              <a:t>How to start gunicorn in your folder</a:t>
            </a:r>
          </a:p>
        </p:txBody>
      </p:sp>
      <p:sp>
        <p:nvSpPr>
          <p:cNvPr id="3" name="Content Placeholder 2">
            <a:extLst>
              <a:ext uri="{FF2B5EF4-FFF2-40B4-BE49-F238E27FC236}">
                <a16:creationId xmlns:a16="http://schemas.microsoft.com/office/drawing/2014/main" id="{67BD2C47-C855-C09C-B646-5D809D96C87E}"/>
              </a:ext>
            </a:extLst>
          </p:cNvPr>
          <p:cNvSpPr>
            <a:spLocks noGrp="1"/>
          </p:cNvSpPr>
          <p:nvPr>
            <p:ph idx="1"/>
          </p:nvPr>
        </p:nvSpPr>
        <p:spPr/>
        <p:txBody>
          <a:bodyPr/>
          <a:lstStyle/>
          <a:p>
            <a:r>
              <a:rPr lang="en-US"/>
              <a:t>Instead of using supervisorctl restart, start, status, stop:</a:t>
            </a:r>
          </a:p>
          <a:p>
            <a:r>
              <a:rPr lang="en-US"/>
              <a:t>Use following commands in /home/username/bin</a:t>
            </a:r>
          </a:p>
          <a:p>
            <a:pPr marL="457200" lvl="1" indent="0">
              <a:buNone/>
            </a:pPr>
            <a:r>
              <a:rPr lang="en-US" sz="3200">
                <a:solidFill>
                  <a:srgbClr val="C00000"/>
                </a:solidFill>
              </a:rPr>
              <a:t>restart_mine.sh  </a:t>
            </a:r>
          </a:p>
          <a:p>
            <a:pPr marL="457200" lvl="1" indent="0">
              <a:buNone/>
            </a:pPr>
            <a:r>
              <a:rPr lang="en-US" sz="3200">
                <a:solidFill>
                  <a:srgbClr val="C00000"/>
                </a:solidFill>
              </a:rPr>
              <a:t>start_mine.sh  </a:t>
            </a:r>
          </a:p>
          <a:p>
            <a:pPr marL="457200" lvl="1" indent="0">
              <a:buNone/>
            </a:pPr>
            <a:r>
              <a:rPr lang="en-US" sz="3200">
                <a:solidFill>
                  <a:srgbClr val="C00000"/>
                </a:solidFill>
              </a:rPr>
              <a:t>status_mine.sh  </a:t>
            </a:r>
          </a:p>
          <a:p>
            <a:pPr marL="457200" lvl="1" indent="0">
              <a:buNone/>
            </a:pPr>
            <a:r>
              <a:rPr lang="en-US" sz="3200">
                <a:solidFill>
                  <a:srgbClr val="C00000"/>
                </a:solidFill>
              </a:rPr>
              <a:t>stop_mine.sh</a:t>
            </a:r>
          </a:p>
          <a:p>
            <a:pPr marL="0" indent="0">
              <a:buNone/>
            </a:pPr>
            <a:endParaRPr lang="en-US"/>
          </a:p>
        </p:txBody>
      </p:sp>
    </p:spTree>
    <p:extLst>
      <p:ext uri="{BB962C8B-B14F-4D97-AF65-F5344CB8AC3E}">
        <p14:creationId xmlns:p14="http://schemas.microsoft.com/office/powerpoint/2010/main" val="1178845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C928CBC-9885-7487-86AF-FDDB119774A1}"/>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Send data using curl command</a:t>
            </a:r>
          </a:p>
        </p:txBody>
      </p:sp>
      <p:sp>
        <p:nvSpPr>
          <p:cNvPr id="11" name="Rectangle 1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41FBCDD-E1DD-DD15-A72D-2A9C6E2B1578}"/>
              </a:ext>
            </a:extLst>
          </p:cNvPr>
          <p:cNvSpPr>
            <a:spLocks noGrp="1"/>
          </p:cNvSpPr>
          <p:nvPr>
            <p:ph idx="1"/>
          </p:nvPr>
        </p:nvSpPr>
        <p:spPr>
          <a:xfrm>
            <a:off x="1155548" y="2217343"/>
            <a:ext cx="9880893" cy="3959619"/>
          </a:xfrm>
        </p:spPr>
        <p:txBody>
          <a:bodyPr>
            <a:normAutofit/>
          </a:bodyPr>
          <a:lstStyle/>
          <a:p>
            <a:pPr marL="0" indent="0">
              <a:buNone/>
            </a:pPr>
            <a:r>
              <a:rPr lang="de-DE" sz="2400">
                <a:solidFill>
                  <a:srgbClr val="0070C0"/>
                </a:solidFill>
              </a:rPr>
              <a:t>unsia@belajarhub:/srv/django/unsia$ </a:t>
            </a:r>
            <a:r>
              <a:rPr lang="de-DE" sz="2400"/>
              <a:t>/home/unsia/bin/restart_mine.sh</a:t>
            </a:r>
          </a:p>
          <a:p>
            <a:pPr marL="0" indent="0">
              <a:buNone/>
            </a:pPr>
            <a:endParaRPr lang="en-US" sz="2400"/>
          </a:p>
          <a:p>
            <a:pPr marL="0" indent="0">
              <a:buNone/>
            </a:pPr>
            <a:r>
              <a:rPr lang="en-US" sz="2400">
                <a:solidFill>
                  <a:srgbClr val="0070C0"/>
                </a:solidFill>
              </a:rPr>
              <a:t>unsia@belajarhub:/srv/django/unsia$ </a:t>
            </a:r>
            <a:r>
              <a:rPr lang="en-US" sz="2400"/>
              <a:t>curl -X POST https://unsia.belajarhub.id/django/api/sensor/ -H "Content-Type: application/json" -d "{\"apikey\":\"abc123\", \"device_id\":\"device01\", \"temperature\":25.3, \"humidity\":56.7}"</a:t>
            </a:r>
          </a:p>
          <a:p>
            <a:pPr marL="0" indent="0">
              <a:buNone/>
            </a:pPr>
            <a:endParaRPr lang="en-US" sz="2400"/>
          </a:p>
        </p:txBody>
      </p:sp>
    </p:spTree>
    <p:extLst>
      <p:ext uri="{BB962C8B-B14F-4D97-AF65-F5344CB8AC3E}">
        <p14:creationId xmlns:p14="http://schemas.microsoft.com/office/powerpoint/2010/main" val="605162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30362-B72E-52C2-4CE6-E89CC6D8B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6A8287A-E1D6-72B1-651E-80FECDD060FB}"/>
              </a:ext>
            </a:extLst>
          </p:cNvPr>
          <p:cNvSpPr>
            <a:spLocks noGrp="1"/>
          </p:cNvSpPr>
          <p:nvPr>
            <p:ph type="title"/>
          </p:nvPr>
        </p:nvSpPr>
        <p:spPr/>
        <p:txBody>
          <a:bodyPr/>
          <a:lstStyle/>
          <a:p>
            <a:r>
              <a:rPr lang="en-US"/>
              <a:t>https://your-domain. belajarhub.id/django/device/device01/</a:t>
            </a:r>
          </a:p>
        </p:txBody>
      </p:sp>
      <p:pic>
        <p:nvPicPr>
          <p:cNvPr id="3" name="Picture 2">
            <a:extLst>
              <a:ext uri="{FF2B5EF4-FFF2-40B4-BE49-F238E27FC236}">
                <a16:creationId xmlns:a16="http://schemas.microsoft.com/office/drawing/2014/main" id="{A9303FD0-1670-41F0-37B7-301ABD67F382}"/>
              </a:ext>
            </a:extLst>
          </p:cNvPr>
          <p:cNvPicPr>
            <a:picLocks noChangeAspect="1"/>
          </p:cNvPicPr>
          <p:nvPr/>
        </p:nvPicPr>
        <p:blipFill>
          <a:blip r:embed="rId3"/>
          <a:stretch>
            <a:fillRect/>
          </a:stretch>
        </p:blipFill>
        <p:spPr>
          <a:xfrm>
            <a:off x="3735901" y="2612043"/>
            <a:ext cx="4720197" cy="1633914"/>
          </a:xfrm>
          <a:prstGeom prst="rect">
            <a:avLst/>
          </a:prstGeom>
        </p:spPr>
      </p:pic>
      <p:sp>
        <p:nvSpPr>
          <p:cNvPr id="5" name="TextBox 4">
            <a:extLst>
              <a:ext uri="{FF2B5EF4-FFF2-40B4-BE49-F238E27FC236}">
                <a16:creationId xmlns:a16="http://schemas.microsoft.com/office/drawing/2014/main" id="{51CA272C-21F2-0F5C-98FB-6B59433F3D21}"/>
              </a:ext>
            </a:extLst>
          </p:cNvPr>
          <p:cNvSpPr txBox="1"/>
          <p:nvPr/>
        </p:nvSpPr>
        <p:spPr>
          <a:xfrm>
            <a:off x="3120799" y="5167312"/>
            <a:ext cx="6094638" cy="369332"/>
          </a:xfrm>
          <a:prstGeom prst="rect">
            <a:avLst/>
          </a:prstGeom>
          <a:noFill/>
        </p:spPr>
        <p:txBody>
          <a:bodyPr wrap="square">
            <a:spAutoFit/>
          </a:bodyPr>
          <a:lstStyle/>
          <a:p>
            <a:r>
              <a:rPr lang="en-US"/>
              <a:t>https://github.com/jdpark7/unsia-iot/tree/main/week10/iot</a:t>
            </a:r>
          </a:p>
        </p:txBody>
      </p:sp>
    </p:spTree>
    <p:extLst>
      <p:ext uri="{BB962C8B-B14F-4D97-AF65-F5344CB8AC3E}">
        <p14:creationId xmlns:p14="http://schemas.microsoft.com/office/powerpoint/2010/main" val="2316938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4B7DC2-39AF-1624-CE42-4A3DE7D7EB19}"/>
              </a:ext>
            </a:extLst>
          </p:cNvPr>
          <p:cNvSpPr>
            <a:spLocks noGrp="1"/>
          </p:cNvSpPr>
          <p:nvPr>
            <p:ph type="title"/>
          </p:nvPr>
        </p:nvSpPr>
        <p:spPr/>
        <p:txBody>
          <a:bodyPr/>
          <a:lstStyle/>
          <a:p>
            <a:r>
              <a:rPr lang="en-US"/>
              <a:t>https://your-domain. belajarhub.id/django/device/device01/gauge/</a:t>
            </a:r>
          </a:p>
        </p:txBody>
      </p:sp>
      <p:pic>
        <p:nvPicPr>
          <p:cNvPr id="6" name="Picture 5">
            <a:extLst>
              <a:ext uri="{FF2B5EF4-FFF2-40B4-BE49-F238E27FC236}">
                <a16:creationId xmlns:a16="http://schemas.microsoft.com/office/drawing/2014/main" id="{6EFCB6E0-9C12-8AC7-8F69-486786EF67EA}"/>
              </a:ext>
            </a:extLst>
          </p:cNvPr>
          <p:cNvPicPr>
            <a:picLocks noChangeAspect="1"/>
          </p:cNvPicPr>
          <p:nvPr/>
        </p:nvPicPr>
        <p:blipFill>
          <a:blip r:embed="rId3"/>
          <a:stretch>
            <a:fillRect/>
          </a:stretch>
        </p:blipFill>
        <p:spPr>
          <a:xfrm>
            <a:off x="3195232" y="1995287"/>
            <a:ext cx="5801535" cy="2867425"/>
          </a:xfrm>
          <a:prstGeom prst="rect">
            <a:avLst/>
          </a:prstGeom>
        </p:spPr>
      </p:pic>
      <p:sp>
        <p:nvSpPr>
          <p:cNvPr id="3" name="TextBox 2">
            <a:extLst>
              <a:ext uri="{FF2B5EF4-FFF2-40B4-BE49-F238E27FC236}">
                <a16:creationId xmlns:a16="http://schemas.microsoft.com/office/drawing/2014/main" id="{E68092EE-398F-CBEA-72DC-F8F61FA62F85}"/>
              </a:ext>
            </a:extLst>
          </p:cNvPr>
          <p:cNvSpPr txBox="1"/>
          <p:nvPr/>
        </p:nvSpPr>
        <p:spPr>
          <a:xfrm>
            <a:off x="3048680" y="5167311"/>
            <a:ext cx="6094638" cy="369332"/>
          </a:xfrm>
          <a:prstGeom prst="rect">
            <a:avLst/>
          </a:prstGeom>
          <a:noFill/>
        </p:spPr>
        <p:txBody>
          <a:bodyPr wrap="square">
            <a:spAutoFit/>
          </a:bodyPr>
          <a:lstStyle/>
          <a:p>
            <a:r>
              <a:rPr lang="en-US"/>
              <a:t>https://github.com/jdpark7/unsia-iot/tree/main/week10/iot</a:t>
            </a:r>
          </a:p>
        </p:txBody>
      </p:sp>
    </p:spTree>
    <p:extLst>
      <p:ext uri="{BB962C8B-B14F-4D97-AF65-F5344CB8AC3E}">
        <p14:creationId xmlns:p14="http://schemas.microsoft.com/office/powerpoint/2010/main" val="236693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37D32-4F86-7105-9082-551DE37E642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Summary</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196EE0-BA33-047B-23B5-EA5279E2AF7A}"/>
              </a:ext>
            </a:extLst>
          </p:cNvPr>
          <p:cNvSpPr>
            <a:spLocks noGrp="1"/>
          </p:cNvSpPr>
          <p:nvPr>
            <p:ph idx="1"/>
          </p:nvPr>
        </p:nvSpPr>
        <p:spPr>
          <a:xfrm>
            <a:off x="1155548" y="2217343"/>
            <a:ext cx="9880893" cy="3959619"/>
          </a:xfrm>
        </p:spPr>
        <p:txBody>
          <a:bodyPr>
            <a:normAutofit/>
          </a:bodyPr>
          <a:lstStyle/>
          <a:p>
            <a:r>
              <a:rPr lang="en-US" sz="2400"/>
              <a:t>We have developed a simple Django Web Application in a Remote Server.</a:t>
            </a:r>
          </a:p>
          <a:p>
            <a:r>
              <a:rPr lang="en-US" sz="2400"/>
              <a:t>We used a Gunicorn WSGI server with Nginx.</a:t>
            </a:r>
          </a:p>
          <a:p>
            <a:r>
              <a:rPr lang="en-US" sz="2400"/>
              <a:t>We accessed the admin page of Django App.</a:t>
            </a:r>
          </a:p>
        </p:txBody>
      </p:sp>
    </p:spTree>
    <p:extLst>
      <p:ext uri="{BB962C8B-B14F-4D97-AF65-F5344CB8AC3E}">
        <p14:creationId xmlns:p14="http://schemas.microsoft.com/office/powerpoint/2010/main" val="2850504015"/>
      </p:ext>
    </p:extLst>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2147483647"/>
        <a:ea typeface=""/>
        <a:cs typeface=""/>
        <a:font script="Jpan" typeface="Yu Gothic Light"/>
        <a:font script="Hang" typeface="맑은 고딕"/>
        <a:font script="Hans" typeface="DengXian Light"/>
        <a:font script="Hant" typeface="PMingLiU"/>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2147483647"/>
        <a:ea typeface=""/>
        <a:cs typeface=""/>
        <a:font script="Jpan" typeface="Yu Gothic"/>
        <a:font script="Hang" typeface="맑은 고딕"/>
        <a:font script="Hans" typeface="DengXian"/>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2147483647"/>
        <a:ea typeface=""/>
        <a:cs typeface=""/>
        <a:font script="Jpan" typeface="Yu Gothic Light"/>
        <a:font script="Hang" typeface="맑은 고딕"/>
        <a:font script="Hans" typeface="DengXian Light"/>
        <a:font script="Hant" typeface="PMingLiU"/>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2147483647"/>
        <a:ea typeface=""/>
        <a:cs typeface=""/>
        <a:font script="Jpan" typeface="Yu Gothic"/>
        <a:font script="Hang" typeface="맑은 고딕"/>
        <a:font script="Hans" typeface="DengXian"/>
        <a:font script="Hant" typeface="PMingLiU"/>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558</ep:Words>
  <ep:PresentationFormat>Widescreen</ep:PresentationFormat>
  <ep:Paragraphs>118</ep:Paragraphs>
  <ep:Slides>24</ep:Slides>
  <ep:Notes>24</ep:Notes>
  <ep:TotalTime>0</ep:TotalTime>
  <ep:HiddenSlides>0</ep:HiddenSlides>
  <ep:MMClips>0</ep:MMClips>
  <ep:HeadingPairs>
    <vt:vector size="4" baseType="variant">
      <vt:variant>
        <vt:lpstr>테마</vt:lpstr>
      </vt:variant>
      <vt:variant>
        <vt:i4>1</vt:i4>
      </vt:variant>
      <vt:variant>
        <vt:lpstr>슬라이드 제목</vt:lpstr>
      </vt:variant>
      <vt:variant>
        <vt:i4>24</vt:i4>
      </vt:variant>
    </vt:vector>
  </ep:HeadingPairs>
  <ep:TitlesOfParts>
    <vt:vector size="25" baseType="lpstr">
      <vt:lpstr>Office Theme</vt:lpstr>
      <vt:lpstr>Developing a Django Web Application for IoT Data</vt:lpstr>
      <vt:lpstr>Learning Objectives</vt:lpstr>
      <vt:lpstr>Development Environment</vt:lpstr>
      <vt:lpstr>Hosting Multiple Users using a Single Server</vt:lpstr>
      <vt:lpstr>Use putty program</vt:lpstr>
      <vt:lpstr>Connect to your server</vt:lpstr>
      <vt:lpstr>How to edit source code at the server?</vt:lpstr>
      <vt:lpstr>Development of web application in a Server</vt:lpstr>
      <vt:lpstr>Edit settings.py – add corsheaders</vt:lpstr>
      <vt:lpstr>Create iot app</vt:lpstr>
      <vt:lpstr>myproject urls.py</vt:lpstr>
      <vt:lpstr>'&lt;str:device_id&gt;' in Django URL patterns</vt:lpstr>
      <vt:lpstr>Edit views.py</vt:lpstr>
      <vt:lpstr>Add additional files to iot folder</vt:lpstr>
      <vt:lpstr>Add iot in the Installed app in settings.py</vt:lpstr>
      <vt:lpstr>Create a database and edit admin.py</vt:lpstr>
      <vt:lpstr>Edit admin.py</vt:lpstr>
      <vt:lpstr>Creating an superuser</vt:lpstr>
      <vt:lpstr>We will use a Gunicorn WSGI Server</vt:lpstr>
      <vt:lpstr>How to start gunicorn in your folder</vt:lpstr>
      <vt:lpstr>Send data using curl command</vt:lpstr>
      <vt:lpstr>https://your-domain. belajarhub.id/django/device/device01/</vt:lpstr>
      <vt:lpstr>https://your-domain. belajarhub.id/django/device/device01/gauge/</vt:lpstr>
      <vt:lpstr>Summary</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2025-05-12T06:03:18.000</dcterms:created>
  <dc:creator>Jong-Dae Park</dc:creator>
  <cp:lastModifiedBy>USER</cp:lastModifiedBy>
  <dcterms:modified xsi:type="dcterms:W3CDTF">2026-06-11T03:38:07.275</dcterms:modified>
  <cp:revision>28</cp:revision>
  <cp:version>0906.0100.01</cp:version>
</cp:coreProperties>
</file>